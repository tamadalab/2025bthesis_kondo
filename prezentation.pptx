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71" r:id="rId3"/>
    <p:sldId id="269" r:id="rId4"/>
    <p:sldId id="270" r:id="rId5"/>
    <p:sldId id="257" r:id="rId6"/>
    <p:sldId id="258" r:id="rId7"/>
    <p:sldId id="272" r:id="rId8"/>
    <p:sldId id="259" r:id="rId9"/>
    <p:sldId id="283" r:id="rId10"/>
    <p:sldId id="260" r:id="rId11"/>
    <p:sldId id="263" r:id="rId12"/>
    <p:sldId id="273" r:id="rId13"/>
    <p:sldId id="274" r:id="rId14"/>
    <p:sldId id="275" r:id="rId15"/>
    <p:sldId id="276" r:id="rId16"/>
    <p:sldId id="277" r:id="rId17"/>
    <p:sldId id="264" r:id="rId18"/>
    <p:sldId id="278" r:id="rId19"/>
    <p:sldId id="279" r:id="rId20"/>
    <p:sldId id="265" r:id="rId21"/>
    <p:sldId id="280" r:id="rId22"/>
    <p:sldId id="281" r:id="rId23"/>
    <p:sldId id="266" r:id="rId24"/>
    <p:sldId id="282" r:id="rId25"/>
    <p:sldId id="267" r:id="rId2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4427"/>
    <p:restoredTop sz="86426"/>
  </p:normalViewPr>
  <p:slideViewPr>
    <p:cSldViewPr snapToGrid="0">
      <p:cViewPr>
        <p:scale>
          <a:sx n="90" d="100"/>
          <a:sy n="90" d="100"/>
        </p:scale>
        <p:origin x="-120" y="328"/>
      </p:cViewPr>
      <p:guideLst/>
    </p:cSldViewPr>
  </p:slideViewPr>
  <p:outlineViewPr>
    <p:cViewPr>
      <p:scale>
        <a:sx n="33" d="100"/>
        <a:sy n="33" d="100"/>
      </p:scale>
      <p:origin x="0" y="-996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5" d="100"/>
          <a:sy n="85" d="100"/>
        </p:scale>
        <p:origin x="2720"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3"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3"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3"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a:t>難読化評価指標</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lineChart>
        <c:grouping val="standard"/>
        <c:varyColors val="0"/>
        <c:ser>
          <c:idx val="0"/>
          <c:order val="0"/>
          <c:tx>
            <c:strRef>
              <c:f>Sheet1!$B$2</c:f>
              <c:strCache>
                <c:ptCount val="1"/>
                <c:pt idx="0">
                  <c:v>AST構造類似度</c:v>
                </c:pt>
              </c:strCache>
            </c:strRef>
          </c:tx>
          <c:spPr>
            <a:ln w="28575" cap="rnd">
              <a:solidFill>
                <a:schemeClr val="accent1"/>
              </a:solidFill>
              <a:round/>
            </a:ln>
            <a:effectLst/>
          </c:spPr>
          <c:marker>
            <c:symbol val="none"/>
          </c:marker>
          <c:cat>
            <c:numRef>
              <c:f>Sheet1!$A$3:$A$52</c:f>
              <c:numCache>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Cache>
            </c:numRef>
          </c:cat>
          <c:val>
            <c:numRef>
              <c:f>Sheet1!$B$3:$B$52</c:f>
              <c:numCache>
                <c:formatCode>General</c:formatCode>
                <c:ptCount val="50"/>
                <c:pt idx="0">
                  <c:v>0.38119999999999998</c:v>
                </c:pt>
                <c:pt idx="1">
                  <c:v>0.4758</c:v>
                </c:pt>
                <c:pt idx="2">
                  <c:v>0.42330000000000001</c:v>
                </c:pt>
                <c:pt idx="3">
                  <c:v>0.54530000000000001</c:v>
                </c:pt>
                <c:pt idx="4">
                  <c:v>0.49890000000000001</c:v>
                </c:pt>
                <c:pt idx="5">
                  <c:v>0.51229999999999998</c:v>
                </c:pt>
                <c:pt idx="6">
                  <c:v>0.46410000000000001</c:v>
                </c:pt>
                <c:pt idx="7">
                  <c:v>0.49249999999999999</c:v>
                </c:pt>
                <c:pt idx="8">
                  <c:v>0.46929999999999999</c:v>
                </c:pt>
                <c:pt idx="9">
                  <c:v>0.4768</c:v>
                </c:pt>
                <c:pt idx="10">
                  <c:v>0.53059999999999996</c:v>
                </c:pt>
                <c:pt idx="11" formatCode="0.0000">
                  <c:v>0.45020084266147353</c:v>
                </c:pt>
                <c:pt idx="12" formatCode="0.0000">
                  <c:v>0.51043758687954954</c:v>
                </c:pt>
                <c:pt idx="13" formatCode="0.0000">
                  <c:v>0.46758912887342974</c:v>
                </c:pt>
                <c:pt idx="14" formatCode="0.0000">
                  <c:v>0.51141559146420046</c:v>
                </c:pt>
                <c:pt idx="15" formatCode="0.0000">
                  <c:v>0.50155505758077579</c:v>
                </c:pt>
                <c:pt idx="16" formatCode="0.0000">
                  <c:v>0.5101487664492832</c:v>
                </c:pt>
                <c:pt idx="17" formatCode="0.0000">
                  <c:v>0.45874994556039206</c:v>
                </c:pt>
                <c:pt idx="18" formatCode="0.0000">
                  <c:v>0.51933378278559739</c:v>
                </c:pt>
                <c:pt idx="19" formatCode="0.0000">
                  <c:v>0.50739418784284029</c:v>
                </c:pt>
                <c:pt idx="20" formatCode="0.0000">
                  <c:v>0.49435458245866487</c:v>
                </c:pt>
                <c:pt idx="21" formatCode="0.0000">
                  <c:v>0.50428772635609553</c:v>
                </c:pt>
                <c:pt idx="22" formatCode="0.0000">
                  <c:v>0.47980689342679089</c:v>
                </c:pt>
                <c:pt idx="23" formatCode="0.0000">
                  <c:v>0.47017064834761646</c:v>
                </c:pt>
                <c:pt idx="24" formatCode="0.0000">
                  <c:v>0.46682530055835098</c:v>
                </c:pt>
                <c:pt idx="25" formatCode="0.0000">
                  <c:v>0.46691164116035644</c:v>
                </c:pt>
                <c:pt idx="26" formatCode="0.0000">
                  <c:v>0.48686176645650303</c:v>
                </c:pt>
                <c:pt idx="27" formatCode="0.0000">
                  <c:v>0.51129170311823757</c:v>
                </c:pt>
                <c:pt idx="28" formatCode="0.0000">
                  <c:v>0.48018179510585363</c:v>
                </c:pt>
                <c:pt idx="29" formatCode="0.0000">
                  <c:v>0.46001649255902632</c:v>
                </c:pt>
                <c:pt idx="30" formatCode="0.0000">
                  <c:v>0.46837757956062559</c:v>
                </c:pt>
                <c:pt idx="31" formatCode="0.0000">
                  <c:v>0.48330885583421868</c:v>
                </c:pt>
                <c:pt idx="32" formatCode="0.0000">
                  <c:v>0.47857002493241746</c:v>
                </c:pt>
                <c:pt idx="33" formatCode="0.0000">
                  <c:v>0.50990885343528225</c:v>
                </c:pt>
                <c:pt idx="34" formatCode="0.0000">
                  <c:v>0.47693633180306461</c:v>
                </c:pt>
                <c:pt idx="35" formatCode="0.0000">
                  <c:v>0.46852638715042333</c:v>
                </c:pt>
                <c:pt idx="36" formatCode="0.0000">
                  <c:v>0.47261775534346989</c:v>
                </c:pt>
                <c:pt idx="37" formatCode="0.0000">
                  <c:v>0.49706130946524907</c:v>
                </c:pt>
                <c:pt idx="38" formatCode="0.0000">
                  <c:v>0.50587537376474545</c:v>
                </c:pt>
                <c:pt idx="39" formatCode="0.0000">
                  <c:v>0.45203621538636513</c:v>
                </c:pt>
                <c:pt idx="40" formatCode="0.0000">
                  <c:v>0.5051484578426797</c:v>
                </c:pt>
                <c:pt idx="41" formatCode="0.0000">
                  <c:v>0.46487376902281274</c:v>
                </c:pt>
                <c:pt idx="42" formatCode="0.0000">
                  <c:v>0.50326334256529381</c:v>
                </c:pt>
                <c:pt idx="43" formatCode="0.0000">
                  <c:v>0.50917597848753848</c:v>
                </c:pt>
                <c:pt idx="44" formatCode="0.0000">
                  <c:v>0.5180328893109033</c:v>
                </c:pt>
                <c:pt idx="45" formatCode="0.0000">
                  <c:v>0.50655483850545135</c:v>
                </c:pt>
                <c:pt idx="46" formatCode="0.0000">
                  <c:v>0.46448093204525465</c:v>
                </c:pt>
                <c:pt idx="47" formatCode="0.0000">
                  <c:v>0.4692710323310178</c:v>
                </c:pt>
                <c:pt idx="48" formatCode="0.0000">
                  <c:v>0.48038135866496029</c:v>
                </c:pt>
                <c:pt idx="49" formatCode="0.0000">
                  <c:v>0.48476118558585568</c:v>
                </c:pt>
              </c:numCache>
            </c:numRef>
          </c:val>
          <c:smooth val="0"/>
          <c:extLst>
            <c:ext xmlns:c16="http://schemas.microsoft.com/office/drawing/2014/chart" uri="{C3380CC4-5D6E-409C-BE32-E72D297353CC}">
              <c16:uniqueId val="{00000000-57A7-9241-9FD5-F24B18D987C1}"/>
            </c:ext>
          </c:extLst>
        </c:ser>
        <c:ser>
          <c:idx val="1"/>
          <c:order val="1"/>
          <c:tx>
            <c:strRef>
              <c:f>Sheet1!$C$2</c:f>
              <c:strCache>
                <c:ptCount val="1"/>
                <c:pt idx="0">
                  <c:v>ASTノード頻度に基づくコサイン類似度</c:v>
                </c:pt>
              </c:strCache>
            </c:strRef>
          </c:tx>
          <c:spPr>
            <a:ln w="28575" cap="rnd">
              <a:solidFill>
                <a:schemeClr val="accent2"/>
              </a:solidFill>
              <a:round/>
            </a:ln>
            <a:effectLst/>
          </c:spPr>
          <c:marker>
            <c:symbol val="none"/>
          </c:marker>
          <c:cat>
            <c:numRef>
              <c:f>Sheet1!$A$3:$A$52</c:f>
              <c:numCache>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Cache>
            </c:numRef>
          </c:cat>
          <c:val>
            <c:numRef>
              <c:f>Sheet1!$C$3:$C$52</c:f>
              <c:numCache>
                <c:formatCode>General</c:formatCode>
                <c:ptCount val="50"/>
                <c:pt idx="0">
                  <c:v>0.97170000000000001</c:v>
                </c:pt>
                <c:pt idx="1">
                  <c:v>0.98850000000000005</c:v>
                </c:pt>
                <c:pt idx="2">
                  <c:v>0.99670000000000003</c:v>
                </c:pt>
                <c:pt idx="3">
                  <c:v>0.99380000000000002</c:v>
                </c:pt>
                <c:pt idx="4">
                  <c:v>0.95989999999999998</c:v>
                </c:pt>
                <c:pt idx="5">
                  <c:v>0.92330000000000001</c:v>
                </c:pt>
                <c:pt idx="6">
                  <c:v>0.95540000000000003</c:v>
                </c:pt>
                <c:pt idx="7">
                  <c:v>0.91300000000000003</c:v>
                </c:pt>
                <c:pt idx="8">
                  <c:v>0.86580000000000001</c:v>
                </c:pt>
                <c:pt idx="9">
                  <c:v>0.9819</c:v>
                </c:pt>
                <c:pt idx="10">
                  <c:v>0.98960000000000004</c:v>
                </c:pt>
                <c:pt idx="11" formatCode="0.0000">
                  <c:v>0.90078915026326256</c:v>
                </c:pt>
                <c:pt idx="12" formatCode="0.0000">
                  <c:v>0.95781631890395291</c:v>
                </c:pt>
                <c:pt idx="13" formatCode="0.0000">
                  <c:v>0.99515375593561939</c:v>
                </c:pt>
                <c:pt idx="14" formatCode="0.0000">
                  <c:v>0.99327665628197725</c:v>
                </c:pt>
                <c:pt idx="15" formatCode="0.0000">
                  <c:v>0.88885504958166073</c:v>
                </c:pt>
                <c:pt idx="16" formatCode="0.0000">
                  <c:v>0.99412619808890101</c:v>
                </c:pt>
                <c:pt idx="17" formatCode="0.0000">
                  <c:v>0.85886360524930427</c:v>
                </c:pt>
                <c:pt idx="18" formatCode="0.0000">
                  <c:v>0.93947370375536365</c:v>
                </c:pt>
                <c:pt idx="19" formatCode="0.0000">
                  <c:v>0.96396654696468798</c:v>
                </c:pt>
                <c:pt idx="20" formatCode="0.0000">
                  <c:v>0.91721206051586646</c:v>
                </c:pt>
                <c:pt idx="21" formatCode="0.0000">
                  <c:v>0.93969277329674183</c:v>
                </c:pt>
                <c:pt idx="22" formatCode="0.0000">
                  <c:v>0.93422901459852259</c:v>
                </c:pt>
                <c:pt idx="23" formatCode="0.0000">
                  <c:v>0.9982218154057817</c:v>
                </c:pt>
                <c:pt idx="24" formatCode="0.0000">
                  <c:v>0.85501118227792072</c:v>
                </c:pt>
                <c:pt idx="25" formatCode="0.0000">
                  <c:v>0.88532388830378961</c:v>
                </c:pt>
                <c:pt idx="26" formatCode="0.0000">
                  <c:v>0.92503841368206141</c:v>
                </c:pt>
                <c:pt idx="27" formatCode="0.0000">
                  <c:v>0.91357953482496534</c:v>
                </c:pt>
                <c:pt idx="28" formatCode="0.0000">
                  <c:v>0.99408692867648296</c:v>
                </c:pt>
                <c:pt idx="29" formatCode="0.0000">
                  <c:v>0.91166034607776059</c:v>
                </c:pt>
                <c:pt idx="30" formatCode="0.0000">
                  <c:v>0.99810724372513004</c:v>
                </c:pt>
                <c:pt idx="31" formatCode="0.0000">
                  <c:v>0.95083595315461378</c:v>
                </c:pt>
                <c:pt idx="32" formatCode="0.0000">
                  <c:v>0.91347606893607414</c:v>
                </c:pt>
                <c:pt idx="33" formatCode="0.0000">
                  <c:v>0.9113781641568991</c:v>
                </c:pt>
                <c:pt idx="34" formatCode="0.0000">
                  <c:v>0.90722596691313828</c:v>
                </c:pt>
                <c:pt idx="35" formatCode="0.0000">
                  <c:v>0.90576153609639143</c:v>
                </c:pt>
                <c:pt idx="36" formatCode="0.0000">
                  <c:v>0.92253103431366346</c:v>
                </c:pt>
                <c:pt idx="37" formatCode="0.0000">
                  <c:v>0.88425468571332644</c:v>
                </c:pt>
                <c:pt idx="38" formatCode="0.0000">
                  <c:v>0.8818000002966393</c:v>
                </c:pt>
                <c:pt idx="39" formatCode="0.0000">
                  <c:v>0.90735257124985824</c:v>
                </c:pt>
                <c:pt idx="40" formatCode="0.0000">
                  <c:v>0.9631716576519106</c:v>
                </c:pt>
                <c:pt idx="41" formatCode="0.0000">
                  <c:v>0.86452555688538701</c:v>
                </c:pt>
                <c:pt idx="42" formatCode="0.0000">
                  <c:v>0.91942310942122019</c:v>
                </c:pt>
                <c:pt idx="43" formatCode="0.0000">
                  <c:v>0.86374298842671915</c:v>
                </c:pt>
                <c:pt idx="44" formatCode="0.0000">
                  <c:v>0.95139084386875339</c:v>
                </c:pt>
                <c:pt idx="45" formatCode="0.0000">
                  <c:v>0.92049886915723511</c:v>
                </c:pt>
                <c:pt idx="46" formatCode="0.0000">
                  <c:v>0.89290521757461905</c:v>
                </c:pt>
                <c:pt idx="47" formatCode="0.0000">
                  <c:v>0.93792892394228145</c:v>
                </c:pt>
                <c:pt idx="48" formatCode="0.0000">
                  <c:v>0.86805933994673168</c:v>
                </c:pt>
                <c:pt idx="49" formatCode="0.0000">
                  <c:v>0.85615077384625704</c:v>
                </c:pt>
              </c:numCache>
            </c:numRef>
          </c:val>
          <c:smooth val="0"/>
          <c:extLst>
            <c:ext xmlns:c16="http://schemas.microsoft.com/office/drawing/2014/chart" uri="{C3380CC4-5D6E-409C-BE32-E72D297353CC}">
              <c16:uniqueId val="{00000001-57A7-9241-9FD5-F24B18D987C1}"/>
            </c:ext>
          </c:extLst>
        </c:ser>
        <c:ser>
          <c:idx val="2"/>
          <c:order val="2"/>
          <c:tx>
            <c:strRef>
              <c:f>Sheet1!$D$2</c:f>
              <c:strCache>
                <c:ptCount val="1"/>
                <c:pt idx="0">
                  <c:v>CFG類似度（制御フロー構造の類似性）</c:v>
                </c:pt>
              </c:strCache>
            </c:strRef>
          </c:tx>
          <c:spPr>
            <a:ln w="28575" cap="rnd">
              <a:solidFill>
                <a:schemeClr val="accent3"/>
              </a:solidFill>
              <a:round/>
            </a:ln>
            <a:effectLst/>
          </c:spPr>
          <c:marker>
            <c:symbol val="none"/>
          </c:marker>
          <c:cat>
            <c:numRef>
              <c:f>Sheet1!$A$3:$A$52</c:f>
              <c:numCache>
                <c:formatCode>General</c:formatCod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numCache>
            </c:numRef>
          </c:cat>
          <c:val>
            <c:numRef>
              <c:f>Sheet1!$D$3:$D$52</c:f>
              <c:numCache>
                <c:formatCode>General</c:formatCode>
                <c:ptCount val="50"/>
                <c:pt idx="0">
                  <c:v>0.8528</c:v>
                </c:pt>
                <c:pt idx="1">
                  <c:v>0.93669999999999998</c:v>
                </c:pt>
                <c:pt idx="2">
                  <c:v>0.91210000000000002</c:v>
                </c:pt>
                <c:pt idx="3">
                  <c:v>0.98850000000000005</c:v>
                </c:pt>
                <c:pt idx="4">
                  <c:v>0.95409999999999995</c:v>
                </c:pt>
                <c:pt idx="5">
                  <c:v>0.9123</c:v>
                </c:pt>
                <c:pt idx="6">
                  <c:v>0.98450000000000004</c:v>
                </c:pt>
                <c:pt idx="7">
                  <c:v>0.95340000000000003</c:v>
                </c:pt>
                <c:pt idx="8">
                  <c:v>0.98750000000000004</c:v>
                </c:pt>
                <c:pt idx="9">
                  <c:v>0.93420000000000003</c:v>
                </c:pt>
                <c:pt idx="10">
                  <c:v>0.89739999999999998</c:v>
                </c:pt>
                <c:pt idx="11" formatCode="0.0000">
                  <c:v>0.934665936010321</c:v>
                </c:pt>
                <c:pt idx="12" formatCode="0.0000">
                  <c:v>0.95766161471988565</c:v>
                </c:pt>
                <c:pt idx="13" formatCode="0.0000">
                  <c:v>0.86591288234244912</c:v>
                </c:pt>
                <c:pt idx="14" formatCode="0.0000">
                  <c:v>0.94950127079414315</c:v>
                </c:pt>
                <c:pt idx="15" formatCode="0.0000">
                  <c:v>0.98534777615204705</c:v>
                </c:pt>
                <c:pt idx="16" formatCode="0.0000">
                  <c:v>0.98195227577915001</c:v>
                </c:pt>
                <c:pt idx="17" formatCode="0.0000">
                  <c:v>0.98120504371065409</c:v>
                </c:pt>
                <c:pt idx="18" formatCode="0.0000">
                  <c:v>0.8568894216214975</c:v>
                </c:pt>
                <c:pt idx="19" formatCode="0.0000">
                  <c:v>0.98861594604209857</c:v>
                </c:pt>
                <c:pt idx="20" formatCode="0.0000">
                  <c:v>0.94285543716323716</c:v>
                </c:pt>
                <c:pt idx="21" formatCode="0.0000">
                  <c:v>0.97457487312878144</c:v>
                </c:pt>
                <c:pt idx="22" formatCode="0.0000">
                  <c:v>0.92123710471837406</c:v>
                </c:pt>
                <c:pt idx="23" formatCode="0.0000">
                  <c:v>0.97844989589581277</c:v>
                </c:pt>
                <c:pt idx="24" formatCode="0.0000">
                  <c:v>0.99274849112374852</c:v>
                </c:pt>
                <c:pt idx="25" formatCode="0.0000">
                  <c:v>0.92693686735265612</c:v>
                </c:pt>
                <c:pt idx="26" formatCode="0.0000">
                  <c:v>0.85865372039967458</c:v>
                </c:pt>
                <c:pt idx="27" formatCode="0.0000">
                  <c:v>0.8742276389055742</c:v>
                </c:pt>
                <c:pt idx="28" formatCode="0.0000">
                  <c:v>0.98002735901233184</c:v>
                </c:pt>
                <c:pt idx="29" formatCode="0.0000">
                  <c:v>0.92452031940499124</c:v>
                </c:pt>
                <c:pt idx="30" formatCode="0.0000">
                  <c:v>0.94575191831229832</c:v>
                </c:pt>
                <c:pt idx="31" formatCode="0.0000">
                  <c:v>0.97423172537088232</c:v>
                </c:pt>
                <c:pt idx="32" formatCode="0.0000">
                  <c:v>0.91249436810903017</c:v>
                </c:pt>
                <c:pt idx="33" formatCode="0.0000">
                  <c:v>0.94307566488212335</c:v>
                </c:pt>
                <c:pt idx="34" formatCode="0.0000">
                  <c:v>0.8681280872592636</c:v>
                </c:pt>
                <c:pt idx="35" formatCode="0.0000">
                  <c:v>0.87288342738775593</c:v>
                </c:pt>
                <c:pt idx="36" formatCode="0.0000">
                  <c:v>0.87368713905140172</c:v>
                </c:pt>
                <c:pt idx="37" formatCode="0.0000">
                  <c:v>0.98838171973895117</c:v>
                </c:pt>
                <c:pt idx="38" formatCode="0.0000">
                  <c:v>0.90283860184568332</c:v>
                </c:pt>
                <c:pt idx="39" formatCode="0.0000">
                  <c:v>0.95877201788414279</c:v>
                </c:pt>
                <c:pt idx="40" formatCode="0.0000">
                  <c:v>0.90356642573189394</c:v>
                </c:pt>
                <c:pt idx="41" formatCode="0.0000">
                  <c:v>0.91491525681639141</c:v>
                </c:pt>
                <c:pt idx="42" formatCode="0.0000">
                  <c:v>0.92995064145918727</c:v>
                </c:pt>
                <c:pt idx="43" formatCode="0.0000">
                  <c:v>0.88206024121896587</c:v>
                </c:pt>
                <c:pt idx="44" formatCode="0.0000">
                  <c:v>0.90316257873746952</c:v>
                </c:pt>
                <c:pt idx="45" formatCode="0.0000">
                  <c:v>0.86069675488927466</c:v>
                </c:pt>
                <c:pt idx="46" formatCode="0.0000">
                  <c:v>0.86373376399339552</c:v>
                </c:pt>
                <c:pt idx="47" formatCode="0.0000">
                  <c:v>0.97911381163166011</c:v>
                </c:pt>
                <c:pt idx="48" formatCode="0.0000">
                  <c:v>0.96348429242748024</c:v>
                </c:pt>
                <c:pt idx="49" formatCode="0.0000">
                  <c:v>0.91543131191634175</c:v>
                </c:pt>
              </c:numCache>
            </c:numRef>
          </c:val>
          <c:smooth val="0"/>
          <c:extLst>
            <c:ext xmlns:c16="http://schemas.microsoft.com/office/drawing/2014/chart" uri="{C3380CC4-5D6E-409C-BE32-E72D297353CC}">
              <c16:uniqueId val="{00000002-57A7-9241-9FD5-F24B18D987C1}"/>
            </c:ext>
          </c:extLst>
        </c:ser>
        <c:dLbls>
          <c:showLegendKey val="0"/>
          <c:showVal val="0"/>
          <c:showCatName val="0"/>
          <c:showSerName val="0"/>
          <c:showPercent val="0"/>
          <c:showBubbleSize val="0"/>
        </c:dLbls>
        <c:smooth val="0"/>
        <c:axId val="1436745856"/>
        <c:axId val="1437192096"/>
      </c:lineChart>
      <c:catAx>
        <c:axId val="1436745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437192096"/>
        <c:crosses val="autoZero"/>
        <c:auto val="1"/>
        <c:lblAlgn val="ctr"/>
        <c:lblOffset val="100"/>
        <c:noMultiLvlLbl val="0"/>
      </c:catAx>
      <c:valAx>
        <c:axId val="14371920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4367458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solidFill>
        <a:schemeClr val="accent1"/>
      </a:solid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ja-JP"/>
        </a:p>
      </c:txPr>
    </c:title>
    <c:autoTitleDeleted val="0"/>
    <c:plotArea>
      <c:layout/>
      <c:barChart>
        <c:barDir val="col"/>
        <c:grouping val="clustered"/>
        <c:varyColors val="0"/>
        <c:ser>
          <c:idx val="0"/>
          <c:order val="0"/>
          <c:tx>
            <c:strRef>
              <c:f>Sheet1!$E$6</c:f>
              <c:strCache>
                <c:ptCount val="1"/>
                <c:pt idx="0">
                  <c:v>平均</c:v>
                </c:pt>
              </c:strCache>
            </c:strRef>
          </c:tx>
          <c:spPr>
            <a:pattFill prst="narHorz">
              <a:fgClr>
                <a:schemeClr val="accent1"/>
              </a:fgClr>
              <a:bgClr>
                <a:schemeClr val="accent1">
                  <a:lumMod val="20000"/>
                  <a:lumOff val="80000"/>
                </a:schemeClr>
              </a:bgClr>
            </a:pattFill>
            <a:ln>
              <a:noFill/>
            </a:ln>
            <a:effectLst>
              <a:innerShdw>
                <a:schemeClr val="accent1"/>
              </a:innerShdw>
            </a:effectLst>
          </c:spPr>
          <c:invertIfNegative val="0"/>
          <c:dPt>
            <c:idx val="0"/>
            <c:invertIfNegative val="0"/>
            <c:bubble3D val="0"/>
            <c:spPr>
              <a:solidFill>
                <a:srgbClr val="0070C0"/>
              </a:solidFill>
              <a:ln>
                <a:noFill/>
              </a:ln>
              <a:effectLst>
                <a:innerShdw>
                  <a:schemeClr val="accent1"/>
                </a:innerShdw>
              </a:effectLst>
            </c:spPr>
            <c:extLst>
              <c:ext xmlns:c16="http://schemas.microsoft.com/office/drawing/2014/chart" uri="{C3380CC4-5D6E-409C-BE32-E72D297353CC}">
                <c16:uniqueId val="{00000001-D258-E046-8D28-A32B20D84BA6}"/>
              </c:ext>
            </c:extLst>
          </c:dPt>
          <c:dPt>
            <c:idx val="1"/>
            <c:invertIfNegative val="0"/>
            <c:bubble3D val="0"/>
            <c:spPr>
              <a:solidFill>
                <a:schemeClr val="accent2"/>
              </a:solidFill>
              <a:ln>
                <a:noFill/>
              </a:ln>
              <a:effectLst>
                <a:innerShdw>
                  <a:schemeClr val="accent1"/>
                </a:innerShdw>
              </a:effectLst>
            </c:spPr>
            <c:extLst>
              <c:ext xmlns:c16="http://schemas.microsoft.com/office/drawing/2014/chart" uri="{C3380CC4-5D6E-409C-BE32-E72D297353CC}">
                <c16:uniqueId val="{00000003-D258-E046-8D28-A32B20D84BA6}"/>
              </c:ext>
            </c:extLst>
          </c:dPt>
          <c:dPt>
            <c:idx val="2"/>
            <c:invertIfNegative val="0"/>
            <c:bubble3D val="0"/>
            <c:spPr>
              <a:solidFill>
                <a:srgbClr val="00B050"/>
              </a:solidFill>
              <a:ln>
                <a:noFill/>
              </a:ln>
              <a:effectLst>
                <a:innerShdw>
                  <a:schemeClr val="accent1"/>
                </a:innerShdw>
              </a:effectLst>
            </c:spPr>
            <c:extLst>
              <c:ext xmlns:c16="http://schemas.microsoft.com/office/drawing/2014/chart" uri="{C3380CC4-5D6E-409C-BE32-E72D297353CC}">
                <c16:uniqueId val="{00000005-D258-E046-8D28-A32B20D84BA6}"/>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Sheet1!$F$5:$H$5</c:f>
              <c:strCache>
                <c:ptCount val="3"/>
                <c:pt idx="0">
                  <c:v>AST構造類似度</c:v>
                </c:pt>
                <c:pt idx="1">
                  <c:v>ASTノード頻度に基づくコサイン類似度</c:v>
                </c:pt>
                <c:pt idx="2">
                  <c:v>CFG類似度（制御フロー構造の類似性）</c:v>
                </c:pt>
              </c:strCache>
            </c:strRef>
          </c:cat>
          <c:val>
            <c:numRef>
              <c:f>Sheet1!$F$6:$H$6</c:f>
              <c:numCache>
                <c:formatCode>General</c:formatCode>
                <c:ptCount val="3"/>
                <c:pt idx="0">
                  <c:v>0.48498999999999998</c:v>
                </c:pt>
                <c:pt idx="1">
                  <c:v>0.93518999999999997</c:v>
                </c:pt>
                <c:pt idx="2">
                  <c:v>0.93352000000000002</c:v>
                </c:pt>
              </c:numCache>
            </c:numRef>
          </c:val>
          <c:extLst>
            <c:ext xmlns:c16="http://schemas.microsoft.com/office/drawing/2014/chart" uri="{C3380CC4-5D6E-409C-BE32-E72D297353CC}">
              <c16:uniqueId val="{00000006-D258-E046-8D28-A32B20D84BA6}"/>
            </c:ext>
          </c:extLst>
        </c:ser>
        <c:dLbls>
          <c:dLblPos val="outEnd"/>
          <c:showLegendKey val="0"/>
          <c:showVal val="1"/>
          <c:showCatName val="0"/>
          <c:showSerName val="0"/>
          <c:showPercent val="0"/>
          <c:showBubbleSize val="0"/>
        </c:dLbls>
        <c:gapWidth val="164"/>
        <c:overlap val="-22"/>
        <c:axId val="737926144"/>
        <c:axId val="737927856"/>
      </c:barChart>
      <c:catAx>
        <c:axId val="737926144"/>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737927856"/>
        <c:crosses val="autoZero"/>
        <c:auto val="1"/>
        <c:lblAlgn val="ctr"/>
        <c:lblOffset val="100"/>
        <c:noMultiLvlLbl val="0"/>
      </c:catAx>
      <c:valAx>
        <c:axId val="7379278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737926144"/>
        <c:crosses val="autoZero"/>
        <c:crossBetween val="between"/>
      </c:valAx>
      <c:spPr>
        <a:noFill/>
        <a:ln>
          <a:noFill/>
        </a:ln>
        <a:effectLst/>
      </c:spPr>
    </c:plotArea>
    <c:plotVisOnly val="1"/>
    <c:dispBlanksAs val="gap"/>
    <c:showDLblsOverMax val="0"/>
  </c:chart>
  <c:spPr>
    <a:noFill/>
    <a:ln>
      <a:solidFill>
        <a:schemeClr val="accent1"/>
      </a:solid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ja-JP" altLang="en-US"/>
              <a:t>サイクロマチック複雑度</a:t>
            </a:r>
            <a:endParaRPr lang="ja-JP"/>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ja-JP"/>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Sheet1!$H$41:$I$41</c:f>
              <c:strCache>
                <c:ptCount val="2"/>
                <c:pt idx="0">
                  <c:v>難読化前</c:v>
                </c:pt>
                <c:pt idx="1">
                  <c:v>難読化後</c:v>
                </c:pt>
              </c:strCache>
            </c:strRef>
          </c:cat>
          <c:val>
            <c:numRef>
              <c:f>Sheet1!$H$42:$I$42</c:f>
              <c:numCache>
                <c:formatCode>General</c:formatCode>
                <c:ptCount val="2"/>
                <c:pt idx="0">
                  <c:v>9.0175999999999998</c:v>
                </c:pt>
                <c:pt idx="1">
                  <c:v>8.9087999999999994</c:v>
                </c:pt>
              </c:numCache>
            </c:numRef>
          </c:val>
          <c:extLst>
            <c:ext xmlns:c16="http://schemas.microsoft.com/office/drawing/2014/chart" uri="{C3380CC4-5D6E-409C-BE32-E72D297353CC}">
              <c16:uniqueId val="{00000000-D681-FE40-B666-6E2FB0557862}"/>
            </c:ext>
          </c:extLst>
        </c:ser>
        <c:dLbls>
          <c:dLblPos val="outEnd"/>
          <c:showLegendKey val="0"/>
          <c:showVal val="1"/>
          <c:showCatName val="0"/>
          <c:showSerName val="0"/>
          <c:showPercent val="0"/>
          <c:showBubbleSize val="0"/>
        </c:dLbls>
        <c:gapWidth val="100"/>
        <c:overlap val="-24"/>
        <c:axId val="1343015424"/>
        <c:axId val="1848282575"/>
      </c:barChart>
      <c:catAx>
        <c:axId val="134301542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ja-JP"/>
          </a:p>
        </c:txPr>
        <c:crossAx val="1848282575"/>
        <c:crosses val="autoZero"/>
        <c:auto val="1"/>
        <c:lblAlgn val="ctr"/>
        <c:lblOffset val="100"/>
        <c:noMultiLvlLbl val="0"/>
      </c:catAx>
      <c:valAx>
        <c:axId val="1848282575"/>
        <c:scaling>
          <c:orientation val="minMax"/>
          <c:max val="10.000000000001"/>
          <c:min val="1.0000000000000999"/>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0" spcFirstLastPara="1" vertOverflow="ellipsis" wrap="square" anchor="ctr" anchorCtr="1"/>
          <a:lstStyle/>
          <a:p>
            <a:pPr>
              <a:defRPr sz="900" b="0" i="0" u="none" strike="noStrike" kern="1200" baseline="0">
                <a:solidFill>
                  <a:schemeClr val="tx2"/>
                </a:solidFill>
                <a:latin typeface="+mn-lt"/>
                <a:ea typeface="+mn-ea"/>
                <a:cs typeface="+mn-cs"/>
              </a:defRPr>
            </a:pPr>
            <a:endParaRPr lang="ja-JP"/>
          </a:p>
        </c:txPr>
        <c:crossAx val="1343015424"/>
        <c:crosses val="autoZero"/>
        <c:crossBetween val="between"/>
      </c:valAx>
      <c:spPr>
        <a:noFill/>
        <a:ln>
          <a:noFill/>
        </a:ln>
        <a:effectLst/>
      </c:spPr>
    </c:plotArea>
    <c:plotVisOnly val="1"/>
    <c:dispBlanksAs val="gap"/>
    <c:showDLblsOverMax val="0"/>
  </c:chart>
  <c:spPr>
    <a:noFill/>
    <a:ln>
      <a:solidFill>
        <a:schemeClr val="accent1">
          <a:shade val="15000"/>
        </a:schemeClr>
      </a:solid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0396CC-BA72-400E-9AE5-C02D6C32C442}"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B59B5CD9-5584-4B76-AB97-A1D345EB5652}">
      <dgm:prSet/>
      <dgm:spPr/>
      <dgm:t>
        <a:bodyPr/>
        <a:lstStyle/>
        <a:p>
          <a:r>
            <a:rPr kumimoji="1" lang="en-US" b="1" dirty="0"/>
            <a:t>Python</a:t>
          </a:r>
          <a:r>
            <a:rPr kumimoji="1" lang="ja-JP" b="1"/>
            <a:t>コードを対象に、難読化前後の構造的変化を定量化・可視化するツールの実装と評価</a:t>
          </a:r>
          <a:r>
            <a:rPr kumimoji="1" lang="ja-JP"/>
            <a:t>を目的とする。</a:t>
          </a:r>
          <a:endParaRPr lang="en-US" dirty="0"/>
        </a:p>
      </dgm:t>
    </dgm:pt>
    <dgm:pt modelId="{0A741A77-BD4C-44EE-94FF-7A072D043730}" type="parTrans" cxnId="{04162DD0-6027-45B9-A253-1F88DAE9C3A8}">
      <dgm:prSet/>
      <dgm:spPr/>
      <dgm:t>
        <a:bodyPr/>
        <a:lstStyle/>
        <a:p>
          <a:endParaRPr lang="en-US"/>
        </a:p>
      </dgm:t>
    </dgm:pt>
    <dgm:pt modelId="{7A8576A3-1E52-4F5C-B7AD-3FB0B2506D43}" type="sibTrans" cxnId="{04162DD0-6027-45B9-A253-1F88DAE9C3A8}">
      <dgm:prSet/>
      <dgm:spPr/>
      <dgm:t>
        <a:bodyPr/>
        <a:lstStyle/>
        <a:p>
          <a:endParaRPr lang="en-US"/>
        </a:p>
      </dgm:t>
    </dgm:pt>
    <dgm:pt modelId="{36556160-113D-4C74-B8E2-74390896BF6D}">
      <dgm:prSet/>
      <dgm:spPr/>
      <dgm:t>
        <a:bodyPr/>
        <a:lstStyle/>
        <a:p>
          <a:r>
            <a:rPr kumimoji="1" lang="ja-JP"/>
            <a:t>生成</a:t>
          </a:r>
          <a:r>
            <a:rPr kumimoji="1" lang="en-US" dirty="0"/>
            <a:t>AI</a:t>
          </a:r>
          <a:r>
            <a:rPr kumimoji="1" lang="ja-JP"/>
            <a:t>がどれくらい難読化できるかを評価する。</a:t>
          </a:r>
          <a:endParaRPr lang="en-US" dirty="0"/>
        </a:p>
      </dgm:t>
    </dgm:pt>
    <dgm:pt modelId="{D366563F-3CD1-4FD2-9749-CBF8B0567C47}" type="parTrans" cxnId="{FA606E3E-E58F-4606-8E1A-76D2C53D52EC}">
      <dgm:prSet/>
      <dgm:spPr/>
      <dgm:t>
        <a:bodyPr/>
        <a:lstStyle/>
        <a:p>
          <a:endParaRPr lang="en-US"/>
        </a:p>
      </dgm:t>
    </dgm:pt>
    <dgm:pt modelId="{0D88ECDC-9AA8-4AB3-81C4-AB3679F9C1B1}" type="sibTrans" cxnId="{FA606E3E-E58F-4606-8E1A-76D2C53D52EC}">
      <dgm:prSet/>
      <dgm:spPr/>
      <dgm:t>
        <a:bodyPr/>
        <a:lstStyle/>
        <a:p>
          <a:endParaRPr lang="en-US"/>
        </a:p>
      </dgm:t>
    </dgm:pt>
    <dgm:pt modelId="{6686BB18-663F-C646-8CB2-C0F4E26A1F7A}" type="pres">
      <dgm:prSet presAssocID="{AD0396CC-BA72-400E-9AE5-C02D6C32C442}" presName="hierChild1" presStyleCnt="0">
        <dgm:presLayoutVars>
          <dgm:chPref val="1"/>
          <dgm:dir/>
          <dgm:animOne val="branch"/>
          <dgm:animLvl val="lvl"/>
          <dgm:resizeHandles/>
        </dgm:presLayoutVars>
      </dgm:prSet>
      <dgm:spPr/>
    </dgm:pt>
    <dgm:pt modelId="{512A81E2-2775-A542-A79D-8BD8FE7D8341}" type="pres">
      <dgm:prSet presAssocID="{B59B5CD9-5584-4B76-AB97-A1D345EB5652}" presName="hierRoot1" presStyleCnt="0"/>
      <dgm:spPr/>
    </dgm:pt>
    <dgm:pt modelId="{29DBF818-6605-FD44-AB84-771872CAF2A3}" type="pres">
      <dgm:prSet presAssocID="{B59B5CD9-5584-4B76-AB97-A1D345EB5652}" presName="composite" presStyleCnt="0"/>
      <dgm:spPr/>
    </dgm:pt>
    <dgm:pt modelId="{6091AB5F-5F34-4448-98DB-9E207EC2062A}" type="pres">
      <dgm:prSet presAssocID="{B59B5CD9-5584-4B76-AB97-A1D345EB5652}" presName="background" presStyleLbl="node0" presStyleIdx="0" presStyleCnt="2"/>
      <dgm:spPr/>
    </dgm:pt>
    <dgm:pt modelId="{CFFEDD34-D42C-954F-A277-527C019A361D}" type="pres">
      <dgm:prSet presAssocID="{B59B5CD9-5584-4B76-AB97-A1D345EB5652}" presName="text" presStyleLbl="fgAcc0" presStyleIdx="0" presStyleCnt="2" custLinFactNeighborY="627">
        <dgm:presLayoutVars>
          <dgm:chPref val="3"/>
        </dgm:presLayoutVars>
      </dgm:prSet>
      <dgm:spPr/>
    </dgm:pt>
    <dgm:pt modelId="{5DCA2477-C74A-7F48-BDED-45B10F77BBA3}" type="pres">
      <dgm:prSet presAssocID="{B59B5CD9-5584-4B76-AB97-A1D345EB5652}" presName="hierChild2" presStyleCnt="0"/>
      <dgm:spPr/>
    </dgm:pt>
    <dgm:pt modelId="{A4261F24-1702-C74B-A6A3-561639E63E31}" type="pres">
      <dgm:prSet presAssocID="{36556160-113D-4C74-B8E2-74390896BF6D}" presName="hierRoot1" presStyleCnt="0"/>
      <dgm:spPr/>
    </dgm:pt>
    <dgm:pt modelId="{B58579CB-8064-8D44-BE94-C583933F2246}" type="pres">
      <dgm:prSet presAssocID="{36556160-113D-4C74-B8E2-74390896BF6D}" presName="composite" presStyleCnt="0"/>
      <dgm:spPr/>
    </dgm:pt>
    <dgm:pt modelId="{DE34164E-5071-0248-9B48-82FC8B8C76D7}" type="pres">
      <dgm:prSet presAssocID="{36556160-113D-4C74-B8E2-74390896BF6D}" presName="background" presStyleLbl="node0" presStyleIdx="1" presStyleCnt="2"/>
      <dgm:spPr/>
    </dgm:pt>
    <dgm:pt modelId="{ADEA786D-D65F-3540-9E4D-034A7F1F00C1}" type="pres">
      <dgm:prSet presAssocID="{36556160-113D-4C74-B8E2-74390896BF6D}" presName="text" presStyleLbl="fgAcc0" presStyleIdx="1" presStyleCnt="2">
        <dgm:presLayoutVars>
          <dgm:chPref val="3"/>
        </dgm:presLayoutVars>
      </dgm:prSet>
      <dgm:spPr/>
    </dgm:pt>
    <dgm:pt modelId="{244178C1-7848-0740-88EA-D018A306AAB4}" type="pres">
      <dgm:prSet presAssocID="{36556160-113D-4C74-B8E2-74390896BF6D}" presName="hierChild2" presStyleCnt="0"/>
      <dgm:spPr/>
    </dgm:pt>
  </dgm:ptLst>
  <dgm:cxnLst>
    <dgm:cxn modelId="{FA606E3E-E58F-4606-8E1A-76D2C53D52EC}" srcId="{AD0396CC-BA72-400E-9AE5-C02D6C32C442}" destId="{36556160-113D-4C74-B8E2-74390896BF6D}" srcOrd="1" destOrd="0" parTransId="{D366563F-3CD1-4FD2-9749-CBF8B0567C47}" sibTransId="{0D88ECDC-9AA8-4AB3-81C4-AB3679F9C1B1}"/>
    <dgm:cxn modelId="{D52FDC49-A3FC-7543-84CC-628EE70F0F57}" type="presOf" srcId="{AD0396CC-BA72-400E-9AE5-C02D6C32C442}" destId="{6686BB18-663F-C646-8CB2-C0F4E26A1F7A}" srcOrd="0" destOrd="0" presId="urn:microsoft.com/office/officeart/2005/8/layout/hierarchy1"/>
    <dgm:cxn modelId="{522B5C7E-EB91-E04C-B1E9-BC82DB3DF563}" type="presOf" srcId="{B59B5CD9-5584-4B76-AB97-A1D345EB5652}" destId="{CFFEDD34-D42C-954F-A277-527C019A361D}" srcOrd="0" destOrd="0" presId="urn:microsoft.com/office/officeart/2005/8/layout/hierarchy1"/>
    <dgm:cxn modelId="{04162DD0-6027-45B9-A253-1F88DAE9C3A8}" srcId="{AD0396CC-BA72-400E-9AE5-C02D6C32C442}" destId="{B59B5CD9-5584-4B76-AB97-A1D345EB5652}" srcOrd="0" destOrd="0" parTransId="{0A741A77-BD4C-44EE-94FF-7A072D043730}" sibTransId="{7A8576A3-1E52-4F5C-B7AD-3FB0B2506D43}"/>
    <dgm:cxn modelId="{150EC1DD-119F-F947-AE3C-FC0CD3AF7258}" type="presOf" srcId="{36556160-113D-4C74-B8E2-74390896BF6D}" destId="{ADEA786D-D65F-3540-9E4D-034A7F1F00C1}" srcOrd="0" destOrd="0" presId="urn:microsoft.com/office/officeart/2005/8/layout/hierarchy1"/>
    <dgm:cxn modelId="{67B61D7D-7023-8D4F-8D6A-6DB7077AE9F3}" type="presParOf" srcId="{6686BB18-663F-C646-8CB2-C0F4E26A1F7A}" destId="{512A81E2-2775-A542-A79D-8BD8FE7D8341}" srcOrd="0" destOrd="0" presId="urn:microsoft.com/office/officeart/2005/8/layout/hierarchy1"/>
    <dgm:cxn modelId="{B82C50B4-1BD2-0749-A770-5DA265837005}" type="presParOf" srcId="{512A81E2-2775-A542-A79D-8BD8FE7D8341}" destId="{29DBF818-6605-FD44-AB84-771872CAF2A3}" srcOrd="0" destOrd="0" presId="urn:microsoft.com/office/officeart/2005/8/layout/hierarchy1"/>
    <dgm:cxn modelId="{B5737432-BB84-7D4A-A1F9-4F382C8CFD2B}" type="presParOf" srcId="{29DBF818-6605-FD44-AB84-771872CAF2A3}" destId="{6091AB5F-5F34-4448-98DB-9E207EC2062A}" srcOrd="0" destOrd="0" presId="urn:microsoft.com/office/officeart/2005/8/layout/hierarchy1"/>
    <dgm:cxn modelId="{65E165CA-EBE5-444A-B38F-7A984ADF3E6B}" type="presParOf" srcId="{29DBF818-6605-FD44-AB84-771872CAF2A3}" destId="{CFFEDD34-D42C-954F-A277-527C019A361D}" srcOrd="1" destOrd="0" presId="urn:microsoft.com/office/officeart/2005/8/layout/hierarchy1"/>
    <dgm:cxn modelId="{E54E8968-F802-FA46-8769-883FD6A63640}" type="presParOf" srcId="{512A81E2-2775-A542-A79D-8BD8FE7D8341}" destId="{5DCA2477-C74A-7F48-BDED-45B10F77BBA3}" srcOrd="1" destOrd="0" presId="urn:microsoft.com/office/officeart/2005/8/layout/hierarchy1"/>
    <dgm:cxn modelId="{88E78C63-557C-6744-8428-C052E27EDD3F}" type="presParOf" srcId="{6686BB18-663F-C646-8CB2-C0F4E26A1F7A}" destId="{A4261F24-1702-C74B-A6A3-561639E63E31}" srcOrd="1" destOrd="0" presId="urn:microsoft.com/office/officeart/2005/8/layout/hierarchy1"/>
    <dgm:cxn modelId="{649F1433-DED5-304D-994F-9A6E8C4201DF}" type="presParOf" srcId="{A4261F24-1702-C74B-A6A3-561639E63E31}" destId="{B58579CB-8064-8D44-BE94-C583933F2246}" srcOrd="0" destOrd="0" presId="urn:microsoft.com/office/officeart/2005/8/layout/hierarchy1"/>
    <dgm:cxn modelId="{EBF6B352-8CC3-4F44-BADC-08E3EDB3BE83}" type="presParOf" srcId="{B58579CB-8064-8D44-BE94-C583933F2246}" destId="{DE34164E-5071-0248-9B48-82FC8B8C76D7}" srcOrd="0" destOrd="0" presId="urn:microsoft.com/office/officeart/2005/8/layout/hierarchy1"/>
    <dgm:cxn modelId="{37115363-3E2D-0D40-BB2E-94EA06FDC24D}" type="presParOf" srcId="{B58579CB-8064-8D44-BE94-C583933F2246}" destId="{ADEA786D-D65F-3540-9E4D-034A7F1F00C1}" srcOrd="1" destOrd="0" presId="urn:microsoft.com/office/officeart/2005/8/layout/hierarchy1"/>
    <dgm:cxn modelId="{8C23C315-7FCB-644F-8251-80C5C30150CE}" type="presParOf" srcId="{A4261F24-1702-C74B-A6A3-561639E63E31}" destId="{244178C1-7848-0740-88EA-D018A306AAB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91AB5F-5F34-4448-98DB-9E207EC2062A}">
      <dsp:nvSpPr>
        <dsp:cNvPr id="0" name=""/>
        <dsp:cNvSpPr/>
      </dsp:nvSpPr>
      <dsp:spPr>
        <a:xfrm>
          <a:off x="134291" y="1225"/>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FEDD34-D42C-954F-A277-527C019A361D}">
      <dsp:nvSpPr>
        <dsp:cNvPr id="0" name=""/>
        <dsp:cNvSpPr/>
      </dsp:nvSpPr>
      <dsp:spPr>
        <a:xfrm>
          <a:off x="615713" y="458576"/>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kumimoji="1" lang="en-US" sz="2600" b="1" kern="1200" dirty="0"/>
            <a:t>Python</a:t>
          </a:r>
          <a:r>
            <a:rPr kumimoji="1" lang="ja-JP" sz="2600" b="1" kern="1200"/>
            <a:t>コードを対象に、難読化前後の構造的変化を定量化・可視化するツールの実装と評価</a:t>
          </a:r>
          <a:r>
            <a:rPr kumimoji="1" lang="ja-JP" sz="2600" kern="1200"/>
            <a:t>を目的とする。</a:t>
          </a:r>
          <a:endParaRPr lang="en-US" sz="2600" kern="1200" dirty="0"/>
        </a:p>
      </dsp:txBody>
      <dsp:txXfrm>
        <a:off x="696297" y="539160"/>
        <a:ext cx="4171627" cy="2590157"/>
      </dsp:txXfrm>
    </dsp:sp>
    <dsp:sp modelId="{DE34164E-5071-0248-9B48-82FC8B8C76D7}">
      <dsp:nvSpPr>
        <dsp:cNvPr id="0" name=""/>
        <dsp:cNvSpPr/>
      </dsp:nvSpPr>
      <dsp:spPr>
        <a:xfrm>
          <a:off x="5429930"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EA786D-D65F-3540-9E4D-034A7F1F00C1}">
      <dsp:nvSpPr>
        <dsp:cNvPr id="0" name=""/>
        <dsp:cNvSpPr/>
      </dsp:nvSpPr>
      <dsp:spPr>
        <a:xfrm>
          <a:off x="5911352"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kumimoji="1" lang="ja-JP" sz="2600" kern="1200"/>
            <a:t>生成</a:t>
          </a:r>
          <a:r>
            <a:rPr kumimoji="1" lang="en-US" sz="2600" kern="1200" dirty="0"/>
            <a:t>AI</a:t>
          </a:r>
          <a:r>
            <a:rPr kumimoji="1" lang="ja-JP" sz="2600" kern="1200"/>
            <a:t>がどれくらい難読化できるかを評価する。</a:t>
          </a:r>
          <a:endParaRPr lang="en-US" sz="2600" kern="1200" dirty="0"/>
        </a:p>
      </dsp:txBody>
      <dsp:txXfrm>
        <a:off x="5991936" y="538547"/>
        <a:ext cx="4171627" cy="25901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CFF8D9-170D-5945-B46D-80FB79F0717D}" type="datetimeFigureOut">
              <a:rPr kumimoji="1" lang="ja-JP" altLang="en-US" smtClean="0"/>
              <a:t>2026/2/2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8AC0DF-4DAE-294C-AB2C-C3ADA7B834F6}" type="slidenum">
              <a:rPr kumimoji="1" lang="ja-JP" altLang="en-US" smtClean="0"/>
              <a:t>‹#›</a:t>
            </a:fld>
            <a:endParaRPr kumimoji="1" lang="ja-JP" altLang="en-US"/>
          </a:p>
        </p:txBody>
      </p:sp>
    </p:spTree>
    <p:extLst>
      <p:ext uri="{BB962C8B-B14F-4D97-AF65-F5344CB8AC3E}">
        <p14:creationId xmlns:p14="http://schemas.microsoft.com/office/powerpoint/2010/main" val="4639063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本発表では、</a:t>
            </a:r>
            <a:r>
              <a:rPr lang="en" altLang="ja-JP" dirty="0"/>
              <a:t>ChatGPT</a:t>
            </a:r>
            <a:r>
              <a:rPr lang="ja-JP" altLang="en-US"/>
              <a:t>を用いた</a:t>
            </a:r>
            <a:r>
              <a:rPr lang="en" altLang="ja-JP" dirty="0"/>
              <a:t>Python</a:t>
            </a:r>
            <a:r>
              <a:rPr lang="ja-JP" altLang="en-US"/>
              <a:t>コード難読化と、その構造的類似度を分析する評価ツールについて報告します。</a:t>
            </a:r>
            <a:br>
              <a:rPr lang="ja-JP" altLang="en-US"/>
            </a:br>
            <a:r>
              <a:rPr lang="ja-JP" altLang="en-US"/>
              <a:t>特に、生成</a:t>
            </a:r>
            <a:r>
              <a:rPr lang="en" altLang="ja-JP" dirty="0"/>
              <a:t>AI</a:t>
            </a:r>
            <a:r>
              <a:rPr lang="ja-JP" altLang="en-US"/>
              <a:t>が</a:t>
            </a:r>
            <a:r>
              <a:rPr lang="ja-JP" altLang="en-US" b="1"/>
              <a:t>どのような方針で難読化を行っているのか</a:t>
            </a:r>
            <a:r>
              <a:rPr lang="ja-JP" altLang="en-US"/>
              <a:t>にも着目して評価を行いました。</a:t>
            </a:r>
            <a:br>
              <a:rPr lang="ja-JP" altLang="en-US"/>
            </a:br>
            <a:r>
              <a:rPr lang="ja-JP" altLang="en-US"/>
              <a:t>発表者は近藤惇斗です。よろしくお願いします。</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1</a:t>
            </a:fld>
            <a:endParaRPr kumimoji="1" lang="ja-JP" altLang="en-US"/>
          </a:p>
        </p:txBody>
      </p:sp>
    </p:spTree>
    <p:extLst>
      <p:ext uri="{BB962C8B-B14F-4D97-AF65-F5344CB8AC3E}">
        <p14:creationId xmlns:p14="http://schemas.microsoft.com/office/powerpoint/2010/main" val="947642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2</a:t>
            </a:fld>
            <a:endParaRPr kumimoji="1" lang="ja-JP" altLang="en-US"/>
          </a:p>
        </p:txBody>
      </p:sp>
    </p:spTree>
    <p:extLst>
      <p:ext uri="{BB962C8B-B14F-4D97-AF65-F5344CB8AC3E}">
        <p14:creationId xmlns:p14="http://schemas.microsoft.com/office/powerpoint/2010/main" val="2890427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まず背景です。</a:t>
            </a:r>
            <a:br>
              <a:rPr lang="ja-JP" altLang="en-US"/>
            </a:br>
            <a:r>
              <a:rPr lang="ja-JP" altLang="en-US"/>
              <a:t>こちらは一般的な</a:t>
            </a:r>
            <a:r>
              <a:rPr lang="en" altLang="ja-JP" dirty="0"/>
              <a:t>Hello World</a:t>
            </a:r>
            <a:r>
              <a:rPr lang="ja-JP" altLang="en-US"/>
              <a:t>プログラムです。</a:t>
            </a:r>
            <a:br>
              <a:rPr lang="ja-JP" altLang="en-US"/>
            </a:br>
            <a:r>
              <a:rPr lang="ja-JP" altLang="en-US"/>
              <a:t>クラス名やメソッド名、処理の流れが明確で、</a:t>
            </a:r>
            <a:br>
              <a:rPr lang="ja-JP" altLang="en-US"/>
            </a:br>
            <a:r>
              <a:rPr lang="ja-JP" altLang="en-US"/>
              <a:t>多くの人が短時間で内容を理解できます。</a:t>
            </a:r>
            <a:br>
              <a:rPr lang="ja-JP" altLang="en-US"/>
            </a:br>
            <a:r>
              <a:rPr lang="ja-JP" altLang="en-US"/>
              <a:t>これは、人間にとって可読性の高いコードの例です。</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3</a:t>
            </a:fld>
            <a:endParaRPr kumimoji="1" lang="ja-JP" altLang="en-US"/>
          </a:p>
        </p:txBody>
      </p:sp>
    </p:spTree>
    <p:extLst>
      <p:ext uri="{BB962C8B-B14F-4D97-AF65-F5344CB8AC3E}">
        <p14:creationId xmlns:p14="http://schemas.microsoft.com/office/powerpoint/2010/main" val="1829646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一方で、こちらは同じ動作をするコードですが、</a:t>
            </a:r>
            <a:br>
              <a:rPr lang="ja-JP" altLang="en-US"/>
            </a:br>
            <a:r>
              <a:rPr lang="ja-JP" altLang="en-US"/>
              <a:t>クラス名や変数名が意味を持たず、処理の意図が分かりにくくなっています。</a:t>
            </a:r>
            <a:br>
              <a:rPr lang="ja-JP" altLang="en-US"/>
            </a:br>
            <a:r>
              <a:rPr lang="ja-JP" altLang="en-US"/>
              <a:t>このように、動作は同じでも</a:t>
            </a:r>
            <a:r>
              <a:rPr lang="en-US" altLang="ja-JP" dirty="0"/>
              <a:t>『</a:t>
            </a:r>
            <a:r>
              <a:rPr lang="ja-JP" altLang="en-US"/>
              <a:t>読みにくいコード</a:t>
            </a:r>
            <a:r>
              <a:rPr lang="en-US" altLang="ja-JP" dirty="0"/>
              <a:t>』</a:t>
            </a:r>
            <a:r>
              <a:rPr lang="ja-JP" altLang="en-US"/>
              <a:t>を作ることができます。</a:t>
            </a:r>
            <a:endParaRPr lang="en-US" altLang="ja-JP" dirty="0"/>
          </a:p>
          <a:p>
            <a:r>
              <a:rPr lang="ja-JP" altLang="en-US"/>
              <a:t>このようなコード変換は</a:t>
            </a:r>
            <a:r>
              <a:rPr lang="en-US" altLang="ja-JP" dirty="0"/>
              <a:t>『</a:t>
            </a:r>
            <a:r>
              <a:rPr lang="ja-JP" altLang="en-US"/>
              <a:t>難読化</a:t>
            </a:r>
            <a:r>
              <a:rPr lang="en-US" altLang="ja-JP" dirty="0"/>
              <a:t>』</a:t>
            </a:r>
            <a:r>
              <a:rPr lang="ja-JP" altLang="en-US"/>
              <a:t>と呼ばれます。</a:t>
            </a:r>
            <a:br>
              <a:rPr lang="ja-JP" altLang="en-US"/>
            </a:br>
            <a:r>
              <a:rPr lang="ja-JP" altLang="en-US"/>
              <a:t>難読化とは、</a:t>
            </a:r>
            <a:r>
              <a:rPr lang="ja-JP" altLang="en-US" b="1"/>
              <a:t>プログラムの機能を保持したまま、可読性や解析容易性を意図的に低下させる技術</a:t>
            </a:r>
            <a:r>
              <a:rPr lang="ja-JP" altLang="en-US"/>
              <a:t>です。</a:t>
            </a:r>
            <a:br>
              <a:rPr lang="ja-JP" altLang="en-US"/>
            </a:br>
            <a:r>
              <a:rPr lang="ja-JP" altLang="en-US"/>
              <a:t>主に、ソースコードの解析防止や知的財産の保護を目的として利用されます。</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4</a:t>
            </a:fld>
            <a:endParaRPr kumimoji="1" lang="ja-JP" altLang="en-US"/>
          </a:p>
        </p:txBody>
      </p:sp>
    </p:spTree>
    <p:extLst>
      <p:ext uri="{BB962C8B-B14F-4D97-AF65-F5344CB8AC3E}">
        <p14:creationId xmlns:p14="http://schemas.microsoft.com/office/powerpoint/2010/main" val="1339778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現在、多くの難読化ツールが存在し、自動でコードを難読化できます。</a:t>
            </a:r>
            <a:br>
              <a:rPr lang="ja-JP" altLang="en-US"/>
            </a:br>
            <a:r>
              <a:rPr lang="ja-JP" altLang="en-US"/>
              <a:t>しかし、これらのツールの多くは、</a:t>
            </a:r>
            <a:br>
              <a:rPr lang="ja-JP" altLang="en-US"/>
            </a:br>
            <a:r>
              <a:rPr lang="en-US" altLang="ja-JP" dirty="0"/>
              <a:t>『</a:t>
            </a:r>
            <a:r>
              <a:rPr lang="ja-JP" altLang="en-US"/>
              <a:t>難読化後のコードを生成すること</a:t>
            </a:r>
            <a:r>
              <a:rPr lang="en-US" altLang="ja-JP" dirty="0"/>
              <a:t>』</a:t>
            </a:r>
            <a:r>
              <a:rPr lang="ja-JP" altLang="en-US"/>
              <a:t>が主目的となっています。</a:t>
            </a:r>
            <a:br>
              <a:rPr lang="ja-JP" altLang="en-US"/>
            </a:br>
            <a:r>
              <a:rPr lang="ja-JP" altLang="en-US"/>
              <a:t>そのため、</a:t>
            </a:r>
            <a:r>
              <a:rPr lang="ja-JP" altLang="en-US" b="1"/>
              <a:t>どのような手法が使われたのか</a:t>
            </a:r>
            <a:r>
              <a:rPr lang="ja-JP" altLang="en-US"/>
              <a:t>や、</a:t>
            </a:r>
            <a:br>
              <a:rPr lang="ja-JP" altLang="en-US"/>
            </a:br>
            <a:r>
              <a:rPr lang="ja-JP" altLang="en-US" b="1"/>
              <a:t>どれほどコード構造が変化したのか</a:t>
            </a:r>
            <a:r>
              <a:rPr lang="ja-JP" altLang="en-US"/>
              <a:t>をユーザが把握しにくいという問題があります。</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5</a:t>
            </a:fld>
            <a:endParaRPr kumimoji="1" lang="ja-JP" altLang="en-US"/>
          </a:p>
        </p:txBody>
      </p:sp>
    </p:spTree>
    <p:extLst>
      <p:ext uri="{BB962C8B-B14F-4D97-AF65-F5344CB8AC3E}">
        <p14:creationId xmlns:p14="http://schemas.microsoft.com/office/powerpoint/2010/main" val="757048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研究や評価の観点では、</a:t>
            </a:r>
            <a:br>
              <a:rPr lang="ja-JP" altLang="en-US"/>
            </a:br>
            <a:r>
              <a:rPr lang="ja-JP" altLang="en-US"/>
              <a:t>難読化の強度や、可読性・保守性への影響を</a:t>
            </a:r>
            <a:br>
              <a:rPr lang="ja-JP" altLang="en-US"/>
            </a:br>
            <a:r>
              <a:rPr lang="ja-JP" altLang="en-US" b="1"/>
              <a:t>客観的な指標で比較することが困難</a:t>
            </a:r>
            <a:r>
              <a:rPr lang="ja-JP" altLang="en-US"/>
              <a:t>です。</a:t>
            </a:r>
            <a:br>
              <a:rPr lang="ja-JP" altLang="en-US"/>
            </a:br>
            <a:r>
              <a:rPr lang="ja-JP" altLang="en-US"/>
              <a:t>そのため、難読化前後のコード構造を、</a:t>
            </a:r>
            <a:br>
              <a:rPr lang="ja-JP" altLang="en-US"/>
            </a:br>
            <a:r>
              <a:rPr lang="ja-JP" altLang="en-US"/>
              <a:t>定量的かつ多角的に評価できる仕組みが必要だと考えました。</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6</a:t>
            </a:fld>
            <a:endParaRPr kumimoji="1" lang="ja-JP" altLang="en-US"/>
          </a:p>
        </p:txBody>
      </p:sp>
    </p:spTree>
    <p:extLst>
      <p:ext uri="{BB962C8B-B14F-4D97-AF65-F5344CB8AC3E}">
        <p14:creationId xmlns:p14="http://schemas.microsoft.com/office/powerpoint/2010/main" val="1056276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ここで近年、</a:t>
            </a:r>
            <a:r>
              <a:rPr lang="en" altLang="ja-JP" dirty="0"/>
              <a:t>ChatGPT</a:t>
            </a:r>
            <a:r>
              <a:rPr lang="ja-JP" altLang="en-US"/>
              <a:t>をはじめとする生成</a:t>
            </a:r>
            <a:r>
              <a:rPr lang="en" altLang="ja-JP" dirty="0"/>
              <a:t>AI</a:t>
            </a:r>
            <a:r>
              <a:rPr lang="ja-JP" altLang="en-US"/>
              <a:t>が登場しました。</a:t>
            </a:r>
            <a:br>
              <a:rPr lang="ja-JP" altLang="en-US"/>
            </a:br>
            <a:r>
              <a:rPr lang="ja-JP" altLang="en-US"/>
              <a:t>生成</a:t>
            </a:r>
            <a:r>
              <a:rPr lang="en" altLang="ja-JP" dirty="0"/>
              <a:t>AI</a:t>
            </a:r>
            <a:r>
              <a:rPr lang="ja-JP" altLang="en-US"/>
              <a:t>は、可読性の高いコードを生成できるだけでなく、</a:t>
            </a:r>
            <a:br>
              <a:rPr lang="ja-JP" altLang="en-US"/>
            </a:br>
            <a:r>
              <a:rPr lang="ja-JP" altLang="en-US"/>
              <a:t>その設計意図や処理内容を言語化する能力も持っています。</a:t>
            </a:r>
            <a:br>
              <a:rPr lang="ja-JP" altLang="en-US"/>
            </a:br>
            <a:r>
              <a:rPr lang="ja-JP" altLang="en-US"/>
              <a:t>そこで本研究では、</a:t>
            </a:r>
            <a:br>
              <a:rPr lang="ja-JP" altLang="en-US"/>
            </a:br>
            <a:r>
              <a:rPr lang="ja-JP" altLang="en-US" b="1"/>
              <a:t>生成</a:t>
            </a:r>
            <a:r>
              <a:rPr lang="en" altLang="ja-JP" b="1" dirty="0"/>
              <a:t>AI</a:t>
            </a:r>
            <a:r>
              <a:rPr lang="ja-JP" altLang="en-US" b="1"/>
              <a:t>に</a:t>
            </a:r>
            <a:r>
              <a:rPr lang="en-US" altLang="ja-JP" b="1" dirty="0"/>
              <a:t>『</a:t>
            </a:r>
            <a:r>
              <a:rPr lang="ja-JP" altLang="en-US" b="1"/>
              <a:t>あえて読みにくいコードを書かせたらどうなるのか</a:t>
            </a:r>
            <a:r>
              <a:rPr lang="en-US" altLang="ja-JP" b="1" dirty="0"/>
              <a:t>』</a:t>
            </a:r>
            <a:br>
              <a:rPr lang="ja-JP" altLang="en-US"/>
            </a:br>
            <a:r>
              <a:rPr lang="ja-JP" altLang="en-US"/>
              <a:t>という点に着目しました。</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7</a:t>
            </a:fld>
            <a:endParaRPr kumimoji="1" lang="ja-JP" altLang="en-US"/>
          </a:p>
        </p:txBody>
      </p:sp>
    </p:spTree>
    <p:extLst>
      <p:ext uri="{BB962C8B-B14F-4D97-AF65-F5344CB8AC3E}">
        <p14:creationId xmlns:p14="http://schemas.microsoft.com/office/powerpoint/2010/main" val="2154948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本研究の目的は、</a:t>
            </a:r>
            <a:br>
              <a:rPr lang="ja-JP" altLang="en-US"/>
            </a:br>
            <a:r>
              <a:rPr lang="en" altLang="ja-JP" dirty="0"/>
              <a:t>Python</a:t>
            </a:r>
            <a:r>
              <a:rPr lang="ja-JP" altLang="en-US"/>
              <a:t>コードを対象に、難読化前後の構造的変化を</a:t>
            </a:r>
            <a:br>
              <a:rPr lang="ja-JP" altLang="en-US"/>
            </a:br>
            <a:r>
              <a:rPr lang="ja-JP" altLang="en-US"/>
              <a:t>定量的に評価・可視化するツールを実装することです。</a:t>
            </a:r>
            <a:br>
              <a:rPr lang="ja-JP" altLang="en-US"/>
            </a:br>
            <a:r>
              <a:rPr lang="ja-JP" altLang="en-US"/>
              <a:t>また、生成</a:t>
            </a:r>
            <a:r>
              <a:rPr lang="en" altLang="ja-JP" dirty="0"/>
              <a:t>AI</a:t>
            </a:r>
            <a:r>
              <a:rPr lang="ja-JP" altLang="en-US"/>
              <a:t>による難読化が</a:t>
            </a:r>
            <a:br>
              <a:rPr lang="ja-JP" altLang="en-US"/>
            </a:br>
            <a:r>
              <a:rPr lang="ja-JP" altLang="en-US" b="1"/>
              <a:t>どのレベルまで構造を変化させられるのか</a:t>
            </a:r>
            <a:r>
              <a:rPr lang="ja-JP" altLang="en-US"/>
              <a:t>を明らかにします。</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8</a:t>
            </a:fld>
            <a:endParaRPr kumimoji="1" lang="ja-JP" altLang="en-US"/>
          </a:p>
        </p:txBody>
      </p:sp>
    </p:spTree>
    <p:extLst>
      <p:ext uri="{BB962C8B-B14F-4D97-AF65-F5344CB8AC3E}">
        <p14:creationId xmlns:p14="http://schemas.microsoft.com/office/powerpoint/2010/main" val="2851430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9</a:t>
            </a:fld>
            <a:endParaRPr kumimoji="1" lang="ja-JP" altLang="en-US"/>
          </a:p>
        </p:txBody>
      </p:sp>
    </p:spTree>
    <p:extLst>
      <p:ext uri="{BB962C8B-B14F-4D97-AF65-F5344CB8AC3E}">
        <p14:creationId xmlns:p14="http://schemas.microsoft.com/office/powerpoint/2010/main" val="667435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研究の方法です。</a:t>
            </a:r>
            <a:br>
              <a:rPr lang="ja-JP" altLang="en-US"/>
            </a:br>
            <a:r>
              <a:rPr lang="ja-JP" altLang="en-US"/>
              <a:t>まず、</a:t>
            </a:r>
            <a:r>
              <a:rPr lang="en" altLang="ja-JP" dirty="0"/>
              <a:t>Python</a:t>
            </a:r>
            <a:r>
              <a:rPr lang="ja-JP" altLang="en-US"/>
              <a:t>コードから</a:t>
            </a:r>
            <a:r>
              <a:rPr lang="en" altLang="ja-JP" dirty="0"/>
              <a:t>AST</a:t>
            </a:r>
            <a:r>
              <a:rPr lang="ja-JP" altLang="en-US"/>
              <a:t>や</a:t>
            </a:r>
            <a:r>
              <a:rPr lang="en" altLang="ja-JP" dirty="0"/>
              <a:t>CFG</a:t>
            </a:r>
            <a:r>
              <a:rPr lang="ja-JP" altLang="en"/>
              <a:t>、</a:t>
            </a:r>
            <a:r>
              <a:rPr lang="ja-JP" altLang="en-US"/>
              <a:t>サイクロマチック複雑度などの特徴量を抽出します。</a:t>
            </a:r>
            <a:br>
              <a:rPr lang="ja-JP" altLang="en-US"/>
            </a:br>
            <a:r>
              <a:rPr lang="ja-JP" altLang="en-US"/>
              <a:t>次に、難読化前後のコードについて類似度を計算します。</a:t>
            </a:r>
            <a:br>
              <a:rPr lang="ja-JP" altLang="en-US"/>
            </a:br>
            <a:r>
              <a:rPr lang="ja-JP" altLang="en-US"/>
              <a:t>最後に、結果とともに、</a:t>
            </a:r>
            <a:br>
              <a:rPr lang="ja-JP" altLang="en-US"/>
            </a:br>
            <a:r>
              <a:rPr lang="en" altLang="ja-JP" dirty="0"/>
              <a:t>ChatGPT</a:t>
            </a:r>
            <a:r>
              <a:rPr lang="ja-JP" altLang="en-US"/>
              <a:t>が用いた難読化方針を</a:t>
            </a:r>
            <a:r>
              <a:rPr lang="en" altLang="ja-JP" dirty="0"/>
              <a:t>HTML</a:t>
            </a:r>
            <a:r>
              <a:rPr lang="ja-JP" altLang="en-US"/>
              <a:t>レポートとして出力します。</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10</a:t>
            </a:fld>
            <a:endParaRPr kumimoji="1" lang="ja-JP" altLang="en-US"/>
          </a:p>
        </p:txBody>
      </p:sp>
    </p:spTree>
    <p:extLst>
      <p:ext uri="{BB962C8B-B14F-4D97-AF65-F5344CB8AC3E}">
        <p14:creationId xmlns:p14="http://schemas.microsoft.com/office/powerpoint/2010/main" val="174946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評価指標として、</a:t>
            </a:r>
            <a:br>
              <a:rPr lang="ja-JP" altLang="en-US"/>
            </a:br>
            <a:r>
              <a:rPr lang="en" altLang="ja-JP" dirty="0"/>
              <a:t>AST</a:t>
            </a:r>
            <a:r>
              <a:rPr lang="ja-JP" altLang="en-US"/>
              <a:t>構造類似度および</a:t>
            </a:r>
            <a:r>
              <a:rPr lang="en" altLang="ja-JP" dirty="0"/>
              <a:t>AST</a:t>
            </a:r>
            <a:r>
              <a:rPr lang="ja-JP" altLang="en-US"/>
              <a:t>ノード頻度に基づくコサイン類似度を用いて構文構造を評価しました。</a:t>
            </a:r>
            <a:br>
              <a:rPr lang="ja-JP" altLang="en-US"/>
            </a:br>
            <a:r>
              <a:rPr lang="ja-JP" altLang="en-US"/>
              <a:t>また、</a:t>
            </a:r>
            <a:r>
              <a:rPr lang="en" altLang="ja-JP" dirty="0"/>
              <a:t>CFG</a:t>
            </a:r>
            <a:r>
              <a:rPr lang="ja-JP" altLang="en-US"/>
              <a:t>類似度で制御フローの変化を、</a:t>
            </a:r>
            <a:br>
              <a:rPr lang="ja-JP" altLang="en-US"/>
            </a:br>
            <a:r>
              <a:rPr lang="ja-JP" altLang="en-US"/>
              <a:t>サイクロマチック複雑度でコードの複雑さを評価しました。</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11</a:t>
            </a:fld>
            <a:endParaRPr kumimoji="1" lang="ja-JP" altLang="en-US"/>
          </a:p>
        </p:txBody>
      </p:sp>
    </p:spTree>
    <p:extLst>
      <p:ext uri="{BB962C8B-B14F-4D97-AF65-F5344CB8AC3E}">
        <p14:creationId xmlns:p14="http://schemas.microsoft.com/office/powerpoint/2010/main" val="3007414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12</a:t>
            </a:fld>
            <a:endParaRPr kumimoji="1" lang="ja-JP" altLang="en-US"/>
          </a:p>
        </p:txBody>
      </p:sp>
    </p:spTree>
    <p:extLst>
      <p:ext uri="{BB962C8B-B14F-4D97-AF65-F5344CB8AC3E}">
        <p14:creationId xmlns:p14="http://schemas.microsoft.com/office/powerpoint/2010/main" val="3774114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13</a:t>
            </a:fld>
            <a:endParaRPr kumimoji="1" lang="ja-JP" altLang="en-US"/>
          </a:p>
        </p:txBody>
      </p:sp>
    </p:spTree>
    <p:extLst>
      <p:ext uri="{BB962C8B-B14F-4D97-AF65-F5344CB8AC3E}">
        <p14:creationId xmlns:p14="http://schemas.microsoft.com/office/powerpoint/2010/main" val="26369433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14</a:t>
            </a:fld>
            <a:endParaRPr kumimoji="1" lang="ja-JP" altLang="en-US"/>
          </a:p>
        </p:txBody>
      </p:sp>
    </p:spTree>
    <p:extLst>
      <p:ext uri="{BB962C8B-B14F-4D97-AF65-F5344CB8AC3E}">
        <p14:creationId xmlns:p14="http://schemas.microsoft.com/office/powerpoint/2010/main" val="21242325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サイクロマチック複雑度とは，制御フローグラフに基づいてプログラムの独立した実行経路数を評価する指標であり，条件分岐やループ構造の数に応じて値が増加する。本研究では，各関数単位で複雑度を算出し，難読化前後における制御フローの複雑さの変化を評価した。</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15</a:t>
            </a:fld>
            <a:endParaRPr kumimoji="1" lang="ja-JP" altLang="en-US"/>
          </a:p>
        </p:txBody>
      </p:sp>
    </p:spTree>
    <p:extLst>
      <p:ext uri="{BB962C8B-B14F-4D97-AF65-F5344CB8AC3E}">
        <p14:creationId xmlns:p14="http://schemas.microsoft.com/office/powerpoint/2010/main" val="106694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16</a:t>
            </a:fld>
            <a:endParaRPr kumimoji="1" lang="ja-JP" altLang="en-US"/>
          </a:p>
        </p:txBody>
      </p:sp>
    </p:spTree>
    <p:extLst>
      <p:ext uri="{BB962C8B-B14F-4D97-AF65-F5344CB8AC3E}">
        <p14:creationId xmlns:p14="http://schemas.microsoft.com/office/powerpoint/2010/main" val="26394739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 altLang="ja-JP" dirty="0"/>
              <a:t>AST</a:t>
            </a:r>
            <a:r>
              <a:rPr lang="ja-JP" altLang="en-US"/>
              <a:t>構造に基づく評価では、</a:t>
            </a:r>
            <a:br>
              <a:rPr lang="ja-JP" altLang="en-US"/>
            </a:br>
            <a:r>
              <a:rPr lang="ja-JP" altLang="en-US"/>
              <a:t>難読化後のコードで構造類似度が大きく低下しました。</a:t>
            </a:r>
            <a:br>
              <a:rPr lang="ja-JP" altLang="en-US"/>
            </a:br>
            <a:r>
              <a:rPr lang="ja-JP" altLang="en-US"/>
              <a:t>これは、</a:t>
            </a:r>
            <a:r>
              <a:rPr lang="en" altLang="ja-JP" dirty="0"/>
              <a:t>ChatGPT</a:t>
            </a:r>
            <a:r>
              <a:rPr lang="ja-JP" altLang="en-US"/>
              <a:t>が</a:t>
            </a:r>
            <a:br>
              <a:rPr lang="ja-JP" altLang="en-US"/>
            </a:br>
            <a:r>
              <a:rPr lang="ja-JP" altLang="en-US"/>
              <a:t>処理を分割したり、冗長な構文を挿入したりすることで、</a:t>
            </a:r>
            <a:br>
              <a:rPr lang="ja-JP" altLang="en-US"/>
            </a:br>
            <a:r>
              <a:rPr lang="ja-JP" altLang="en-US"/>
              <a:t>コードの見た目の構造を大きく変形しているためだと考えられます。</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17</a:t>
            </a:fld>
            <a:endParaRPr kumimoji="1" lang="ja-JP" altLang="en-US"/>
          </a:p>
        </p:txBody>
      </p:sp>
    </p:spTree>
    <p:extLst>
      <p:ext uri="{BB962C8B-B14F-4D97-AF65-F5344CB8AC3E}">
        <p14:creationId xmlns:p14="http://schemas.microsoft.com/office/powerpoint/2010/main" val="3642894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18</a:t>
            </a:fld>
            <a:endParaRPr kumimoji="1" lang="ja-JP" altLang="en-US"/>
          </a:p>
        </p:txBody>
      </p:sp>
    </p:spTree>
    <p:extLst>
      <p:ext uri="{BB962C8B-B14F-4D97-AF65-F5344CB8AC3E}">
        <p14:creationId xmlns:p14="http://schemas.microsoft.com/office/powerpoint/2010/main" val="21380201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 altLang="ja-JP" dirty="0" err="1"/>
              <a:t>func</a:t>
            </a:r>
            <a:r>
              <a:rPr lang="ja-JP" altLang="en"/>
              <a:t>：</a:t>
            </a:r>
            <a:r>
              <a:rPr lang="ja-JP" altLang="en-US"/>
              <a:t>関数数</a:t>
            </a:r>
          </a:p>
          <a:p>
            <a:r>
              <a:rPr lang="en" altLang="ja-JP" dirty="0"/>
              <a:t>if</a:t>
            </a:r>
            <a:r>
              <a:rPr lang="ja-JP" altLang="en"/>
              <a:t>：</a:t>
            </a:r>
            <a:r>
              <a:rPr lang="ja-JP" altLang="en-US"/>
              <a:t>条件分岐数</a:t>
            </a:r>
          </a:p>
          <a:p>
            <a:r>
              <a:rPr lang="en" altLang="ja-JP" dirty="0"/>
              <a:t>while</a:t>
            </a:r>
            <a:r>
              <a:rPr lang="ja-JP" altLang="en"/>
              <a:t>：</a:t>
            </a:r>
            <a:r>
              <a:rPr lang="ja-JP" altLang="en-US"/>
              <a:t>ループ数</a:t>
            </a:r>
          </a:p>
          <a:p>
            <a:r>
              <a:rPr lang="en" altLang="ja-JP" dirty="0"/>
              <a:t>break</a:t>
            </a:r>
            <a:r>
              <a:rPr lang="ja-JP" altLang="en"/>
              <a:t>：</a:t>
            </a:r>
            <a:r>
              <a:rPr lang="ja-JP" altLang="en-US"/>
              <a:t>ジャンプ命令</a:t>
            </a:r>
          </a:p>
          <a:p>
            <a:r>
              <a:rPr lang="en" altLang="ja-JP" dirty="0" err="1"/>
              <a:t>max_depth</a:t>
            </a:r>
            <a:r>
              <a:rPr lang="ja-JP" altLang="en"/>
              <a:t>：</a:t>
            </a:r>
            <a:r>
              <a:rPr lang="ja-JP" altLang="en-US"/>
              <a:t>最大ネスト深度</a:t>
            </a:r>
          </a:p>
          <a:p>
            <a:endParaRPr lang="en" altLang="ja-JP" dirty="0"/>
          </a:p>
          <a:p>
            <a:r>
              <a:rPr lang="ja-JP" altLang="en-US"/>
              <a:t>関数数が増えた分、最大ネスト深度が下がった</a:t>
            </a:r>
            <a:endParaRPr lang="en" altLang="ja-JP" dirty="0"/>
          </a:p>
          <a:p>
            <a:endParaRPr lang="en" altLang="ja-JP" dirty="0"/>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20</a:t>
            </a:fld>
            <a:endParaRPr kumimoji="1" lang="ja-JP" altLang="en-US"/>
          </a:p>
        </p:txBody>
      </p:sp>
    </p:spTree>
    <p:extLst>
      <p:ext uri="{BB962C8B-B14F-4D97-AF65-F5344CB8AC3E}">
        <p14:creationId xmlns:p14="http://schemas.microsoft.com/office/powerpoint/2010/main" val="39559962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ja-JP" dirty="0"/>
              <a:t>CFG</a:t>
            </a:r>
            <a:r>
              <a:rPr lang="ja-JP" altLang="en-US"/>
              <a:t>類似度では、</a:t>
            </a:r>
            <a:br>
              <a:rPr lang="ja-JP" altLang="en-US"/>
            </a:br>
            <a:r>
              <a:rPr lang="ja-JP" altLang="en-US"/>
              <a:t>分岐やループが増加する例はあるものの、</a:t>
            </a:r>
            <a:br>
              <a:rPr lang="ja-JP" altLang="en-US"/>
            </a:br>
            <a:r>
              <a:rPr lang="ja-JP" altLang="en-US"/>
              <a:t>類似度が極端に低下するケースは少ない結果となりました。</a:t>
            </a:r>
            <a:br>
              <a:rPr lang="ja-JP" altLang="en-US"/>
            </a:br>
            <a:r>
              <a:rPr lang="ja-JP" altLang="en-US"/>
              <a:t>これは、</a:t>
            </a:r>
            <a:r>
              <a:rPr lang="en" altLang="ja-JP" dirty="0"/>
              <a:t>ChatGPT</a:t>
            </a:r>
            <a:r>
              <a:rPr lang="ja-JP" altLang="en-US"/>
              <a:t>が</a:t>
            </a:r>
            <a:br>
              <a:rPr lang="ja-JP" altLang="en-US"/>
            </a:br>
            <a:r>
              <a:rPr lang="ja-JP" altLang="en-US" b="1"/>
              <a:t>処理の意味を壊さない範囲でのみ難読化を行っている</a:t>
            </a:r>
            <a:br>
              <a:rPr lang="ja-JP" altLang="en-US"/>
            </a:br>
            <a:r>
              <a:rPr lang="ja-JP" altLang="en-US"/>
              <a:t>ことを示しています。</a:t>
            </a:r>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21</a:t>
            </a:fld>
            <a:endParaRPr kumimoji="1" lang="ja-JP" altLang="en-US"/>
          </a:p>
        </p:txBody>
      </p:sp>
    </p:spTree>
    <p:extLst>
      <p:ext uri="{BB962C8B-B14F-4D97-AF65-F5344CB8AC3E}">
        <p14:creationId xmlns:p14="http://schemas.microsoft.com/office/powerpoint/2010/main" val="1903016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サイクロマチック複雑度では、</a:t>
            </a:r>
            <a:br>
              <a:rPr lang="ja-JP" altLang="en-US"/>
            </a:br>
            <a:r>
              <a:rPr lang="ja-JP" altLang="en-US"/>
              <a:t>ブロック数は増加しましたが、平均複雑度は大きく変化しませんでした。</a:t>
            </a:r>
            <a:br>
              <a:rPr lang="ja-JP" altLang="en-US"/>
            </a:br>
            <a:r>
              <a:rPr lang="en" altLang="ja-JP" dirty="0"/>
              <a:t>ChatGPT</a:t>
            </a:r>
            <a:r>
              <a:rPr lang="ja-JP" altLang="en-US"/>
              <a:t>は処理を細分化することで</a:t>
            </a:r>
            <a:br>
              <a:rPr lang="ja-JP" altLang="en-US"/>
            </a:br>
            <a:r>
              <a:rPr lang="ja-JP" altLang="en-US"/>
              <a:t>コードを複雑に見せていますが、</a:t>
            </a:r>
            <a:br>
              <a:rPr lang="ja-JP" altLang="en-US"/>
            </a:br>
            <a:r>
              <a:rPr lang="ja-JP" altLang="en-US"/>
              <a:t>本質的な制御構造の複雑さは維持していると考えられます。</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23</a:t>
            </a:fld>
            <a:endParaRPr kumimoji="1" lang="ja-JP" altLang="en-US"/>
          </a:p>
        </p:txBody>
      </p:sp>
    </p:spTree>
    <p:extLst>
      <p:ext uri="{BB962C8B-B14F-4D97-AF65-F5344CB8AC3E}">
        <p14:creationId xmlns:p14="http://schemas.microsoft.com/office/powerpoint/2010/main" val="19872193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まとめです。</a:t>
            </a:r>
            <a:br>
              <a:rPr lang="ja-JP" altLang="en-US"/>
            </a:br>
            <a:r>
              <a:rPr lang="en" altLang="ja-JP" dirty="0"/>
              <a:t>ChatGPT</a:t>
            </a:r>
            <a:r>
              <a:rPr lang="ja-JP" altLang="en-US"/>
              <a:t>による難読化では、</a:t>
            </a:r>
            <a:br>
              <a:rPr lang="ja-JP" altLang="en-US"/>
            </a:br>
            <a:r>
              <a:rPr lang="ja-JP" altLang="en-US"/>
              <a:t>識別子名の変更や処理の分割、冗長な関数呼び出しの追加などが行われます。</a:t>
            </a:r>
            <a:br>
              <a:rPr lang="ja-JP" altLang="en-US"/>
            </a:br>
            <a:r>
              <a:rPr lang="ja-JP" altLang="en-US"/>
              <a:t>これは、</a:t>
            </a:r>
            <a:r>
              <a:rPr lang="en" altLang="ja-JP" dirty="0"/>
              <a:t>ChatGPT</a:t>
            </a:r>
            <a:r>
              <a:rPr lang="ja-JP" altLang="en-US"/>
              <a:t>が</a:t>
            </a:r>
            <a:br>
              <a:rPr lang="ja-JP" altLang="en-US"/>
            </a:br>
            <a:r>
              <a:rPr lang="en-US" altLang="ja-JP" b="1" dirty="0"/>
              <a:t>『</a:t>
            </a:r>
            <a:r>
              <a:rPr lang="ja-JP" altLang="en-US" b="1"/>
              <a:t>意味を保ったまま構文を変形する</a:t>
            </a:r>
            <a:r>
              <a:rPr lang="en-US" altLang="ja-JP" b="1" dirty="0"/>
              <a:t>』</a:t>
            </a:r>
            <a:br>
              <a:rPr lang="ja-JP" altLang="en-US"/>
            </a:br>
            <a:r>
              <a:rPr lang="ja-JP" altLang="en-US"/>
              <a:t>という方針でコードを書いているためだと考えられます。</a:t>
            </a:r>
            <a:endParaRPr lang="en-US" altLang="ja-JP" dirty="0"/>
          </a:p>
          <a:p>
            <a:r>
              <a:rPr lang="ja-JP" altLang="en-US"/>
              <a:t>一方で、意味が破綻するような制御構造の変更は、</a:t>
            </a:r>
            <a:br>
              <a:rPr lang="ja-JP" altLang="en-US"/>
            </a:br>
            <a:r>
              <a:rPr lang="ja-JP" altLang="en-US"/>
              <a:t>意図的に避けている傾向が見られました。</a:t>
            </a:r>
            <a:endParaRPr lang="en-US" altLang="ja-JP" dirty="0"/>
          </a:p>
          <a:p>
            <a:r>
              <a:rPr lang="ja-JP" altLang="en-US"/>
              <a:t>その結果、生成</a:t>
            </a:r>
            <a:r>
              <a:rPr lang="en" altLang="ja-JP" dirty="0"/>
              <a:t>AI</a:t>
            </a:r>
            <a:r>
              <a:rPr lang="ja-JP" altLang="en-US"/>
              <a:t>による難読化は、</a:t>
            </a:r>
            <a:br>
              <a:rPr lang="ja-JP" altLang="en-US"/>
            </a:br>
            <a:r>
              <a:rPr lang="ja-JP" altLang="en-US"/>
              <a:t>構文の見た目を複雑にする表層的な難読化にとどまる傾向があります。</a:t>
            </a:r>
            <a:endParaRPr kumimoji="1" lang="ja-JP" altLang="en-US"/>
          </a:p>
        </p:txBody>
      </p:sp>
      <p:sp>
        <p:nvSpPr>
          <p:cNvPr id="4" name="スライド番号プレースホルダー 3"/>
          <p:cNvSpPr>
            <a:spLocks noGrp="1"/>
          </p:cNvSpPr>
          <p:nvPr>
            <p:ph type="sldNum" sz="quarter" idx="5"/>
          </p:nvPr>
        </p:nvSpPr>
        <p:spPr/>
        <p:txBody>
          <a:bodyPr/>
          <a:lstStyle/>
          <a:p>
            <a:fld id="{5B8AC0DF-4DAE-294C-AB2C-C3ADA7B834F6}" type="slidenum">
              <a:rPr kumimoji="1" lang="ja-JP" altLang="en-US" smtClean="0"/>
              <a:t>25</a:t>
            </a:fld>
            <a:endParaRPr kumimoji="1" lang="ja-JP" altLang="en-US"/>
          </a:p>
        </p:txBody>
      </p:sp>
    </p:spTree>
    <p:extLst>
      <p:ext uri="{BB962C8B-B14F-4D97-AF65-F5344CB8AC3E}">
        <p14:creationId xmlns:p14="http://schemas.microsoft.com/office/powerpoint/2010/main" val="1588909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E21936-02FE-7954-18AA-92DF889731C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309F11-46B7-CC1F-21B3-FF631DCB47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A4F9A01-4E66-3EC0-0AF1-43C0BA8E0D41}"/>
              </a:ext>
            </a:extLst>
          </p:cNvPr>
          <p:cNvSpPr>
            <a:spLocks noGrp="1"/>
          </p:cNvSpPr>
          <p:nvPr>
            <p:ph type="dt" sz="half" idx="10"/>
          </p:nvPr>
        </p:nvSpPr>
        <p:spPr/>
        <p:txBody>
          <a:bodyPr/>
          <a:lstStyle/>
          <a:p>
            <a:fld id="{A0F8857E-40F9-DE40-90DB-D4557460E884}"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13467ACB-8D9F-CB1A-95B6-F1C53A33F24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ED61DDB-8DDE-1210-8104-63553FD1C12B}"/>
              </a:ext>
            </a:extLst>
          </p:cNvPr>
          <p:cNvSpPr>
            <a:spLocks noGrp="1"/>
          </p:cNvSpPr>
          <p:nvPr>
            <p:ph type="sldNum" sz="quarter" idx="12"/>
          </p:nvPr>
        </p:nvSpPr>
        <p:spPr/>
        <p:txBody>
          <a:body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3675685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B9E12B-BA37-207A-6C1B-FCDAF6EC2EC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FAAC08F-52AE-DFA7-F942-6A58CC702E0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13C7D6C-54B8-70B3-23B7-839E315BDBB5}"/>
              </a:ext>
            </a:extLst>
          </p:cNvPr>
          <p:cNvSpPr>
            <a:spLocks noGrp="1"/>
          </p:cNvSpPr>
          <p:nvPr>
            <p:ph type="dt" sz="half" idx="10"/>
          </p:nvPr>
        </p:nvSpPr>
        <p:spPr/>
        <p:txBody>
          <a:bodyPr/>
          <a:lstStyle/>
          <a:p>
            <a:fld id="{A0F8857E-40F9-DE40-90DB-D4557460E884}"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47E6CE7A-FF07-1209-2681-0FBCE19F09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77F51C8-1ADB-F2A5-BBC2-5030000C9909}"/>
              </a:ext>
            </a:extLst>
          </p:cNvPr>
          <p:cNvSpPr>
            <a:spLocks noGrp="1"/>
          </p:cNvSpPr>
          <p:nvPr>
            <p:ph type="sldNum" sz="quarter" idx="12"/>
          </p:nvPr>
        </p:nvSpPr>
        <p:spPr/>
        <p:txBody>
          <a:body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2487320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7EECE5-46A5-06E6-2E71-D66D008B7DA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05EDAD-8D7F-9031-FD38-4F8C013AE3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A8B68AC-2981-84F7-65E3-41ED52CCA76A}"/>
              </a:ext>
            </a:extLst>
          </p:cNvPr>
          <p:cNvSpPr>
            <a:spLocks noGrp="1"/>
          </p:cNvSpPr>
          <p:nvPr>
            <p:ph type="dt" sz="half" idx="10"/>
          </p:nvPr>
        </p:nvSpPr>
        <p:spPr/>
        <p:txBody>
          <a:bodyPr/>
          <a:lstStyle/>
          <a:p>
            <a:fld id="{A0F8857E-40F9-DE40-90DB-D4557460E884}"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EDD09EF2-8FC8-DFCA-C4DD-582251B21D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0DFFA9-DC64-4893-DE2D-4D8587D342EC}"/>
              </a:ext>
            </a:extLst>
          </p:cNvPr>
          <p:cNvSpPr>
            <a:spLocks noGrp="1"/>
          </p:cNvSpPr>
          <p:nvPr>
            <p:ph type="sldNum" sz="quarter" idx="12"/>
          </p:nvPr>
        </p:nvSpPr>
        <p:spPr/>
        <p:txBody>
          <a:body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2716032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18E5A1-CE78-AEBD-7ADD-B49322BF29F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1F82FF7-53DA-6854-E174-5CAF27EC200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E0FC04C-C798-9EA1-B269-50A5B3C5400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014EA37-328A-05F8-D1F4-BE39EEC9C5F9}"/>
              </a:ext>
            </a:extLst>
          </p:cNvPr>
          <p:cNvSpPr>
            <a:spLocks noGrp="1"/>
          </p:cNvSpPr>
          <p:nvPr>
            <p:ph type="dt" sz="half" idx="10"/>
          </p:nvPr>
        </p:nvSpPr>
        <p:spPr/>
        <p:txBody>
          <a:bodyPr/>
          <a:lstStyle/>
          <a:p>
            <a:fld id="{A0F8857E-40F9-DE40-90DB-D4557460E884}" type="datetimeFigureOut">
              <a:rPr kumimoji="1" lang="ja-JP" altLang="en-US" smtClean="0"/>
              <a:t>2026/2/2</a:t>
            </a:fld>
            <a:endParaRPr kumimoji="1" lang="ja-JP" altLang="en-US"/>
          </a:p>
        </p:txBody>
      </p:sp>
      <p:sp>
        <p:nvSpPr>
          <p:cNvPr id="6" name="フッター プレースホルダー 5">
            <a:extLst>
              <a:ext uri="{FF2B5EF4-FFF2-40B4-BE49-F238E27FC236}">
                <a16:creationId xmlns:a16="http://schemas.microsoft.com/office/drawing/2014/main" id="{60A75E3E-56FB-9642-0F19-368FB9F4247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4890882-B778-399C-C90D-35D8F75BF8E7}"/>
              </a:ext>
            </a:extLst>
          </p:cNvPr>
          <p:cNvSpPr>
            <a:spLocks noGrp="1"/>
          </p:cNvSpPr>
          <p:nvPr>
            <p:ph type="sldNum" sz="quarter" idx="12"/>
          </p:nvPr>
        </p:nvSpPr>
        <p:spPr/>
        <p:txBody>
          <a:body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1423383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27F72D-CF8B-8F57-C2D5-B43E719234E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6164E0C-C340-C8F9-DAD7-2ED40FDDD1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812E1B5-884C-DF15-F212-528268AB7BF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C87B567-C537-0CEF-4445-8ED5B806E5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1D0CED6-C25D-E039-1800-54700F5F9ED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0A36D00-B857-B5CD-9A16-24CFC891ABBF}"/>
              </a:ext>
            </a:extLst>
          </p:cNvPr>
          <p:cNvSpPr>
            <a:spLocks noGrp="1"/>
          </p:cNvSpPr>
          <p:nvPr>
            <p:ph type="dt" sz="half" idx="10"/>
          </p:nvPr>
        </p:nvSpPr>
        <p:spPr/>
        <p:txBody>
          <a:bodyPr/>
          <a:lstStyle/>
          <a:p>
            <a:fld id="{A0F8857E-40F9-DE40-90DB-D4557460E884}" type="datetimeFigureOut">
              <a:rPr kumimoji="1" lang="ja-JP" altLang="en-US" smtClean="0"/>
              <a:t>2026/2/2</a:t>
            </a:fld>
            <a:endParaRPr kumimoji="1" lang="ja-JP" altLang="en-US"/>
          </a:p>
        </p:txBody>
      </p:sp>
      <p:sp>
        <p:nvSpPr>
          <p:cNvPr id="8" name="フッター プレースホルダー 7">
            <a:extLst>
              <a:ext uri="{FF2B5EF4-FFF2-40B4-BE49-F238E27FC236}">
                <a16:creationId xmlns:a16="http://schemas.microsoft.com/office/drawing/2014/main" id="{EEF36506-5474-C8ED-D7DD-37F79561DDE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287512C-850D-3140-24B1-EE45F741369B}"/>
              </a:ext>
            </a:extLst>
          </p:cNvPr>
          <p:cNvSpPr>
            <a:spLocks noGrp="1"/>
          </p:cNvSpPr>
          <p:nvPr>
            <p:ph type="sldNum" sz="quarter" idx="12"/>
          </p:nvPr>
        </p:nvSpPr>
        <p:spPr/>
        <p:txBody>
          <a:body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183242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7D709F-7F23-4B65-6D43-754F8C86497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1A3288F-3A30-719D-D2CB-59DE71F82C73}"/>
              </a:ext>
            </a:extLst>
          </p:cNvPr>
          <p:cNvSpPr>
            <a:spLocks noGrp="1"/>
          </p:cNvSpPr>
          <p:nvPr>
            <p:ph type="dt" sz="half" idx="10"/>
          </p:nvPr>
        </p:nvSpPr>
        <p:spPr/>
        <p:txBody>
          <a:bodyPr/>
          <a:lstStyle/>
          <a:p>
            <a:fld id="{A0F8857E-40F9-DE40-90DB-D4557460E884}" type="datetimeFigureOut">
              <a:rPr kumimoji="1" lang="ja-JP" altLang="en-US" smtClean="0"/>
              <a:t>2026/2/2</a:t>
            </a:fld>
            <a:endParaRPr kumimoji="1" lang="ja-JP" altLang="en-US"/>
          </a:p>
        </p:txBody>
      </p:sp>
      <p:sp>
        <p:nvSpPr>
          <p:cNvPr id="4" name="フッター プレースホルダー 3">
            <a:extLst>
              <a:ext uri="{FF2B5EF4-FFF2-40B4-BE49-F238E27FC236}">
                <a16:creationId xmlns:a16="http://schemas.microsoft.com/office/drawing/2014/main" id="{204938F4-F2D9-E900-075C-AAE2C3963AC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7853D72-CDE9-FFE2-DDB6-699ACEE7FD10}"/>
              </a:ext>
            </a:extLst>
          </p:cNvPr>
          <p:cNvSpPr>
            <a:spLocks noGrp="1"/>
          </p:cNvSpPr>
          <p:nvPr>
            <p:ph type="sldNum" sz="quarter" idx="12"/>
          </p:nvPr>
        </p:nvSpPr>
        <p:spPr/>
        <p:txBody>
          <a:body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1170963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7756A77-F936-2DCC-0D41-40316330779C}"/>
              </a:ext>
            </a:extLst>
          </p:cNvPr>
          <p:cNvSpPr>
            <a:spLocks noGrp="1"/>
          </p:cNvSpPr>
          <p:nvPr>
            <p:ph type="dt" sz="half" idx="10"/>
          </p:nvPr>
        </p:nvSpPr>
        <p:spPr/>
        <p:txBody>
          <a:bodyPr/>
          <a:lstStyle/>
          <a:p>
            <a:fld id="{A0F8857E-40F9-DE40-90DB-D4557460E884}" type="datetimeFigureOut">
              <a:rPr kumimoji="1" lang="ja-JP" altLang="en-US" smtClean="0"/>
              <a:t>2026/2/2</a:t>
            </a:fld>
            <a:endParaRPr kumimoji="1" lang="ja-JP" altLang="en-US"/>
          </a:p>
        </p:txBody>
      </p:sp>
      <p:sp>
        <p:nvSpPr>
          <p:cNvPr id="3" name="フッター プレースホルダー 2">
            <a:extLst>
              <a:ext uri="{FF2B5EF4-FFF2-40B4-BE49-F238E27FC236}">
                <a16:creationId xmlns:a16="http://schemas.microsoft.com/office/drawing/2014/main" id="{030D017A-61F8-2D2C-E0BF-684FC42258F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32E96E3-2CF4-3309-0A24-4DE86AA42785}"/>
              </a:ext>
            </a:extLst>
          </p:cNvPr>
          <p:cNvSpPr>
            <a:spLocks noGrp="1"/>
          </p:cNvSpPr>
          <p:nvPr>
            <p:ph type="sldNum" sz="quarter" idx="12"/>
          </p:nvPr>
        </p:nvSpPr>
        <p:spPr/>
        <p:txBody>
          <a:body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709647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E0E347-F7D2-F791-EAC2-292692FC9C3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443EF0-0C52-87B0-C5F9-279EE16B37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CB8AE27-7CF5-FEAD-9257-880284869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4A9E05A-D97B-945B-70E6-C0B71BF91C4B}"/>
              </a:ext>
            </a:extLst>
          </p:cNvPr>
          <p:cNvSpPr>
            <a:spLocks noGrp="1"/>
          </p:cNvSpPr>
          <p:nvPr>
            <p:ph type="dt" sz="half" idx="10"/>
          </p:nvPr>
        </p:nvSpPr>
        <p:spPr/>
        <p:txBody>
          <a:bodyPr/>
          <a:lstStyle/>
          <a:p>
            <a:fld id="{A0F8857E-40F9-DE40-90DB-D4557460E884}" type="datetimeFigureOut">
              <a:rPr kumimoji="1" lang="ja-JP" altLang="en-US" smtClean="0"/>
              <a:t>2026/2/2</a:t>
            </a:fld>
            <a:endParaRPr kumimoji="1" lang="ja-JP" altLang="en-US"/>
          </a:p>
        </p:txBody>
      </p:sp>
      <p:sp>
        <p:nvSpPr>
          <p:cNvPr id="6" name="フッター プレースホルダー 5">
            <a:extLst>
              <a:ext uri="{FF2B5EF4-FFF2-40B4-BE49-F238E27FC236}">
                <a16:creationId xmlns:a16="http://schemas.microsoft.com/office/drawing/2014/main" id="{F26937E7-F165-B13E-C201-5385964005D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C147047-FECB-4D9A-0B2E-685535D5790D}"/>
              </a:ext>
            </a:extLst>
          </p:cNvPr>
          <p:cNvSpPr>
            <a:spLocks noGrp="1"/>
          </p:cNvSpPr>
          <p:nvPr>
            <p:ph type="sldNum" sz="quarter" idx="12"/>
          </p:nvPr>
        </p:nvSpPr>
        <p:spPr/>
        <p:txBody>
          <a:body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4231677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439E0A-91B0-9137-93D6-810D3690D67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645E217-99F1-0D38-9E1D-FBFD18A91C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C4148B9-DE95-ABB2-FD8E-4A6F69BDE9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037C053-7B45-087D-1F33-10DE6F147F89}"/>
              </a:ext>
            </a:extLst>
          </p:cNvPr>
          <p:cNvSpPr>
            <a:spLocks noGrp="1"/>
          </p:cNvSpPr>
          <p:nvPr>
            <p:ph type="dt" sz="half" idx="10"/>
          </p:nvPr>
        </p:nvSpPr>
        <p:spPr/>
        <p:txBody>
          <a:bodyPr/>
          <a:lstStyle/>
          <a:p>
            <a:fld id="{A0F8857E-40F9-DE40-90DB-D4557460E884}" type="datetimeFigureOut">
              <a:rPr kumimoji="1" lang="ja-JP" altLang="en-US" smtClean="0"/>
              <a:t>2026/2/2</a:t>
            </a:fld>
            <a:endParaRPr kumimoji="1" lang="ja-JP" altLang="en-US"/>
          </a:p>
        </p:txBody>
      </p:sp>
      <p:sp>
        <p:nvSpPr>
          <p:cNvPr id="6" name="フッター プレースホルダー 5">
            <a:extLst>
              <a:ext uri="{FF2B5EF4-FFF2-40B4-BE49-F238E27FC236}">
                <a16:creationId xmlns:a16="http://schemas.microsoft.com/office/drawing/2014/main" id="{EF9393AE-5EC6-A96A-EC26-139DFA5DB7F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16FC308-BE35-4017-3F63-4E34DEB46DC2}"/>
              </a:ext>
            </a:extLst>
          </p:cNvPr>
          <p:cNvSpPr>
            <a:spLocks noGrp="1"/>
          </p:cNvSpPr>
          <p:nvPr>
            <p:ph type="sldNum" sz="quarter" idx="12"/>
          </p:nvPr>
        </p:nvSpPr>
        <p:spPr/>
        <p:txBody>
          <a:body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1537424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AC66CE-FE92-8F65-4FEA-FD51C57DFE6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B43C20D-8E4F-BA32-CC59-0C0F618FA0E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3A02885-F5B8-51B2-4AF0-21A364D41F4C}"/>
              </a:ext>
            </a:extLst>
          </p:cNvPr>
          <p:cNvSpPr>
            <a:spLocks noGrp="1"/>
          </p:cNvSpPr>
          <p:nvPr>
            <p:ph type="dt" sz="half" idx="10"/>
          </p:nvPr>
        </p:nvSpPr>
        <p:spPr/>
        <p:txBody>
          <a:bodyPr/>
          <a:lstStyle/>
          <a:p>
            <a:fld id="{A0F8857E-40F9-DE40-90DB-D4557460E884}"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A9FAE3D8-8CFE-5E7E-917D-323086A97A7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7AD45C4-A0B7-D0C2-90EF-8B8DEC3C3B8D}"/>
              </a:ext>
            </a:extLst>
          </p:cNvPr>
          <p:cNvSpPr>
            <a:spLocks noGrp="1"/>
          </p:cNvSpPr>
          <p:nvPr>
            <p:ph type="sldNum" sz="quarter" idx="12"/>
          </p:nvPr>
        </p:nvSpPr>
        <p:spPr/>
        <p:txBody>
          <a:body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1652053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0F54452-18C9-6FBE-474B-1D6B6AAA074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20722F3-B119-A6A0-3891-C1C57C42A5B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4EA5CEE-25A5-DEDD-D83A-88265B911E27}"/>
              </a:ext>
            </a:extLst>
          </p:cNvPr>
          <p:cNvSpPr>
            <a:spLocks noGrp="1"/>
          </p:cNvSpPr>
          <p:nvPr>
            <p:ph type="dt" sz="half" idx="10"/>
          </p:nvPr>
        </p:nvSpPr>
        <p:spPr/>
        <p:txBody>
          <a:bodyPr/>
          <a:lstStyle/>
          <a:p>
            <a:fld id="{A0F8857E-40F9-DE40-90DB-D4557460E884}"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2567C807-0739-6F11-A2D2-0A9337AC733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439C5C8-CF8D-05DE-F489-C7CC8822C25E}"/>
              </a:ext>
            </a:extLst>
          </p:cNvPr>
          <p:cNvSpPr>
            <a:spLocks noGrp="1"/>
          </p:cNvSpPr>
          <p:nvPr>
            <p:ph type="sldNum" sz="quarter" idx="12"/>
          </p:nvPr>
        </p:nvSpPr>
        <p:spPr/>
        <p:txBody>
          <a:body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459530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DD2108E-116C-6CCA-9D98-28BCDD8797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513D657-1E41-8D7B-2962-75029F6FC5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9205A69-D4E5-42A4-824B-EED15E612A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F8857E-40F9-DE40-90DB-D4557460E884}" type="datetimeFigureOut">
              <a:rPr kumimoji="1" lang="ja-JP" altLang="en-US" smtClean="0"/>
              <a:t>2026/2/2</a:t>
            </a:fld>
            <a:endParaRPr kumimoji="1" lang="ja-JP" altLang="en-US"/>
          </a:p>
        </p:txBody>
      </p:sp>
      <p:sp>
        <p:nvSpPr>
          <p:cNvPr id="5" name="フッター プレースホルダー 4">
            <a:extLst>
              <a:ext uri="{FF2B5EF4-FFF2-40B4-BE49-F238E27FC236}">
                <a16:creationId xmlns:a16="http://schemas.microsoft.com/office/drawing/2014/main" id="{979251EC-43EF-9CBE-D110-B28F76304C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56AA798-53CF-6ED0-E0D9-82604DE483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13389C-C6BB-584A-AF18-92C6BAF3E77D}" type="slidenum">
              <a:rPr kumimoji="1" lang="ja-JP" altLang="en-US" smtClean="0"/>
              <a:t>‹#›</a:t>
            </a:fld>
            <a:endParaRPr kumimoji="1" lang="ja-JP" altLang="en-US"/>
          </a:p>
        </p:txBody>
      </p:sp>
    </p:spTree>
    <p:extLst>
      <p:ext uri="{BB962C8B-B14F-4D97-AF65-F5344CB8AC3E}">
        <p14:creationId xmlns:p14="http://schemas.microsoft.com/office/powerpoint/2010/main" val="96181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2.jpe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008135-F390-A548-50A9-3AEAC12557DB}"/>
              </a:ext>
            </a:extLst>
          </p:cNvPr>
          <p:cNvSpPr>
            <a:spLocks noGrp="1"/>
          </p:cNvSpPr>
          <p:nvPr>
            <p:ph type="ctrTitle"/>
          </p:nvPr>
        </p:nvSpPr>
        <p:spPr/>
        <p:txBody>
          <a:bodyPr>
            <a:normAutofit fontScale="90000"/>
          </a:bodyPr>
          <a:lstStyle/>
          <a:p>
            <a:r>
              <a:rPr kumimoji="1" lang="en-US" altLang="ja-JP" dirty="0"/>
              <a:t>ChatGPT</a:t>
            </a:r>
            <a:r>
              <a:rPr kumimoji="1" lang="ja-JP" altLang="en-US"/>
              <a:t>を用いた</a:t>
            </a:r>
            <a:br>
              <a:rPr kumimoji="1" lang="en-US" altLang="ja-JP" dirty="0"/>
            </a:br>
            <a:r>
              <a:rPr kumimoji="1" lang="en-US" altLang="ja-JP" dirty="0"/>
              <a:t>Python</a:t>
            </a:r>
            <a:r>
              <a:rPr kumimoji="1" lang="ja-JP" altLang="en-US"/>
              <a:t>コード難読化と構造的類似度分析ツールの評価</a:t>
            </a:r>
          </a:p>
        </p:txBody>
      </p:sp>
      <p:sp>
        <p:nvSpPr>
          <p:cNvPr id="3" name="字幕 2">
            <a:extLst>
              <a:ext uri="{FF2B5EF4-FFF2-40B4-BE49-F238E27FC236}">
                <a16:creationId xmlns:a16="http://schemas.microsoft.com/office/drawing/2014/main" id="{5D6A793D-3588-0B25-32FF-9280D00F2B8B}"/>
              </a:ext>
            </a:extLst>
          </p:cNvPr>
          <p:cNvSpPr>
            <a:spLocks noGrp="1"/>
          </p:cNvSpPr>
          <p:nvPr>
            <p:ph type="subTitle" idx="1"/>
          </p:nvPr>
        </p:nvSpPr>
        <p:spPr/>
        <p:txBody>
          <a:bodyPr/>
          <a:lstStyle/>
          <a:p>
            <a:r>
              <a:rPr kumimoji="1" lang="en-US" altLang="ja-JP" dirty="0"/>
              <a:t>253550</a:t>
            </a:r>
          </a:p>
          <a:p>
            <a:r>
              <a:rPr lang="ja-JP" altLang="en-US"/>
              <a:t>近藤惇斗</a:t>
            </a:r>
            <a:endParaRPr kumimoji="1" lang="ja-JP" altLang="en-US"/>
          </a:p>
        </p:txBody>
      </p:sp>
    </p:spTree>
    <p:extLst>
      <p:ext uri="{BB962C8B-B14F-4D97-AF65-F5344CB8AC3E}">
        <p14:creationId xmlns:p14="http://schemas.microsoft.com/office/powerpoint/2010/main" val="3679720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A4C0D3-56EB-B4DB-3DE5-1247BCDD6CD9}"/>
              </a:ext>
            </a:extLst>
          </p:cNvPr>
          <p:cNvSpPr>
            <a:spLocks noGrp="1"/>
          </p:cNvSpPr>
          <p:nvPr>
            <p:ph type="title"/>
          </p:nvPr>
        </p:nvSpPr>
        <p:spPr>
          <a:xfrm>
            <a:off x="838200" y="2589212"/>
            <a:ext cx="10515600" cy="1325563"/>
          </a:xfrm>
        </p:spPr>
        <p:txBody>
          <a:bodyPr>
            <a:normAutofit fontScale="90000"/>
          </a:bodyPr>
          <a:lstStyle/>
          <a:p>
            <a:r>
              <a:rPr kumimoji="1" lang="ja-JP" altLang="en-US"/>
              <a:t>難読化とは？</a:t>
            </a:r>
            <a:br>
              <a:rPr kumimoji="1" lang="en-US" altLang="ja-JP" dirty="0"/>
            </a:br>
            <a:br>
              <a:rPr kumimoji="1" lang="en-US" altLang="ja-JP" dirty="0"/>
            </a:br>
            <a:br>
              <a:rPr kumimoji="1" lang="en-US" altLang="ja-JP" dirty="0"/>
            </a:br>
            <a:br>
              <a:rPr kumimoji="1" lang="en-US" altLang="ja-JP" dirty="0"/>
            </a:br>
            <a:r>
              <a:rPr kumimoji="1" lang="ja-JP" altLang="en-US"/>
              <a:t>なぜ必要か？</a:t>
            </a:r>
          </a:p>
        </p:txBody>
      </p:sp>
      <p:pic>
        <p:nvPicPr>
          <p:cNvPr id="3074" name="Picture 2" descr="プログラマ―の無料イラスト | フリーイラスト素材集 ジャパクリップ">
            <a:extLst>
              <a:ext uri="{FF2B5EF4-FFF2-40B4-BE49-F238E27FC236}">
                <a16:creationId xmlns:a16="http://schemas.microsoft.com/office/drawing/2014/main" id="{2C72E6F6-421B-B794-9602-31BE306490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8713" y="485775"/>
            <a:ext cx="3429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小学生・中学生向けのICT教室／ イフキッズプログラミング日暮里">
            <a:extLst>
              <a:ext uri="{FF2B5EF4-FFF2-40B4-BE49-F238E27FC236}">
                <a16:creationId xmlns:a16="http://schemas.microsoft.com/office/drawing/2014/main" id="{63F91FD9-02B5-09EF-F41A-B5C85AB7D8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7713" y="3251993"/>
            <a:ext cx="2556245" cy="294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9509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EF626C-F97E-AD29-AA9D-71E22CB62065}"/>
              </a:ext>
            </a:extLst>
          </p:cNvPr>
          <p:cNvSpPr>
            <a:spLocks noGrp="1"/>
          </p:cNvSpPr>
          <p:nvPr>
            <p:ph type="title"/>
          </p:nvPr>
        </p:nvSpPr>
        <p:spPr>
          <a:xfrm>
            <a:off x="838200" y="209826"/>
            <a:ext cx="10515600" cy="1325563"/>
          </a:xfrm>
        </p:spPr>
        <p:txBody>
          <a:bodyPr/>
          <a:lstStyle/>
          <a:p>
            <a:r>
              <a:rPr kumimoji="1" lang="ja-JP" altLang="en-US"/>
              <a:t>背景</a:t>
            </a:r>
          </a:p>
        </p:txBody>
      </p:sp>
      <p:pic>
        <p:nvPicPr>
          <p:cNvPr id="1028" name="Picture 4" descr="プログラミングをする人のイラスト（男性） | かわいいフリー素材集 いらすとや">
            <a:extLst>
              <a:ext uri="{FF2B5EF4-FFF2-40B4-BE49-F238E27FC236}">
                <a16:creationId xmlns:a16="http://schemas.microsoft.com/office/drawing/2014/main" id="{BFDE2CEC-378A-5398-0B70-5A9C57ACED2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1348832"/>
            <a:ext cx="2707752" cy="2462213"/>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9FB56476-0B36-91C6-9A03-DC081E5F389E}"/>
              </a:ext>
            </a:extLst>
          </p:cNvPr>
          <p:cNvSpPr txBox="1"/>
          <p:nvPr/>
        </p:nvSpPr>
        <p:spPr>
          <a:xfrm>
            <a:off x="4116104" y="1790400"/>
            <a:ext cx="5410728" cy="1477328"/>
          </a:xfrm>
          <a:prstGeom prst="rect">
            <a:avLst/>
          </a:prstGeom>
          <a:noFill/>
        </p:spPr>
        <p:txBody>
          <a:bodyPr wrap="square" rtlCol="0">
            <a:spAutoFit/>
          </a:bodyPr>
          <a:lstStyle/>
          <a:p>
            <a:r>
              <a:rPr lang="en-US" altLang="ja-JP" b="1" dirty="0">
                <a:solidFill>
                  <a:srgbClr val="000088"/>
                </a:solidFill>
                <a:latin typeface="Courier New" panose="02070309020205020404" pitchFamily="49" charset="0"/>
              </a:rPr>
              <a:t>public</a:t>
            </a:r>
            <a:r>
              <a:rPr lang="en-US" altLang="ja-JP" b="1" dirty="0">
                <a:solidFill>
                  <a:srgbClr val="000000"/>
                </a:solidFill>
                <a:latin typeface="Courier New" panose="02070309020205020404" pitchFamily="49" charset="0"/>
              </a:rPr>
              <a:t> </a:t>
            </a:r>
            <a:r>
              <a:rPr lang="en-US" altLang="ja-JP" b="1" dirty="0">
                <a:solidFill>
                  <a:srgbClr val="000088"/>
                </a:solidFill>
                <a:latin typeface="Courier New" panose="02070309020205020404" pitchFamily="49" charset="0"/>
              </a:rPr>
              <a:t>class</a:t>
            </a:r>
            <a:r>
              <a:rPr lang="en-US" altLang="ja-JP" b="1" dirty="0">
                <a:solidFill>
                  <a:srgbClr val="000000"/>
                </a:solidFill>
                <a:latin typeface="Courier New" panose="02070309020205020404" pitchFamily="49" charset="0"/>
              </a:rPr>
              <a:t> </a:t>
            </a:r>
            <a:r>
              <a:rPr lang="en-US" altLang="ja-JP" b="1" dirty="0">
                <a:solidFill>
                  <a:srgbClr val="660066"/>
                </a:solidFill>
                <a:latin typeface="Courier New" panose="02070309020205020404" pitchFamily="49" charset="0"/>
              </a:rPr>
              <a:t>HelloWorld</a:t>
            </a:r>
            <a:r>
              <a:rPr lang="en-US" altLang="ja-JP" b="1" dirty="0">
                <a:solidFill>
                  <a:srgbClr val="000000"/>
                </a:solidFill>
                <a:latin typeface="Courier New" panose="02070309020205020404" pitchFamily="49" charset="0"/>
              </a:rPr>
              <a:t>{</a:t>
            </a:r>
          </a:p>
          <a:p>
            <a:r>
              <a:rPr lang="en-US" altLang="ja-JP" b="1" dirty="0">
                <a:solidFill>
                  <a:srgbClr val="000088"/>
                </a:solidFill>
                <a:latin typeface="Courier New" panose="02070309020205020404" pitchFamily="49" charset="0"/>
              </a:rPr>
              <a:t>  public void</a:t>
            </a:r>
            <a:r>
              <a:rPr lang="en-US" altLang="ja-JP" b="1" dirty="0">
                <a:solidFill>
                  <a:srgbClr val="000000"/>
                </a:solidFill>
                <a:latin typeface="Courier New" panose="02070309020205020404" pitchFamily="49" charset="0"/>
              </a:rPr>
              <a:t> run(String[] </a:t>
            </a:r>
            <a:r>
              <a:rPr lang="en-US" altLang="ja-JP" b="1" dirty="0" err="1">
                <a:solidFill>
                  <a:srgbClr val="000000"/>
                </a:solidFill>
                <a:latin typeface="Courier New" panose="02070309020205020404" pitchFamily="49" charset="0"/>
              </a:rPr>
              <a:t>args</a:t>
            </a:r>
            <a:r>
              <a:rPr lang="en-US" altLang="ja-JP" b="1" dirty="0">
                <a:solidFill>
                  <a:srgbClr val="000000"/>
                </a:solidFill>
                <a:latin typeface="Courier New" panose="02070309020205020404" pitchFamily="49" charset="0"/>
              </a:rPr>
              <a:t>){</a:t>
            </a:r>
          </a:p>
          <a:p>
            <a:r>
              <a:rPr lang="en-US" altLang="ja-JP" b="1" dirty="0">
                <a:solidFill>
                  <a:srgbClr val="000000"/>
                </a:solidFill>
                <a:latin typeface="Courier New" panose="02070309020205020404" pitchFamily="49" charset="0"/>
              </a:rPr>
              <a:t>    </a:t>
            </a:r>
            <a:r>
              <a:rPr lang="en-US" altLang="ja-JP" b="1" dirty="0" err="1">
                <a:solidFill>
                  <a:srgbClr val="000000"/>
                </a:solidFill>
                <a:latin typeface="Courier New" panose="02070309020205020404" pitchFamily="49" charset="0"/>
              </a:rPr>
              <a:t>System.out.println</a:t>
            </a:r>
            <a:r>
              <a:rPr lang="en-US" altLang="ja-JP" b="1" dirty="0">
                <a:solidFill>
                  <a:srgbClr val="000000"/>
                </a:solidFill>
                <a:latin typeface="Courier New" panose="02070309020205020404" pitchFamily="49" charset="0"/>
              </a:rPr>
              <a:t>(</a:t>
            </a:r>
            <a:r>
              <a:rPr lang="en-US" altLang="ja-JP" b="1" dirty="0">
                <a:solidFill>
                  <a:srgbClr val="008800"/>
                </a:solidFill>
                <a:latin typeface="Courier New" panose="02070309020205020404" pitchFamily="49" charset="0"/>
              </a:rPr>
              <a:t>"Hello World"</a:t>
            </a:r>
            <a:r>
              <a:rPr lang="en-US" altLang="ja-JP" b="1" dirty="0">
                <a:solidFill>
                  <a:srgbClr val="000000"/>
                </a:solidFill>
                <a:latin typeface="Courier New" panose="02070309020205020404" pitchFamily="49" charset="0"/>
              </a:rPr>
              <a:t>);</a:t>
            </a:r>
          </a:p>
          <a:p>
            <a:r>
              <a:rPr lang="en-US" altLang="ja-JP" b="1" dirty="0">
                <a:solidFill>
                  <a:srgbClr val="000000"/>
                </a:solidFill>
                <a:latin typeface="Courier New" panose="02070309020205020404" pitchFamily="49" charset="0"/>
              </a:rPr>
              <a:t>  }</a:t>
            </a:r>
          </a:p>
          <a:p>
            <a:r>
              <a:rPr lang="en-US" altLang="ja-JP" b="1" dirty="0">
                <a:solidFill>
                  <a:srgbClr val="000000"/>
                </a:solidFill>
                <a:latin typeface="Courier New" panose="02070309020205020404" pitchFamily="49" charset="0"/>
              </a:rPr>
              <a:t>}</a:t>
            </a:r>
            <a:endParaRPr kumimoji="1" lang="ja-JP" altLang="en-US" b="1">
              <a:latin typeface="Consolas" panose="020B0609020204030204" pitchFamily="49" charset="0"/>
              <a:cs typeface="Consolas" panose="020B0609020204030204" pitchFamily="49" charset="0"/>
            </a:endParaRPr>
          </a:p>
        </p:txBody>
      </p:sp>
      <p:sp>
        <p:nvSpPr>
          <p:cNvPr id="7" name="角丸四角形吹き出し 6">
            <a:extLst>
              <a:ext uri="{FF2B5EF4-FFF2-40B4-BE49-F238E27FC236}">
                <a16:creationId xmlns:a16="http://schemas.microsoft.com/office/drawing/2014/main" id="{618E2B63-EF7B-53BB-048E-87B77F3DB465}"/>
              </a:ext>
            </a:extLst>
          </p:cNvPr>
          <p:cNvSpPr/>
          <p:nvPr/>
        </p:nvSpPr>
        <p:spPr>
          <a:xfrm>
            <a:off x="4049930" y="1591686"/>
            <a:ext cx="5543076" cy="1765633"/>
          </a:xfrm>
          <a:prstGeom prst="wedgeRoundRectCallout">
            <a:avLst>
              <a:gd name="adj1" fmla="val -61956"/>
              <a:gd name="adj2" fmla="val 12145"/>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30" name="Picture 6" descr="ハッカーのイラスト | かわいいフリー素材集 いらすとや">
            <a:extLst>
              <a:ext uri="{FF2B5EF4-FFF2-40B4-BE49-F238E27FC236}">
                <a16:creationId xmlns:a16="http://schemas.microsoft.com/office/drawing/2014/main" id="{A1BC6BE5-21E6-4AEF-7598-365396E308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6832" y="2312613"/>
            <a:ext cx="2707752" cy="2707752"/>
          </a:xfrm>
          <a:prstGeom prst="rect">
            <a:avLst/>
          </a:prstGeom>
          <a:noFill/>
          <a:extLst>
            <a:ext uri="{909E8E84-426E-40DD-AFC4-6F175D3DCCD1}">
              <a14:hiddenFill xmlns:a14="http://schemas.microsoft.com/office/drawing/2010/main">
                <a:solidFill>
                  <a:srgbClr val="FFFFFF"/>
                </a:solidFill>
              </a14:hiddenFill>
            </a:ext>
          </a:extLst>
        </p:spPr>
      </p:pic>
      <p:sp>
        <p:nvSpPr>
          <p:cNvPr id="9" name="角丸四角形吹き出し 8">
            <a:extLst>
              <a:ext uri="{FF2B5EF4-FFF2-40B4-BE49-F238E27FC236}">
                <a16:creationId xmlns:a16="http://schemas.microsoft.com/office/drawing/2014/main" id="{9E7A762A-AA1F-BC52-8603-535811F60E6C}"/>
              </a:ext>
            </a:extLst>
          </p:cNvPr>
          <p:cNvSpPr/>
          <p:nvPr/>
        </p:nvSpPr>
        <p:spPr>
          <a:xfrm>
            <a:off x="6104023" y="3666489"/>
            <a:ext cx="2923027" cy="1155031"/>
          </a:xfrm>
          <a:prstGeom prst="wedgeRoundRectCallout">
            <a:avLst>
              <a:gd name="adj1" fmla="val 67949"/>
              <a:gd name="adj2" fmla="val 4167"/>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B546D3EA-384C-7BF5-31F7-E818002FE8F9}"/>
              </a:ext>
            </a:extLst>
          </p:cNvPr>
          <p:cNvSpPr txBox="1"/>
          <p:nvPr/>
        </p:nvSpPr>
        <p:spPr>
          <a:xfrm>
            <a:off x="6209235" y="4033710"/>
            <a:ext cx="2712602" cy="461665"/>
          </a:xfrm>
          <a:prstGeom prst="rect">
            <a:avLst/>
          </a:prstGeom>
          <a:noFill/>
        </p:spPr>
        <p:txBody>
          <a:bodyPr wrap="none" rtlCol="0">
            <a:spAutoFit/>
          </a:bodyPr>
          <a:lstStyle/>
          <a:p>
            <a:r>
              <a:rPr kumimoji="1" lang="en-US" altLang="ja-JP" sz="2400" dirty="0"/>
              <a:t>“Hello World”</a:t>
            </a:r>
            <a:r>
              <a:rPr lang="ja-JP" altLang="en-US" sz="2400"/>
              <a:t>だな</a:t>
            </a:r>
            <a:endParaRPr kumimoji="1" lang="ja-JP" altLang="en-US" sz="2400"/>
          </a:p>
        </p:txBody>
      </p:sp>
    </p:spTree>
    <p:extLst>
      <p:ext uri="{BB962C8B-B14F-4D97-AF65-F5344CB8AC3E}">
        <p14:creationId xmlns:p14="http://schemas.microsoft.com/office/powerpoint/2010/main" val="1843956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94CF9E-EC67-1CC4-E598-85C6F917C67A}"/>
              </a:ext>
            </a:extLst>
          </p:cNvPr>
          <p:cNvSpPr>
            <a:spLocks noGrp="1"/>
          </p:cNvSpPr>
          <p:nvPr>
            <p:ph type="title"/>
          </p:nvPr>
        </p:nvSpPr>
        <p:spPr/>
        <p:txBody>
          <a:bodyPr/>
          <a:lstStyle/>
          <a:p>
            <a:r>
              <a:rPr kumimoji="1" lang="ja-JP" altLang="en-US"/>
              <a:t>背景</a:t>
            </a:r>
          </a:p>
        </p:txBody>
      </p:sp>
      <p:pic>
        <p:nvPicPr>
          <p:cNvPr id="4" name="Picture 4" descr="プログラミングをする人のイラスト（男性） | かわいいフリー素材集 いらすとや">
            <a:extLst>
              <a:ext uri="{FF2B5EF4-FFF2-40B4-BE49-F238E27FC236}">
                <a16:creationId xmlns:a16="http://schemas.microsoft.com/office/drawing/2014/main" id="{3A3AFD3B-ECDE-50C8-4B35-EBEDD3EFF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48832"/>
            <a:ext cx="2707752" cy="2462213"/>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30DC9BB4-BC1D-2159-395D-6A085717AB80}"/>
              </a:ext>
            </a:extLst>
          </p:cNvPr>
          <p:cNvSpPr txBox="1"/>
          <p:nvPr/>
        </p:nvSpPr>
        <p:spPr>
          <a:xfrm>
            <a:off x="4471036" y="1296950"/>
            <a:ext cx="5410728" cy="2031325"/>
          </a:xfrm>
          <a:prstGeom prst="rect">
            <a:avLst/>
          </a:prstGeom>
          <a:noFill/>
        </p:spPr>
        <p:txBody>
          <a:bodyPr wrap="square" rtlCol="0">
            <a:spAutoFit/>
          </a:bodyPr>
          <a:lstStyle/>
          <a:p>
            <a:r>
              <a:rPr lang="en-US" altLang="ja-JP" b="1" dirty="0">
                <a:solidFill>
                  <a:srgbClr val="000088"/>
                </a:solidFill>
                <a:latin typeface="Courier New" panose="02070309020205020404" pitchFamily="49" charset="0"/>
              </a:rPr>
              <a:t>public class </a:t>
            </a:r>
            <a:r>
              <a:rPr lang="en-US" altLang="ja-JP" b="1" dirty="0">
                <a:solidFill>
                  <a:srgbClr val="7030A0"/>
                </a:solidFill>
                <a:latin typeface="Courier New" panose="02070309020205020404" pitchFamily="49" charset="0"/>
              </a:rPr>
              <a:t>A</a:t>
            </a:r>
            <a:r>
              <a:rPr lang="en-US" altLang="ja-JP" b="1" dirty="0">
                <a:solidFill>
                  <a:srgbClr val="000088"/>
                </a:solidFill>
                <a:latin typeface="Courier New" panose="02070309020205020404" pitchFamily="49" charset="0"/>
              </a:rPr>
              <a:t> </a:t>
            </a:r>
            <a:r>
              <a:rPr lang="en-US" altLang="ja-JP" b="1" dirty="0">
                <a:latin typeface="Courier New" panose="02070309020205020404" pitchFamily="49" charset="0"/>
              </a:rPr>
              <a:t>{</a:t>
            </a:r>
          </a:p>
          <a:p>
            <a:r>
              <a:rPr lang="en-US" altLang="ja-JP" b="1" dirty="0">
                <a:solidFill>
                  <a:srgbClr val="000088"/>
                </a:solidFill>
                <a:latin typeface="Courier New" panose="02070309020205020404" pitchFamily="49" charset="0"/>
              </a:rPr>
              <a:t>  public void </a:t>
            </a:r>
            <a:r>
              <a:rPr lang="en-US" altLang="ja-JP" b="1" dirty="0">
                <a:solidFill>
                  <a:srgbClr val="7030A0"/>
                </a:solidFill>
                <a:latin typeface="Courier New" panose="02070309020205020404" pitchFamily="49" charset="0"/>
              </a:rPr>
              <a:t>a</a:t>
            </a:r>
            <a:r>
              <a:rPr lang="en-US" altLang="ja-JP" b="1" dirty="0">
                <a:latin typeface="Courier New" panose="02070309020205020404" pitchFamily="49" charset="0"/>
              </a:rPr>
              <a:t>(String[] b){</a:t>
            </a:r>
          </a:p>
          <a:p>
            <a:r>
              <a:rPr lang="en-US" altLang="ja-JP" b="1" dirty="0">
                <a:solidFill>
                  <a:srgbClr val="000088"/>
                </a:solidFill>
                <a:latin typeface="Courier New" panose="02070309020205020404" pitchFamily="49" charset="0"/>
              </a:rPr>
              <a:t>    String c = </a:t>
            </a:r>
            <a:r>
              <a:rPr lang="en-US" altLang="ja-JP" b="1" dirty="0">
                <a:solidFill>
                  <a:schemeClr val="accent6">
                    <a:lumMod val="75000"/>
                  </a:schemeClr>
                </a:solidFill>
                <a:latin typeface="Courier New" panose="02070309020205020404" pitchFamily="49" charset="0"/>
              </a:rPr>
              <a:t>"Hello" </a:t>
            </a:r>
            <a:r>
              <a:rPr lang="en-US" altLang="ja-JP" b="1" dirty="0">
                <a:solidFill>
                  <a:srgbClr val="000088"/>
                </a:solidFill>
                <a:latin typeface="Courier New" panose="02070309020205020404" pitchFamily="49" charset="0"/>
              </a:rPr>
              <a:t>+ </a:t>
            </a:r>
            <a:r>
              <a:rPr lang="en-US" altLang="ja-JP" b="1" dirty="0">
                <a:solidFill>
                  <a:schemeClr val="accent6">
                    <a:lumMod val="75000"/>
                  </a:schemeClr>
                </a:solidFill>
                <a:latin typeface="Courier New" panose="02070309020205020404" pitchFamily="49" charset="0"/>
              </a:rPr>
              <a:t>" "</a:t>
            </a:r>
            <a:r>
              <a:rPr lang="en-US" altLang="ja-JP" b="1" dirty="0">
                <a:solidFill>
                  <a:srgbClr val="000088"/>
                </a:solidFill>
                <a:latin typeface="Courier New" panose="02070309020205020404" pitchFamily="49" charset="0"/>
              </a:rPr>
              <a:t> + </a:t>
            </a:r>
            <a:r>
              <a:rPr lang="en-US" altLang="ja-JP" b="1" dirty="0">
                <a:solidFill>
                  <a:schemeClr val="accent6">
                    <a:lumMod val="75000"/>
                  </a:schemeClr>
                </a:solidFill>
                <a:latin typeface="Courier New" panose="02070309020205020404" pitchFamily="49" charset="0"/>
              </a:rPr>
              <a:t>"World"</a:t>
            </a:r>
            <a:r>
              <a:rPr lang="en-US" altLang="ja-JP" b="1" dirty="0">
                <a:solidFill>
                  <a:srgbClr val="000088"/>
                </a:solidFill>
                <a:latin typeface="Courier New" panose="02070309020205020404" pitchFamily="49" charset="0"/>
              </a:rPr>
              <a:t>;</a:t>
            </a:r>
          </a:p>
          <a:p>
            <a:r>
              <a:rPr lang="en-US" altLang="ja-JP" b="1" dirty="0">
                <a:solidFill>
                  <a:srgbClr val="000088"/>
                </a:solidFill>
                <a:latin typeface="Courier New" panose="02070309020205020404" pitchFamily="49" charset="0"/>
              </a:rPr>
              <a:t>    </a:t>
            </a:r>
            <a:r>
              <a:rPr lang="en-US" altLang="ja-JP" b="1" dirty="0" err="1">
                <a:solidFill>
                  <a:srgbClr val="000088"/>
                </a:solidFill>
                <a:latin typeface="Courier New" panose="02070309020205020404" pitchFamily="49" charset="0"/>
              </a:rPr>
              <a:t>System.out.println</a:t>
            </a:r>
            <a:r>
              <a:rPr lang="en-US" altLang="ja-JP" b="1" dirty="0">
                <a:solidFill>
                  <a:srgbClr val="000088"/>
                </a:solidFill>
                <a:latin typeface="Courier New" panose="02070309020205020404" pitchFamily="49" charset="0"/>
              </a:rPr>
              <a:t>(c);</a:t>
            </a:r>
          </a:p>
          <a:p>
            <a:r>
              <a:rPr lang="en-US" altLang="ja-JP" b="1" dirty="0">
                <a:solidFill>
                  <a:srgbClr val="000088"/>
                </a:solidFill>
                <a:latin typeface="Courier New" panose="02070309020205020404" pitchFamily="49" charset="0"/>
              </a:rPr>
              <a:t>  }</a:t>
            </a:r>
          </a:p>
          <a:p>
            <a:r>
              <a:rPr lang="en-US" altLang="ja-JP" b="1" dirty="0">
                <a:solidFill>
                  <a:srgbClr val="000088"/>
                </a:solidFill>
                <a:latin typeface="Courier New" panose="02070309020205020404" pitchFamily="49" charset="0"/>
              </a:rPr>
              <a:t>}</a:t>
            </a:r>
          </a:p>
        </p:txBody>
      </p:sp>
      <p:sp>
        <p:nvSpPr>
          <p:cNvPr id="6" name="角丸四角形吹き出し 5">
            <a:extLst>
              <a:ext uri="{FF2B5EF4-FFF2-40B4-BE49-F238E27FC236}">
                <a16:creationId xmlns:a16="http://schemas.microsoft.com/office/drawing/2014/main" id="{9457FD83-9A7E-1E52-2762-4A2AE7EE6052}"/>
              </a:ext>
            </a:extLst>
          </p:cNvPr>
          <p:cNvSpPr/>
          <p:nvPr/>
        </p:nvSpPr>
        <p:spPr>
          <a:xfrm>
            <a:off x="4049929" y="1205008"/>
            <a:ext cx="5831835" cy="2152312"/>
          </a:xfrm>
          <a:prstGeom prst="wedgeRoundRectCallout">
            <a:avLst>
              <a:gd name="adj1" fmla="val -62368"/>
              <a:gd name="adj2" fmla="val 15499"/>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吹き出し 7">
            <a:extLst>
              <a:ext uri="{FF2B5EF4-FFF2-40B4-BE49-F238E27FC236}">
                <a16:creationId xmlns:a16="http://schemas.microsoft.com/office/drawing/2014/main" id="{B95BCC38-C891-0D86-9BF3-5E609D16759C}"/>
              </a:ext>
            </a:extLst>
          </p:cNvPr>
          <p:cNvSpPr/>
          <p:nvPr/>
        </p:nvSpPr>
        <p:spPr>
          <a:xfrm>
            <a:off x="6104023" y="3666489"/>
            <a:ext cx="2923027" cy="1155031"/>
          </a:xfrm>
          <a:prstGeom prst="wedgeRoundRectCallout">
            <a:avLst>
              <a:gd name="adj1" fmla="val 72837"/>
              <a:gd name="adj2" fmla="val 456"/>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A9674B2C-18BA-9134-CEB3-A81812F745D2}"/>
              </a:ext>
            </a:extLst>
          </p:cNvPr>
          <p:cNvSpPr txBox="1"/>
          <p:nvPr/>
        </p:nvSpPr>
        <p:spPr>
          <a:xfrm>
            <a:off x="6488456" y="4013171"/>
            <a:ext cx="2339102" cy="461665"/>
          </a:xfrm>
          <a:prstGeom prst="rect">
            <a:avLst/>
          </a:prstGeom>
          <a:noFill/>
        </p:spPr>
        <p:txBody>
          <a:bodyPr wrap="none" rtlCol="0">
            <a:spAutoFit/>
          </a:bodyPr>
          <a:lstStyle/>
          <a:p>
            <a:r>
              <a:rPr lang="ja-JP" altLang="en-US" sz="2400"/>
              <a:t>わからない、、</a:t>
            </a:r>
            <a:endParaRPr kumimoji="1" lang="ja-JP" altLang="en-US" sz="2400"/>
          </a:p>
        </p:txBody>
      </p:sp>
      <p:pic>
        <p:nvPicPr>
          <p:cNvPr id="2050" name="Picture 2" descr="いろいろな表情のハッカーのイラスト（喜怒哀楽） | かわいいフリー素材集 いらすとや">
            <a:extLst>
              <a:ext uri="{FF2B5EF4-FFF2-40B4-BE49-F238E27FC236}">
                <a16:creationId xmlns:a16="http://schemas.microsoft.com/office/drawing/2014/main" id="{49EC58C9-3473-84C0-7E10-D1B9C0E0CA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8354" y="2334596"/>
            <a:ext cx="2057767" cy="2707752"/>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F68C953C-731D-C2F9-42D8-99CACDE2363C}"/>
              </a:ext>
            </a:extLst>
          </p:cNvPr>
          <p:cNvSpPr txBox="1"/>
          <p:nvPr/>
        </p:nvSpPr>
        <p:spPr>
          <a:xfrm>
            <a:off x="272716" y="4866187"/>
            <a:ext cx="2298032" cy="800219"/>
          </a:xfrm>
          <a:prstGeom prst="rect">
            <a:avLst/>
          </a:prstGeom>
          <a:noFill/>
        </p:spPr>
        <p:txBody>
          <a:bodyPr wrap="square" rtlCol="0">
            <a:spAutoFit/>
          </a:bodyPr>
          <a:lstStyle/>
          <a:p>
            <a:r>
              <a:rPr kumimoji="1" lang="ja-JP" altLang="en-US" sz="2800"/>
              <a:t>難読化とは</a:t>
            </a:r>
            <a:r>
              <a:rPr lang="en-US" altLang="ja-JP" sz="2800" dirty="0"/>
              <a:t>...</a:t>
            </a:r>
          </a:p>
          <a:p>
            <a:endParaRPr kumimoji="1" lang="ja-JP" altLang="en-US"/>
          </a:p>
        </p:txBody>
      </p:sp>
      <p:sp>
        <p:nvSpPr>
          <p:cNvPr id="11" name="テキスト ボックス 10">
            <a:extLst>
              <a:ext uri="{FF2B5EF4-FFF2-40B4-BE49-F238E27FC236}">
                <a16:creationId xmlns:a16="http://schemas.microsoft.com/office/drawing/2014/main" id="{DA524994-66E7-EF10-82D9-AD99D9341F6E}"/>
              </a:ext>
            </a:extLst>
          </p:cNvPr>
          <p:cNvSpPr txBox="1"/>
          <p:nvPr/>
        </p:nvSpPr>
        <p:spPr>
          <a:xfrm>
            <a:off x="676896" y="5542578"/>
            <a:ext cx="10854253" cy="1077218"/>
          </a:xfrm>
          <a:prstGeom prst="rect">
            <a:avLst/>
          </a:prstGeom>
          <a:noFill/>
        </p:spPr>
        <p:txBody>
          <a:bodyPr wrap="none" rtlCol="0">
            <a:spAutoFit/>
          </a:bodyPr>
          <a:lstStyle/>
          <a:p>
            <a:r>
              <a:rPr lang="ja-JP" altLang="en-US" sz="3200" b="1"/>
              <a:t>「プログラムの機能や動作を保持したまま、ソースコード</a:t>
            </a:r>
            <a:endParaRPr lang="en-US" altLang="ja-JP" sz="3200" b="1" dirty="0"/>
          </a:p>
          <a:p>
            <a:r>
              <a:rPr lang="ja-JP" altLang="en-US" sz="3200" b="1"/>
              <a:t>の可読性や解析容易性を意図的に低下させる技術」</a:t>
            </a:r>
            <a:endParaRPr kumimoji="1" lang="ja-JP" altLang="en-US" sz="3200" b="1"/>
          </a:p>
        </p:txBody>
      </p:sp>
    </p:spTree>
    <p:extLst>
      <p:ext uri="{BB962C8B-B14F-4D97-AF65-F5344CB8AC3E}">
        <p14:creationId xmlns:p14="http://schemas.microsoft.com/office/powerpoint/2010/main" val="3751806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B27711-06CB-96EB-AD41-5D47E48DE1BE}"/>
              </a:ext>
            </a:extLst>
          </p:cNvPr>
          <p:cNvSpPr>
            <a:spLocks noGrp="1"/>
          </p:cNvSpPr>
          <p:nvPr>
            <p:ph type="title"/>
          </p:nvPr>
        </p:nvSpPr>
        <p:spPr/>
        <p:txBody>
          <a:bodyPr/>
          <a:lstStyle/>
          <a:p>
            <a:r>
              <a:rPr kumimoji="1" lang="ja-JP" altLang="en-US"/>
              <a:t>研究の背景</a:t>
            </a:r>
          </a:p>
        </p:txBody>
      </p:sp>
      <p:sp>
        <p:nvSpPr>
          <p:cNvPr id="3" name="コンテンツ プレースホルダー 2">
            <a:extLst>
              <a:ext uri="{FF2B5EF4-FFF2-40B4-BE49-F238E27FC236}">
                <a16:creationId xmlns:a16="http://schemas.microsoft.com/office/drawing/2014/main" id="{AEBE7AE0-6AC0-7846-7F76-472C712CB2A7}"/>
              </a:ext>
            </a:extLst>
          </p:cNvPr>
          <p:cNvSpPr>
            <a:spLocks noGrp="1"/>
          </p:cNvSpPr>
          <p:nvPr>
            <p:ph idx="1"/>
          </p:nvPr>
        </p:nvSpPr>
        <p:spPr/>
        <p:txBody>
          <a:bodyPr>
            <a:normAutofit/>
          </a:bodyPr>
          <a:lstStyle/>
          <a:p>
            <a:r>
              <a:rPr lang="ja-JP" altLang="en-US" sz="3600"/>
              <a:t>既存の難読化ツールの多くは</a:t>
            </a:r>
            <a:br>
              <a:rPr lang="ja-JP" altLang="en-US" sz="3600"/>
            </a:br>
            <a:r>
              <a:rPr lang="ja-JP" altLang="en-US" sz="3600" b="1"/>
              <a:t>「難読化後のコードを生成すること」</a:t>
            </a:r>
            <a:r>
              <a:rPr lang="ja-JP" altLang="en-US" sz="3600"/>
              <a:t>が主目的</a:t>
            </a:r>
            <a:endParaRPr lang="en-US" altLang="ja-JP" sz="3600" dirty="0"/>
          </a:p>
          <a:p>
            <a:pPr marL="0" indent="0">
              <a:buNone/>
            </a:pPr>
            <a:endParaRPr lang="ja-JP" altLang="en-US" sz="3600"/>
          </a:p>
          <a:p>
            <a:pPr marL="0" indent="0">
              <a:buNone/>
            </a:pPr>
            <a:r>
              <a:rPr lang="ja-JP" altLang="en-US" sz="3600"/>
              <a:t>その結果、</a:t>
            </a:r>
          </a:p>
          <a:p>
            <a:pPr>
              <a:buFont typeface="Arial" panose="020B0604020202020204" pitchFamily="34" charset="0"/>
              <a:buChar char="•"/>
            </a:pPr>
            <a:r>
              <a:rPr lang="ja-JP" altLang="en-US" sz="3600"/>
              <a:t>どの難読化手法が使われているのか</a:t>
            </a:r>
          </a:p>
          <a:p>
            <a:pPr>
              <a:buFont typeface="Arial" panose="020B0604020202020204" pitchFamily="34" charset="0"/>
              <a:buChar char="•"/>
            </a:pPr>
            <a:r>
              <a:rPr lang="ja-JP" altLang="en-US" sz="3600"/>
              <a:t>難読化前後でコード構造がどれほど変化したのか</a:t>
            </a:r>
            <a:br>
              <a:rPr lang="ja-JP" altLang="en-US" sz="3600"/>
            </a:br>
            <a:r>
              <a:rPr lang="ja-JP" altLang="en-US" sz="3600"/>
              <a:t>を ユーザが把握しにくい</a:t>
            </a:r>
          </a:p>
          <a:p>
            <a:endParaRPr kumimoji="1" lang="ja-JP" altLang="en-US" sz="3600"/>
          </a:p>
        </p:txBody>
      </p:sp>
    </p:spTree>
    <p:extLst>
      <p:ext uri="{BB962C8B-B14F-4D97-AF65-F5344CB8AC3E}">
        <p14:creationId xmlns:p14="http://schemas.microsoft.com/office/powerpoint/2010/main" val="2418966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52A708-E146-C6D8-157A-14EC1CB4A26C}"/>
              </a:ext>
            </a:extLst>
          </p:cNvPr>
          <p:cNvSpPr>
            <a:spLocks noGrp="1"/>
          </p:cNvSpPr>
          <p:nvPr>
            <p:ph type="title"/>
          </p:nvPr>
        </p:nvSpPr>
        <p:spPr/>
        <p:txBody>
          <a:bodyPr/>
          <a:lstStyle/>
          <a:p>
            <a:r>
              <a:rPr kumimoji="1" lang="ja-JP" altLang="en-US"/>
              <a:t>研究の背景</a:t>
            </a:r>
          </a:p>
        </p:txBody>
      </p:sp>
      <p:sp>
        <p:nvSpPr>
          <p:cNvPr id="3" name="コンテンツ プレースホルダー 2">
            <a:extLst>
              <a:ext uri="{FF2B5EF4-FFF2-40B4-BE49-F238E27FC236}">
                <a16:creationId xmlns:a16="http://schemas.microsoft.com/office/drawing/2014/main" id="{D1A7DB45-B67F-C212-A1BE-79A1F08E6506}"/>
              </a:ext>
            </a:extLst>
          </p:cNvPr>
          <p:cNvSpPr>
            <a:spLocks noGrp="1"/>
          </p:cNvSpPr>
          <p:nvPr>
            <p:ph idx="1"/>
          </p:nvPr>
        </p:nvSpPr>
        <p:spPr/>
        <p:txBody>
          <a:bodyPr>
            <a:normAutofit/>
          </a:bodyPr>
          <a:lstStyle/>
          <a:p>
            <a:r>
              <a:rPr lang="ja-JP" altLang="en-US" sz="3600"/>
              <a:t>研究・評価の観点では、難読化の </a:t>
            </a:r>
            <a:r>
              <a:rPr lang="ja-JP" altLang="en-US" sz="3600" b="1"/>
              <a:t>強度</a:t>
            </a:r>
            <a:endParaRPr lang="ja-JP" altLang="en-US" sz="3600"/>
          </a:p>
          <a:p>
            <a:pPr>
              <a:buFont typeface="Arial" panose="020B0604020202020204" pitchFamily="34" charset="0"/>
              <a:buChar char="•"/>
            </a:pPr>
            <a:r>
              <a:rPr lang="ja-JP" altLang="en-US" sz="3600"/>
              <a:t>可読性・保守性への </a:t>
            </a:r>
            <a:r>
              <a:rPr lang="ja-JP" altLang="en-US" sz="3600" b="1"/>
              <a:t>影響</a:t>
            </a:r>
            <a:br>
              <a:rPr lang="ja-JP" altLang="en-US" sz="3600"/>
            </a:br>
            <a:r>
              <a:rPr lang="ja-JP" altLang="en-US" sz="3600"/>
              <a:t>を </a:t>
            </a:r>
            <a:r>
              <a:rPr lang="ja-JP" altLang="en-US" sz="3600" b="1"/>
              <a:t>客観的指標で比較することが困難</a:t>
            </a:r>
            <a:endParaRPr lang="en-US" altLang="ja-JP" sz="3600" b="1" dirty="0"/>
          </a:p>
          <a:p>
            <a:pPr marL="0" indent="0">
              <a:buNone/>
            </a:pPr>
            <a:endParaRPr lang="ja-JP" altLang="en-US" sz="3600"/>
          </a:p>
          <a:p>
            <a:pPr marL="0" indent="0">
              <a:buNone/>
            </a:pPr>
            <a:r>
              <a:rPr lang="ja-JP" altLang="en-US" sz="3600"/>
              <a:t>→ 難読化前後の構造変化を</a:t>
            </a:r>
            <a:br>
              <a:rPr lang="ja-JP" altLang="en-US" sz="3600"/>
            </a:br>
            <a:r>
              <a:rPr lang="ja-JP" altLang="en-US" sz="3600" b="1"/>
              <a:t>多角的・定量的に評価できる仕組みが必要</a:t>
            </a:r>
            <a:endParaRPr lang="ja-JP" altLang="en-US" sz="3600"/>
          </a:p>
          <a:p>
            <a:endParaRPr kumimoji="1" lang="ja-JP" altLang="en-US" sz="3600"/>
          </a:p>
        </p:txBody>
      </p:sp>
    </p:spTree>
    <p:extLst>
      <p:ext uri="{BB962C8B-B14F-4D97-AF65-F5344CB8AC3E}">
        <p14:creationId xmlns:p14="http://schemas.microsoft.com/office/powerpoint/2010/main" val="3379374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descr="Google Gemini">
            <a:extLst>
              <a:ext uri="{FF2B5EF4-FFF2-40B4-BE49-F238E27FC236}">
                <a16:creationId xmlns:a16="http://schemas.microsoft.com/office/drawing/2014/main" id="{F79DCEB9-A32C-F362-AEEE-AF601DDFBF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4880" y="331938"/>
            <a:ext cx="5334594" cy="2987373"/>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Microsoft Copilot 概要 - 米国クラウド">
            <a:extLst>
              <a:ext uri="{FF2B5EF4-FFF2-40B4-BE49-F238E27FC236}">
                <a16:creationId xmlns:a16="http://schemas.microsoft.com/office/drawing/2014/main" id="{D4FA5F24-4249-4319-A227-ECCE4E667B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2849" y="2322178"/>
            <a:ext cx="2371344" cy="2490453"/>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C7291F8C-21A7-E2C1-AA8B-E0926CE81586}"/>
              </a:ext>
            </a:extLst>
          </p:cNvPr>
          <p:cNvSpPr>
            <a:spLocks noGrp="1"/>
          </p:cNvSpPr>
          <p:nvPr>
            <p:ph type="title"/>
          </p:nvPr>
        </p:nvSpPr>
        <p:spPr/>
        <p:txBody>
          <a:bodyPr/>
          <a:lstStyle/>
          <a:p>
            <a:r>
              <a:rPr kumimoji="1" lang="ja-JP" altLang="en-US"/>
              <a:t>研究の背景</a:t>
            </a:r>
          </a:p>
        </p:txBody>
      </p:sp>
      <p:sp>
        <p:nvSpPr>
          <p:cNvPr id="3" name="コンテンツ プレースホルダー 2">
            <a:extLst>
              <a:ext uri="{FF2B5EF4-FFF2-40B4-BE49-F238E27FC236}">
                <a16:creationId xmlns:a16="http://schemas.microsoft.com/office/drawing/2014/main" id="{42774956-AE1F-1543-2361-596AB9B1B0D7}"/>
              </a:ext>
            </a:extLst>
          </p:cNvPr>
          <p:cNvSpPr>
            <a:spLocks noGrp="1"/>
          </p:cNvSpPr>
          <p:nvPr>
            <p:ph idx="1"/>
          </p:nvPr>
        </p:nvSpPr>
        <p:spPr/>
        <p:txBody>
          <a:bodyPr>
            <a:normAutofit/>
          </a:bodyPr>
          <a:lstStyle/>
          <a:p>
            <a:pPr marL="0" indent="0">
              <a:buNone/>
            </a:pPr>
            <a:r>
              <a:rPr kumimoji="1" lang="ja-JP" altLang="en-US" sz="3200"/>
              <a:t>生成</a:t>
            </a:r>
            <a:r>
              <a:rPr kumimoji="1" lang="en-US" altLang="ja-JP" sz="3200" dirty="0"/>
              <a:t>AI</a:t>
            </a:r>
            <a:r>
              <a:rPr kumimoji="1" lang="ja-JP" altLang="en-US" sz="3200"/>
              <a:t>はコードも作れて、</a:t>
            </a:r>
            <a:endParaRPr kumimoji="1" lang="en-US" altLang="ja-JP" sz="3200" dirty="0"/>
          </a:p>
          <a:p>
            <a:pPr marL="0" indent="0">
              <a:buNone/>
            </a:pPr>
            <a:r>
              <a:rPr kumimoji="1" lang="ja-JP" altLang="en-US" sz="3200"/>
              <a:t>その内容を詳しく説明してくれる</a:t>
            </a:r>
          </a:p>
        </p:txBody>
      </p:sp>
      <p:sp>
        <p:nvSpPr>
          <p:cNvPr id="4" name="下矢印 3">
            <a:extLst>
              <a:ext uri="{FF2B5EF4-FFF2-40B4-BE49-F238E27FC236}">
                <a16:creationId xmlns:a16="http://schemas.microsoft.com/office/drawing/2014/main" id="{DF5BB28B-4465-091A-767E-19C7E2BD4EED}"/>
              </a:ext>
            </a:extLst>
          </p:cNvPr>
          <p:cNvSpPr/>
          <p:nvPr/>
        </p:nvSpPr>
        <p:spPr>
          <a:xfrm>
            <a:off x="3043989" y="3188368"/>
            <a:ext cx="1239253" cy="10587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345018FF-6341-B64F-2CB4-3C3B822C38C4}"/>
              </a:ext>
            </a:extLst>
          </p:cNvPr>
          <p:cNvSpPr txBox="1"/>
          <p:nvPr/>
        </p:nvSpPr>
        <p:spPr>
          <a:xfrm>
            <a:off x="385011" y="4812631"/>
            <a:ext cx="8367996" cy="1077218"/>
          </a:xfrm>
          <a:prstGeom prst="rect">
            <a:avLst/>
          </a:prstGeom>
          <a:noFill/>
        </p:spPr>
        <p:txBody>
          <a:bodyPr wrap="none" rtlCol="0">
            <a:spAutoFit/>
          </a:bodyPr>
          <a:lstStyle/>
          <a:p>
            <a:r>
              <a:rPr kumimoji="1" lang="ja-JP" altLang="en-US" sz="3200"/>
              <a:t>生成</a:t>
            </a:r>
            <a:r>
              <a:rPr kumimoji="1" lang="en-US" altLang="ja-JP" sz="3200" dirty="0"/>
              <a:t>AI</a:t>
            </a:r>
            <a:r>
              <a:rPr kumimoji="1" lang="ja-JP" altLang="en-US" sz="3200"/>
              <a:t>を使って難読化できるのではないか？</a:t>
            </a:r>
          </a:p>
          <a:p>
            <a:r>
              <a:rPr kumimoji="1" lang="ja-JP" altLang="en-US" sz="3200"/>
              <a:t>また、その内容を詳しく説明できるのか？</a:t>
            </a:r>
          </a:p>
        </p:txBody>
      </p:sp>
      <p:pic>
        <p:nvPicPr>
          <p:cNvPr id="4100" name="Picture 4" descr="ChatGPT - Wikipedia">
            <a:extLst>
              <a:ext uri="{FF2B5EF4-FFF2-40B4-BE49-F238E27FC236}">
                <a16:creationId xmlns:a16="http://schemas.microsoft.com/office/drawing/2014/main" id="{B4F3E4D6-E585-F9B6-BE49-243CD70570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17447" y="292621"/>
            <a:ext cx="1936353" cy="1936353"/>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Googleの対話型AI「Bard」とは？ 使い方や特徴、Chat GPTとの違いを解説！ | 株式会社PLAN-B">
            <a:extLst>
              <a:ext uri="{FF2B5EF4-FFF2-40B4-BE49-F238E27FC236}">
                <a16:creationId xmlns:a16="http://schemas.microsoft.com/office/drawing/2014/main" id="{2EFDBCEE-C180-4BC8-34B1-E742DBC020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7876" y="2595241"/>
            <a:ext cx="2983195" cy="1304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5235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17AF3A8-18D0-EC13-69DA-D2C735903202}"/>
              </a:ext>
            </a:extLst>
          </p:cNvPr>
          <p:cNvSpPr>
            <a:spLocks noGrp="1"/>
          </p:cNvSpPr>
          <p:nvPr>
            <p:ph type="title"/>
          </p:nvPr>
        </p:nvSpPr>
        <p:spPr>
          <a:xfrm>
            <a:off x="1043631" y="809898"/>
            <a:ext cx="10173010" cy="1554480"/>
          </a:xfrm>
        </p:spPr>
        <p:txBody>
          <a:bodyPr anchor="ctr">
            <a:normAutofit/>
          </a:bodyPr>
          <a:lstStyle/>
          <a:p>
            <a:r>
              <a:rPr kumimoji="1" lang="ja-JP" altLang="en-US" sz="4800"/>
              <a:t>研究の目的</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コンテンツ プレースホルダー 2">
            <a:extLst>
              <a:ext uri="{FF2B5EF4-FFF2-40B4-BE49-F238E27FC236}">
                <a16:creationId xmlns:a16="http://schemas.microsoft.com/office/drawing/2014/main" id="{55A20E9A-48BD-5D80-6419-30B3CFCE1C1F}"/>
              </a:ext>
            </a:extLst>
          </p:cNvPr>
          <p:cNvGraphicFramePr>
            <a:graphicFrameLocks noGrp="1"/>
          </p:cNvGraphicFramePr>
          <p:nvPr>
            <p:ph idx="1"/>
            <p:extLst>
              <p:ext uri="{D42A27DB-BD31-4B8C-83A1-F6EECF244321}">
                <p14:modId xmlns:p14="http://schemas.microsoft.com/office/powerpoint/2010/main" val="835427387"/>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467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592CF-A579-4F8E-F8DB-9D8B1186738D}"/>
              </a:ext>
            </a:extLst>
          </p:cNvPr>
          <p:cNvSpPr>
            <a:spLocks noGrp="1"/>
          </p:cNvSpPr>
          <p:nvPr>
            <p:ph type="title"/>
          </p:nvPr>
        </p:nvSpPr>
        <p:spPr/>
        <p:txBody>
          <a:bodyPr/>
          <a:lstStyle/>
          <a:p>
            <a:r>
              <a:rPr kumimoji="1" lang="ja-JP" altLang="en-US"/>
              <a:t>研究の方法</a:t>
            </a:r>
          </a:p>
        </p:txBody>
      </p:sp>
      <p:pic>
        <p:nvPicPr>
          <p:cNvPr id="4" name="図 3" descr="アイコン&#10;&#10;自動的に生成された説明">
            <a:extLst>
              <a:ext uri="{FF2B5EF4-FFF2-40B4-BE49-F238E27FC236}">
                <a16:creationId xmlns:a16="http://schemas.microsoft.com/office/drawing/2014/main" id="{39ED5EE0-368C-FB4E-72A5-21999214F59F}"/>
              </a:ext>
            </a:extLst>
          </p:cNvPr>
          <p:cNvPicPr>
            <a:picLocks noChangeAspect="1"/>
          </p:cNvPicPr>
          <p:nvPr/>
        </p:nvPicPr>
        <p:blipFill>
          <a:blip r:embed="rId3"/>
          <a:stretch>
            <a:fillRect/>
          </a:stretch>
        </p:blipFill>
        <p:spPr>
          <a:xfrm>
            <a:off x="1516853" y="1831541"/>
            <a:ext cx="1931343" cy="2215962"/>
          </a:xfrm>
          <a:prstGeom prst="rect">
            <a:avLst/>
          </a:prstGeom>
        </p:spPr>
      </p:pic>
      <p:pic>
        <p:nvPicPr>
          <p:cNvPr id="5" name="図 4" descr="アイコン&#10;&#10;自動的に生成された説明">
            <a:extLst>
              <a:ext uri="{FF2B5EF4-FFF2-40B4-BE49-F238E27FC236}">
                <a16:creationId xmlns:a16="http://schemas.microsoft.com/office/drawing/2014/main" id="{7AB59B67-45CB-A0EB-0F63-0E41129C9AFD}"/>
              </a:ext>
            </a:extLst>
          </p:cNvPr>
          <p:cNvPicPr>
            <a:picLocks noChangeAspect="1"/>
          </p:cNvPicPr>
          <p:nvPr/>
        </p:nvPicPr>
        <p:blipFill>
          <a:blip r:embed="rId4"/>
          <a:stretch>
            <a:fillRect/>
          </a:stretch>
        </p:blipFill>
        <p:spPr>
          <a:xfrm>
            <a:off x="5130329" y="1853143"/>
            <a:ext cx="1931342" cy="2172758"/>
          </a:xfrm>
          <a:prstGeom prst="rect">
            <a:avLst/>
          </a:prstGeom>
        </p:spPr>
      </p:pic>
      <p:pic>
        <p:nvPicPr>
          <p:cNvPr id="6" name="Picture 4" descr="HTMLファイルのシルエット | 無料のAi・PNG白黒シルエットイラスト">
            <a:extLst>
              <a:ext uri="{FF2B5EF4-FFF2-40B4-BE49-F238E27FC236}">
                <a16:creationId xmlns:a16="http://schemas.microsoft.com/office/drawing/2014/main" id="{AFC9E7BB-4F3E-1092-10D7-B16B0C9C97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43805" y="1852801"/>
            <a:ext cx="1931342" cy="193134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矢印コネクタ 7">
            <a:extLst>
              <a:ext uri="{FF2B5EF4-FFF2-40B4-BE49-F238E27FC236}">
                <a16:creationId xmlns:a16="http://schemas.microsoft.com/office/drawing/2014/main" id="{7DD88C0F-17E0-4EFE-41E0-71F33C7C099C}"/>
              </a:ext>
            </a:extLst>
          </p:cNvPr>
          <p:cNvCxnSpPr/>
          <p:nvPr/>
        </p:nvCxnSpPr>
        <p:spPr>
          <a:xfrm>
            <a:off x="3448196" y="3157538"/>
            <a:ext cx="1352404" cy="0"/>
          </a:xfrm>
          <a:prstGeom prst="straightConnector1">
            <a:avLst/>
          </a:prstGeom>
          <a:ln w="47625">
            <a:headEnd w="lg" len="lg"/>
            <a:tailEnd type="triangle"/>
          </a:ln>
        </p:spPr>
        <p:style>
          <a:lnRef idx="2">
            <a:schemeClr val="accent1"/>
          </a:lnRef>
          <a:fillRef idx="0">
            <a:schemeClr val="accent1"/>
          </a:fillRef>
          <a:effectRef idx="1">
            <a:schemeClr val="accent1"/>
          </a:effectRef>
          <a:fontRef idx="minor">
            <a:schemeClr val="tx1"/>
          </a:fontRef>
        </p:style>
      </p:cxnSp>
      <p:cxnSp>
        <p:nvCxnSpPr>
          <p:cNvPr id="9" name="直線矢印コネクタ 8">
            <a:extLst>
              <a:ext uri="{FF2B5EF4-FFF2-40B4-BE49-F238E27FC236}">
                <a16:creationId xmlns:a16="http://schemas.microsoft.com/office/drawing/2014/main" id="{9ADF4AAB-AFC7-E7E4-30D9-7DEC192BAAFB}"/>
              </a:ext>
            </a:extLst>
          </p:cNvPr>
          <p:cNvCxnSpPr/>
          <p:nvPr/>
        </p:nvCxnSpPr>
        <p:spPr>
          <a:xfrm>
            <a:off x="7391401" y="3157538"/>
            <a:ext cx="1352404" cy="0"/>
          </a:xfrm>
          <a:prstGeom prst="straightConnector1">
            <a:avLst/>
          </a:prstGeom>
          <a:ln w="47625">
            <a:headEnd w="lg" len="lg"/>
            <a:tailEnd type="triangle"/>
          </a:ln>
        </p:spPr>
        <p:style>
          <a:lnRef idx="2">
            <a:schemeClr val="accent1"/>
          </a:lnRef>
          <a:fillRef idx="0">
            <a:schemeClr val="accent1"/>
          </a:fillRef>
          <a:effectRef idx="1">
            <a:schemeClr val="accent1"/>
          </a:effectRef>
          <a:fontRef idx="minor">
            <a:schemeClr val="tx1"/>
          </a:fontRef>
        </p:style>
      </p:cxnSp>
      <p:pic>
        <p:nvPicPr>
          <p:cNvPr id="10" name="Picture 4" descr="ChatGPT - Wikipedia">
            <a:extLst>
              <a:ext uri="{FF2B5EF4-FFF2-40B4-BE49-F238E27FC236}">
                <a16:creationId xmlns:a16="http://schemas.microsoft.com/office/drawing/2014/main" id="{7360F485-02DE-EB99-8175-965F303F69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6166" y="1975881"/>
            <a:ext cx="896463" cy="89646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Google Gemini">
            <a:extLst>
              <a:ext uri="{FF2B5EF4-FFF2-40B4-BE49-F238E27FC236}">
                <a16:creationId xmlns:a16="http://schemas.microsoft.com/office/drawing/2014/main" id="{B9390D8D-167F-B9B9-F2BE-21F9C8AB85E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6581" t="37512" r="23591" b="32284"/>
          <a:stretch/>
        </p:blipFill>
        <p:spPr bwMode="auto">
          <a:xfrm>
            <a:off x="6937067" y="2214563"/>
            <a:ext cx="1931343" cy="689805"/>
          </a:xfrm>
          <a:prstGeom prst="rect">
            <a:avLst/>
          </a:prstGeom>
          <a:noFill/>
          <a:extLst>
            <a:ext uri="{909E8E84-426E-40DD-AFC4-6F175D3DCCD1}">
              <a14:hiddenFill xmlns:a14="http://schemas.microsoft.com/office/drawing/2010/main">
                <a:solidFill>
                  <a:srgbClr val="FFFFFF"/>
                </a:solidFill>
              </a14:hiddenFill>
            </a:ext>
          </a:extLst>
        </p:spPr>
      </p:pic>
      <p:pic>
        <p:nvPicPr>
          <p:cNvPr id="12" name="図 11" descr="アイコン&#10;&#10;自動的に生成された説明">
            <a:extLst>
              <a:ext uri="{FF2B5EF4-FFF2-40B4-BE49-F238E27FC236}">
                <a16:creationId xmlns:a16="http://schemas.microsoft.com/office/drawing/2014/main" id="{8D1EE88C-73D5-F334-880D-0782233F67F5}"/>
              </a:ext>
            </a:extLst>
          </p:cNvPr>
          <p:cNvPicPr>
            <a:picLocks noChangeAspect="1"/>
          </p:cNvPicPr>
          <p:nvPr/>
        </p:nvPicPr>
        <p:blipFill>
          <a:blip r:embed="rId4"/>
          <a:srcRect l="11991" t="10333" r="19151" b="16077"/>
          <a:stretch/>
        </p:blipFill>
        <p:spPr>
          <a:xfrm>
            <a:off x="9868238" y="2719483"/>
            <a:ext cx="728694" cy="876110"/>
          </a:xfrm>
          <a:prstGeom prst="rect">
            <a:avLst/>
          </a:prstGeom>
        </p:spPr>
      </p:pic>
      <p:sp>
        <p:nvSpPr>
          <p:cNvPr id="13" name="テキスト ボックス 12">
            <a:extLst>
              <a:ext uri="{FF2B5EF4-FFF2-40B4-BE49-F238E27FC236}">
                <a16:creationId xmlns:a16="http://schemas.microsoft.com/office/drawing/2014/main" id="{1F9D26B8-1583-CF90-68C7-EC07224F4079}"/>
              </a:ext>
            </a:extLst>
          </p:cNvPr>
          <p:cNvSpPr txBox="1"/>
          <p:nvPr/>
        </p:nvSpPr>
        <p:spPr>
          <a:xfrm>
            <a:off x="1849308" y="1845231"/>
            <a:ext cx="1107996" cy="369332"/>
          </a:xfrm>
          <a:prstGeom prst="rect">
            <a:avLst/>
          </a:prstGeom>
          <a:noFill/>
        </p:spPr>
        <p:txBody>
          <a:bodyPr wrap="none" rtlCol="0">
            <a:spAutoFit/>
          </a:bodyPr>
          <a:lstStyle/>
          <a:p>
            <a:r>
              <a:rPr kumimoji="1" lang="ja-JP" altLang="en-US"/>
              <a:t>難読化前</a:t>
            </a:r>
          </a:p>
        </p:txBody>
      </p:sp>
      <p:sp>
        <p:nvSpPr>
          <p:cNvPr id="14" name="テキスト ボックス 13">
            <a:extLst>
              <a:ext uri="{FF2B5EF4-FFF2-40B4-BE49-F238E27FC236}">
                <a16:creationId xmlns:a16="http://schemas.microsoft.com/office/drawing/2014/main" id="{A95DADE8-A86B-E71E-3762-FAF5A135B6AE}"/>
              </a:ext>
            </a:extLst>
          </p:cNvPr>
          <p:cNvSpPr txBox="1"/>
          <p:nvPr/>
        </p:nvSpPr>
        <p:spPr>
          <a:xfrm>
            <a:off x="5494221" y="1759139"/>
            <a:ext cx="1107996" cy="369332"/>
          </a:xfrm>
          <a:prstGeom prst="rect">
            <a:avLst/>
          </a:prstGeom>
          <a:noFill/>
        </p:spPr>
        <p:txBody>
          <a:bodyPr wrap="none" rtlCol="0">
            <a:spAutoFit/>
          </a:bodyPr>
          <a:lstStyle/>
          <a:p>
            <a:r>
              <a:rPr kumimoji="1" lang="ja-JP" altLang="en-US"/>
              <a:t>難読化後</a:t>
            </a:r>
          </a:p>
        </p:txBody>
      </p:sp>
      <p:sp>
        <p:nvSpPr>
          <p:cNvPr id="15" name="テキスト ボックス 14">
            <a:extLst>
              <a:ext uri="{FF2B5EF4-FFF2-40B4-BE49-F238E27FC236}">
                <a16:creationId xmlns:a16="http://schemas.microsoft.com/office/drawing/2014/main" id="{796F9EEF-245B-4185-F18C-595DB28B8761}"/>
              </a:ext>
            </a:extLst>
          </p:cNvPr>
          <p:cNvSpPr txBox="1"/>
          <p:nvPr/>
        </p:nvSpPr>
        <p:spPr>
          <a:xfrm>
            <a:off x="8967991" y="1759139"/>
            <a:ext cx="1800493" cy="369332"/>
          </a:xfrm>
          <a:prstGeom prst="rect">
            <a:avLst/>
          </a:prstGeom>
          <a:noFill/>
        </p:spPr>
        <p:txBody>
          <a:bodyPr wrap="none" rtlCol="0">
            <a:spAutoFit/>
          </a:bodyPr>
          <a:lstStyle/>
          <a:p>
            <a:r>
              <a:rPr kumimoji="1" lang="ja-JP" altLang="en-US"/>
              <a:t>難読化レポート</a:t>
            </a:r>
          </a:p>
        </p:txBody>
      </p:sp>
      <p:sp>
        <p:nvSpPr>
          <p:cNvPr id="16" name="テキスト ボックス 15">
            <a:extLst>
              <a:ext uri="{FF2B5EF4-FFF2-40B4-BE49-F238E27FC236}">
                <a16:creationId xmlns:a16="http://schemas.microsoft.com/office/drawing/2014/main" id="{10CBBFD6-40A3-EA90-75E4-EA0A0997E3F6}"/>
              </a:ext>
            </a:extLst>
          </p:cNvPr>
          <p:cNvSpPr txBox="1"/>
          <p:nvPr/>
        </p:nvSpPr>
        <p:spPr>
          <a:xfrm>
            <a:off x="1200150" y="4523255"/>
            <a:ext cx="9229725" cy="1938992"/>
          </a:xfrm>
          <a:prstGeom prst="rect">
            <a:avLst/>
          </a:prstGeom>
          <a:noFill/>
        </p:spPr>
        <p:txBody>
          <a:bodyPr wrap="square" rtlCol="0">
            <a:spAutoFit/>
          </a:bodyPr>
          <a:lstStyle/>
          <a:p>
            <a:r>
              <a:rPr kumimoji="1" lang="ja-JP" altLang="en-US" sz="2400"/>
              <a:t>あるプログラムコードを</a:t>
            </a:r>
            <a:r>
              <a:rPr kumimoji="1" lang="en-US" altLang="ja-JP" sz="2400" dirty="0"/>
              <a:t>ChatGPT</a:t>
            </a:r>
            <a:r>
              <a:rPr kumimoji="1" lang="ja-JP" altLang="en-US" sz="2400"/>
              <a:t>に難読化させ、その難読化させたコードの結果や</a:t>
            </a:r>
            <a:r>
              <a:rPr kumimoji="1" lang="en-US" altLang="ja-JP" sz="2400" dirty="0"/>
              <a:t>Gemini</a:t>
            </a:r>
            <a:r>
              <a:rPr kumimoji="1" lang="ja-JP" altLang="en-US" sz="2400"/>
              <a:t>によって解説された難読化手法を</a:t>
            </a:r>
            <a:r>
              <a:rPr kumimoji="1" lang="en-US" altLang="ja-JP" sz="2400" dirty="0"/>
              <a:t>HTML</a:t>
            </a:r>
            <a:r>
              <a:rPr kumimoji="1" lang="ja-JP" altLang="en-US" sz="2400"/>
              <a:t>に出力する。</a:t>
            </a:r>
            <a:endParaRPr lang="en-US" altLang="ja-JP" sz="2400" dirty="0"/>
          </a:p>
          <a:p>
            <a:endParaRPr kumimoji="1" lang="en-US" altLang="ja-JP" sz="2400" dirty="0"/>
          </a:p>
          <a:p>
            <a:r>
              <a:rPr lang="ja-JP" altLang="en-US" sz="2400"/>
              <a:t>今回の研究で使用したデータは</a:t>
            </a:r>
            <a:r>
              <a:rPr lang="en-US" altLang="ja-JP" sz="2400" dirty="0"/>
              <a:t>50</a:t>
            </a:r>
            <a:r>
              <a:rPr lang="ja-JP" altLang="en-US" sz="2400"/>
              <a:t>個である。</a:t>
            </a:r>
            <a:endParaRPr kumimoji="1" lang="ja-JP" altLang="en-US" sz="2400"/>
          </a:p>
        </p:txBody>
      </p:sp>
      <p:sp>
        <p:nvSpPr>
          <p:cNvPr id="17" name="テキスト ボックス 16">
            <a:extLst>
              <a:ext uri="{FF2B5EF4-FFF2-40B4-BE49-F238E27FC236}">
                <a16:creationId xmlns:a16="http://schemas.microsoft.com/office/drawing/2014/main" id="{64976774-A26A-1F3E-C4FB-14EB1694CBEB}"/>
              </a:ext>
            </a:extLst>
          </p:cNvPr>
          <p:cNvSpPr txBox="1"/>
          <p:nvPr/>
        </p:nvSpPr>
        <p:spPr>
          <a:xfrm>
            <a:off x="9158288" y="4086225"/>
            <a:ext cx="671979" cy="369332"/>
          </a:xfrm>
          <a:prstGeom prst="rect">
            <a:avLst/>
          </a:prstGeom>
          <a:noFill/>
        </p:spPr>
        <p:txBody>
          <a:bodyPr wrap="none" rtlCol="0">
            <a:spAutoFit/>
          </a:bodyPr>
          <a:lstStyle/>
          <a:p>
            <a:r>
              <a:rPr kumimoji="1" lang="ja-JP" altLang="en-US"/>
              <a:t>✖️</a:t>
            </a:r>
            <a:r>
              <a:rPr kumimoji="1" lang="en-US" altLang="ja-JP"/>
              <a:t>50</a:t>
            </a:r>
            <a:endParaRPr kumimoji="1" lang="ja-JP" altLang="en-US"/>
          </a:p>
        </p:txBody>
      </p:sp>
    </p:spTree>
    <p:extLst>
      <p:ext uri="{BB962C8B-B14F-4D97-AF65-F5344CB8AC3E}">
        <p14:creationId xmlns:p14="http://schemas.microsoft.com/office/powerpoint/2010/main" val="1162175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1553AB-9C1A-5ABF-8219-5255CBBB9802}"/>
              </a:ext>
            </a:extLst>
          </p:cNvPr>
          <p:cNvSpPr>
            <a:spLocks noGrp="1"/>
          </p:cNvSpPr>
          <p:nvPr>
            <p:ph type="title"/>
          </p:nvPr>
        </p:nvSpPr>
        <p:spPr>
          <a:xfrm>
            <a:off x="838200" y="112462"/>
            <a:ext cx="10515600" cy="1325563"/>
          </a:xfrm>
        </p:spPr>
        <p:txBody>
          <a:bodyPr/>
          <a:lstStyle/>
          <a:p>
            <a:r>
              <a:rPr kumimoji="1" lang="ja-JP" altLang="en-US"/>
              <a:t>研究の方法</a:t>
            </a:r>
          </a:p>
        </p:txBody>
      </p:sp>
      <p:sp>
        <p:nvSpPr>
          <p:cNvPr id="3" name="コンテンツ プレースホルダー 2">
            <a:extLst>
              <a:ext uri="{FF2B5EF4-FFF2-40B4-BE49-F238E27FC236}">
                <a16:creationId xmlns:a16="http://schemas.microsoft.com/office/drawing/2014/main" id="{5F4A8CAF-85ED-9309-C981-28EC6AB4C367}"/>
              </a:ext>
            </a:extLst>
          </p:cNvPr>
          <p:cNvSpPr>
            <a:spLocks noGrp="1"/>
          </p:cNvSpPr>
          <p:nvPr>
            <p:ph idx="1"/>
          </p:nvPr>
        </p:nvSpPr>
        <p:spPr>
          <a:xfrm>
            <a:off x="838200" y="1536867"/>
            <a:ext cx="10515600" cy="4351338"/>
          </a:xfrm>
        </p:spPr>
        <p:txBody>
          <a:bodyPr>
            <a:noAutofit/>
          </a:bodyPr>
          <a:lstStyle/>
          <a:p>
            <a:pPr marL="514350" indent="-514350">
              <a:buAutoNum type="arabicPeriod"/>
            </a:pPr>
            <a:r>
              <a:rPr lang="ja-JP" altLang="en-US" b="1">
                <a:effectLst/>
                <a:latin typeface="HaranoAjiGothic-Medium-Identity-H"/>
              </a:rPr>
              <a:t>特徴量抽出モジュール</a:t>
            </a:r>
            <a:endParaRPr lang="en-US" altLang="ja-JP" b="1" dirty="0">
              <a:latin typeface="HaranoAjiGothic-Medium-Identity-H"/>
            </a:endParaRPr>
          </a:p>
          <a:p>
            <a:pPr marL="0" indent="0">
              <a:buNone/>
            </a:pPr>
            <a:r>
              <a:rPr lang="en" altLang="ja-JP" dirty="0">
                <a:effectLst/>
                <a:latin typeface="CMR10"/>
              </a:rPr>
              <a:t>Python </a:t>
            </a:r>
            <a:r>
              <a:rPr lang="ja-JP" altLang="en-US">
                <a:effectLst/>
                <a:latin typeface="HaranoAjiMincho-Regular-Identity-H"/>
              </a:rPr>
              <a:t>の </a:t>
            </a:r>
            <a:r>
              <a:rPr lang="en" altLang="ja-JP" dirty="0">
                <a:effectLst/>
                <a:latin typeface="CMR10"/>
              </a:rPr>
              <a:t>AST </a:t>
            </a:r>
            <a:r>
              <a:rPr lang="ja-JP" altLang="en-US">
                <a:effectLst/>
                <a:latin typeface="HaranoAjiMincho-Regular-Identity-H"/>
              </a:rPr>
              <a:t>や </a:t>
            </a:r>
            <a:r>
              <a:rPr lang="en" altLang="ja-JP" dirty="0">
                <a:effectLst/>
                <a:latin typeface="CMR10"/>
              </a:rPr>
              <a:t>CFG</a:t>
            </a:r>
            <a:r>
              <a:rPr lang="ja-JP" altLang="en">
                <a:effectLst/>
                <a:latin typeface="HaranoAjiMincho-Regular-Identity-H"/>
              </a:rPr>
              <a:t>、</a:t>
            </a:r>
            <a:r>
              <a:rPr lang="ja-JP" altLang="en-US">
                <a:effectLst/>
                <a:latin typeface="HaranoAjiMincho-Regular-Identity-H"/>
              </a:rPr>
              <a:t>サイクロマチック複雑度などを計算し、難読化前後のコードからそれぞれ の指標を抽出する。 </a:t>
            </a:r>
            <a:endParaRPr lang="en-US" altLang="ja-JP" dirty="0">
              <a:effectLst/>
              <a:latin typeface="HaranoAjiMincho-Regular-Identity-H"/>
            </a:endParaRPr>
          </a:p>
          <a:p>
            <a:pPr marL="514350" indent="-514350">
              <a:buAutoNum type="arabicPeriod"/>
            </a:pPr>
            <a:endParaRPr lang="en-US" altLang="ja-JP" dirty="0"/>
          </a:p>
          <a:p>
            <a:pPr marL="0" indent="0">
              <a:buNone/>
            </a:pPr>
            <a:r>
              <a:rPr lang="en-US" altLang="ja-JP" b="1" dirty="0">
                <a:effectLst/>
                <a:latin typeface="CMR10"/>
              </a:rPr>
              <a:t>2. </a:t>
            </a:r>
            <a:r>
              <a:rPr lang="ja-JP" altLang="en-US" b="1">
                <a:effectLst/>
                <a:latin typeface="HaranoAjiGothic-Medium-Identity-H"/>
              </a:rPr>
              <a:t>類似度計算モジュール</a:t>
            </a:r>
            <a:r>
              <a:rPr lang="ja-JP" altLang="en-US">
                <a:effectLst/>
                <a:latin typeface="HaranoAjiGothic-Medium-Identity-H"/>
              </a:rPr>
              <a:t> </a:t>
            </a:r>
            <a:endParaRPr lang="en-US" altLang="ja-JP" dirty="0">
              <a:effectLst/>
              <a:latin typeface="HaranoAjiGothic-Medium-Identity-H"/>
            </a:endParaRPr>
          </a:p>
          <a:p>
            <a:pPr marL="0" indent="0">
              <a:buNone/>
            </a:pPr>
            <a:r>
              <a:rPr lang="ja-JP" altLang="en-US">
                <a:effectLst/>
                <a:latin typeface="HaranoAjiMincho-Regular-Identity-H"/>
              </a:rPr>
              <a:t>抽出した特徴量に対してコサイン類似度や木編集距離に基づく正規化類似度を計算し、表・グラフとし てまとめる。</a:t>
            </a:r>
            <a:endParaRPr lang="en-US" altLang="ja-JP" dirty="0">
              <a:effectLst/>
              <a:latin typeface="HaranoAjiMincho-Regular-Identity-H"/>
            </a:endParaRPr>
          </a:p>
          <a:p>
            <a:pPr marL="0" indent="0">
              <a:buNone/>
            </a:pPr>
            <a:endParaRPr lang="en-US" altLang="ja-JP" dirty="0">
              <a:latin typeface="HaranoAjiMincho-Regular-Identity-H"/>
            </a:endParaRPr>
          </a:p>
          <a:p>
            <a:pPr marL="0" indent="0">
              <a:buNone/>
            </a:pPr>
            <a:r>
              <a:rPr lang="en-US" altLang="ja-JP" b="1" dirty="0">
                <a:effectLst/>
                <a:latin typeface="CMR10"/>
              </a:rPr>
              <a:t>3. </a:t>
            </a:r>
            <a:r>
              <a:rPr lang="ja-JP" altLang="en-US" b="1">
                <a:effectLst/>
                <a:latin typeface="HaranoAjiGothic-Medium-Identity-H"/>
              </a:rPr>
              <a:t>レポート生成モジュール</a:t>
            </a:r>
            <a:br>
              <a:rPr lang="ja-JP" altLang="en-US">
                <a:effectLst/>
                <a:latin typeface="HaranoAjiGothic-Medium-Identity-H"/>
              </a:rPr>
            </a:br>
            <a:r>
              <a:rPr lang="ja-JP" altLang="en-US">
                <a:effectLst/>
                <a:latin typeface="HaranoAjiMincho-Regular-Identity-H"/>
              </a:rPr>
              <a:t>計算結果と、生成 </a:t>
            </a:r>
            <a:r>
              <a:rPr lang="en" altLang="ja-JP" dirty="0">
                <a:effectLst/>
                <a:latin typeface="CMR10"/>
              </a:rPr>
              <a:t>AI </a:t>
            </a:r>
            <a:r>
              <a:rPr lang="ja-JP" altLang="en-US">
                <a:effectLst/>
                <a:latin typeface="HaranoAjiMincho-Regular-Identity-H"/>
              </a:rPr>
              <a:t>による難読化手法の説明文を </a:t>
            </a:r>
            <a:r>
              <a:rPr lang="en" altLang="ja-JP" dirty="0">
                <a:effectLst/>
                <a:latin typeface="CMR10"/>
              </a:rPr>
              <a:t>HTML </a:t>
            </a:r>
            <a:r>
              <a:rPr lang="ja-JP" altLang="en-US">
                <a:effectLst/>
                <a:latin typeface="HaranoAjiMincho-Regular-Identity-H"/>
              </a:rPr>
              <a:t>レポートとして出力する。 </a:t>
            </a:r>
            <a:endParaRPr lang="ja-JP" altLang="en-US"/>
          </a:p>
          <a:p>
            <a:pPr marL="0" indent="0">
              <a:buNone/>
            </a:pPr>
            <a:r>
              <a:rPr lang="ja-JP" altLang="en-US">
                <a:effectLst/>
                <a:latin typeface="HaranoAjiMincho-Regular-Identity-H"/>
              </a:rPr>
              <a:t> </a:t>
            </a:r>
            <a:endParaRPr lang="ja-JP" altLang="en-US"/>
          </a:p>
          <a:p>
            <a:pPr marL="514350" indent="-514350">
              <a:buAutoNum type="arabicPeriod"/>
            </a:pPr>
            <a:endParaRPr lang="ja-JP" altLang="en-US"/>
          </a:p>
          <a:p>
            <a:pPr marL="0" indent="0">
              <a:buNone/>
            </a:pPr>
            <a:endParaRPr kumimoji="1" lang="ja-JP" altLang="en-US"/>
          </a:p>
        </p:txBody>
      </p:sp>
    </p:spTree>
    <p:extLst>
      <p:ext uri="{BB962C8B-B14F-4D97-AF65-F5344CB8AC3E}">
        <p14:creationId xmlns:p14="http://schemas.microsoft.com/office/powerpoint/2010/main" val="3587446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0195AB-38E9-C7F6-44E9-7D9D97F56867}"/>
              </a:ext>
            </a:extLst>
          </p:cNvPr>
          <p:cNvSpPr>
            <a:spLocks noGrp="1"/>
          </p:cNvSpPr>
          <p:nvPr>
            <p:ph type="title"/>
          </p:nvPr>
        </p:nvSpPr>
        <p:spPr>
          <a:xfrm>
            <a:off x="838200" y="601818"/>
            <a:ext cx="10515600" cy="1325563"/>
          </a:xfrm>
        </p:spPr>
        <p:txBody>
          <a:bodyPr/>
          <a:lstStyle/>
          <a:p>
            <a:r>
              <a:rPr lang="ja-JP" altLang="en-US" b="1"/>
              <a:t>使用した評価指標</a:t>
            </a:r>
            <a:endParaRPr kumimoji="1" lang="ja-JP" altLang="en-US"/>
          </a:p>
        </p:txBody>
      </p:sp>
      <p:sp>
        <p:nvSpPr>
          <p:cNvPr id="3" name="コンテンツ プレースホルダー 2">
            <a:extLst>
              <a:ext uri="{FF2B5EF4-FFF2-40B4-BE49-F238E27FC236}">
                <a16:creationId xmlns:a16="http://schemas.microsoft.com/office/drawing/2014/main" id="{49FA7807-570F-DCEB-6B59-68CE485F1C5F}"/>
              </a:ext>
            </a:extLst>
          </p:cNvPr>
          <p:cNvSpPr>
            <a:spLocks noGrp="1"/>
          </p:cNvSpPr>
          <p:nvPr>
            <p:ph idx="1"/>
          </p:nvPr>
        </p:nvSpPr>
        <p:spPr/>
        <p:txBody>
          <a:bodyPr/>
          <a:lstStyle/>
          <a:p>
            <a:pPr marL="0" indent="0">
              <a:buNone/>
            </a:pPr>
            <a:endParaRPr lang="ja-JP" altLang="en-US"/>
          </a:p>
          <a:p>
            <a:pPr>
              <a:buFont typeface="Arial" panose="020B0604020202020204" pitchFamily="34" charset="0"/>
              <a:buChar char="•"/>
            </a:pPr>
            <a:r>
              <a:rPr lang="en" altLang="ja-JP" b="1" dirty="0"/>
              <a:t>AST </a:t>
            </a:r>
            <a:r>
              <a:rPr lang="ja-JP" altLang="en-US" b="1"/>
              <a:t>構造類似度</a:t>
            </a:r>
            <a:endParaRPr lang="ja-JP" altLang="en-US"/>
          </a:p>
          <a:p>
            <a:pPr marL="742950" lvl="1" indent="-285750">
              <a:buFont typeface="Arial" panose="020B0604020202020204" pitchFamily="34" charset="0"/>
              <a:buChar char="•"/>
            </a:pPr>
            <a:r>
              <a:rPr lang="en" altLang="ja-JP" dirty="0"/>
              <a:t>AST </a:t>
            </a:r>
            <a:r>
              <a:rPr lang="ja-JP" altLang="en-US"/>
              <a:t>構造類似度</a:t>
            </a:r>
          </a:p>
          <a:p>
            <a:pPr marL="742950" lvl="1" indent="-285750">
              <a:buFont typeface="Arial" panose="020B0604020202020204" pitchFamily="34" charset="0"/>
              <a:buChar char="•"/>
            </a:pPr>
            <a:r>
              <a:rPr lang="en" altLang="ja-JP" dirty="0"/>
              <a:t>AST </a:t>
            </a:r>
            <a:r>
              <a:rPr lang="ja-JP" altLang="en-US"/>
              <a:t>ノード頻度に基づくコサイン類似度</a:t>
            </a:r>
          </a:p>
          <a:p>
            <a:pPr>
              <a:buFont typeface="Arial" panose="020B0604020202020204" pitchFamily="34" charset="0"/>
              <a:buChar char="•"/>
            </a:pPr>
            <a:r>
              <a:rPr lang="en" altLang="ja-JP" b="1" dirty="0"/>
              <a:t>CFG </a:t>
            </a:r>
            <a:r>
              <a:rPr lang="ja-JP" altLang="en-US" b="1"/>
              <a:t>類似度</a:t>
            </a:r>
            <a:endParaRPr lang="ja-JP" altLang="en-US"/>
          </a:p>
          <a:p>
            <a:pPr marL="742950" lvl="1" indent="-285750">
              <a:buFont typeface="Arial" panose="020B0604020202020204" pitchFamily="34" charset="0"/>
              <a:buChar char="•"/>
            </a:pPr>
            <a:r>
              <a:rPr lang="ja-JP" altLang="en-US"/>
              <a:t>制御フロー構造の類似性を評価</a:t>
            </a:r>
          </a:p>
          <a:p>
            <a:pPr>
              <a:buFont typeface="Arial" panose="020B0604020202020204" pitchFamily="34" charset="0"/>
              <a:buChar char="•"/>
            </a:pPr>
            <a:r>
              <a:rPr lang="ja-JP" altLang="en-US" b="1"/>
              <a:t>サイクロマチック複雑度</a:t>
            </a:r>
            <a:endParaRPr lang="ja-JP" altLang="en-US"/>
          </a:p>
          <a:p>
            <a:pPr marL="742950" lvl="1" indent="-285750">
              <a:buFont typeface="Arial" panose="020B0604020202020204" pitchFamily="34" charset="0"/>
              <a:buChar char="•"/>
            </a:pPr>
            <a:r>
              <a:rPr lang="ja-JP" altLang="en-US"/>
              <a:t>分岐・ループ構造の複雑さを評価</a:t>
            </a:r>
          </a:p>
          <a:p>
            <a:endParaRPr kumimoji="1" lang="en-US" altLang="ja-JP" dirty="0"/>
          </a:p>
          <a:p>
            <a:endParaRPr kumimoji="1" lang="ja-JP" altLang="en-US"/>
          </a:p>
        </p:txBody>
      </p:sp>
    </p:spTree>
    <p:extLst>
      <p:ext uri="{BB962C8B-B14F-4D97-AF65-F5344CB8AC3E}">
        <p14:creationId xmlns:p14="http://schemas.microsoft.com/office/powerpoint/2010/main" val="3646208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C86256-9F2D-65AD-A3B3-34C842A02D90}"/>
              </a:ext>
            </a:extLst>
          </p:cNvPr>
          <p:cNvSpPr>
            <a:spLocks noGrp="1"/>
          </p:cNvSpPr>
          <p:nvPr>
            <p:ph type="title"/>
          </p:nvPr>
        </p:nvSpPr>
        <p:spPr/>
        <p:txBody>
          <a:bodyPr/>
          <a:lstStyle/>
          <a:p>
            <a:r>
              <a:rPr kumimoji="1" lang="ja-JP" altLang="en-US"/>
              <a:t>評価指標</a:t>
            </a:r>
          </a:p>
        </p:txBody>
      </p:sp>
      <p:sp>
        <p:nvSpPr>
          <p:cNvPr id="3" name="コンテンツ プレースホルダー 2">
            <a:extLst>
              <a:ext uri="{FF2B5EF4-FFF2-40B4-BE49-F238E27FC236}">
                <a16:creationId xmlns:a16="http://schemas.microsoft.com/office/drawing/2014/main" id="{217703A9-838D-5AA9-0EB0-22176C285E83}"/>
              </a:ext>
            </a:extLst>
          </p:cNvPr>
          <p:cNvSpPr>
            <a:spLocks noGrp="1"/>
          </p:cNvSpPr>
          <p:nvPr>
            <p:ph idx="1"/>
          </p:nvPr>
        </p:nvSpPr>
        <p:spPr>
          <a:xfrm>
            <a:off x="838200" y="1509742"/>
            <a:ext cx="10515600" cy="4351338"/>
          </a:xfrm>
        </p:spPr>
        <p:txBody>
          <a:bodyPr/>
          <a:lstStyle/>
          <a:p>
            <a:r>
              <a:rPr lang="en" altLang="ja-JP" b="1" dirty="0"/>
              <a:t>AST </a:t>
            </a:r>
            <a:r>
              <a:rPr lang="ja-JP" altLang="en-US" b="1"/>
              <a:t>構造類似度</a:t>
            </a:r>
            <a:endParaRPr lang="ja-JP" altLang="en-US"/>
          </a:p>
          <a:p>
            <a:pPr marL="0" indent="0">
              <a:buNone/>
            </a:pPr>
            <a:r>
              <a:rPr lang="en-US" altLang="ja-JP" dirty="0"/>
              <a:t>2</a:t>
            </a:r>
            <a:r>
              <a:rPr lang="ja-JP" altLang="en-US"/>
              <a:t>つのプログラムの </a:t>
            </a:r>
            <a:r>
              <a:rPr lang="ja-JP" altLang="en-US" b="1"/>
              <a:t>抽象構文木（</a:t>
            </a:r>
            <a:r>
              <a:rPr lang="en" altLang="ja-JP" b="1" dirty="0"/>
              <a:t>AST</a:t>
            </a:r>
            <a:r>
              <a:rPr lang="ja-JP" altLang="en" b="1"/>
              <a:t>）</a:t>
            </a:r>
            <a:r>
              <a:rPr lang="ja-JP" altLang="en-US" b="1"/>
              <a:t>の形の似ている度合い</a:t>
            </a:r>
            <a:r>
              <a:rPr lang="ja-JP" altLang="en-US"/>
              <a:t> を数値化したもの。</a:t>
            </a:r>
            <a:endParaRPr kumimoji="1" lang="en-US" altLang="ja-JP" dirty="0"/>
          </a:p>
          <a:p>
            <a:pPr marL="0" indent="0">
              <a:buNone/>
            </a:pPr>
            <a:r>
              <a:rPr lang="ja-JP" altLang="en-US"/>
              <a:t>　数値が</a:t>
            </a:r>
            <a:r>
              <a:rPr lang="ja-JP" altLang="en-US">
                <a:solidFill>
                  <a:srgbClr val="FF0000"/>
                </a:solidFill>
              </a:rPr>
              <a:t>高い</a:t>
            </a:r>
            <a:r>
              <a:rPr lang="en-US" altLang="ja-JP" dirty="0"/>
              <a:t> :</a:t>
            </a:r>
            <a:r>
              <a:rPr lang="ja-JP" altLang="en-US"/>
              <a:t>構文の形はほぼ同じ</a:t>
            </a:r>
            <a:endParaRPr lang="en-US" altLang="ja-JP" dirty="0"/>
          </a:p>
          <a:p>
            <a:pPr marL="0" indent="0">
              <a:buNone/>
            </a:pPr>
            <a:r>
              <a:rPr kumimoji="1" lang="ja-JP" altLang="en-US"/>
              <a:t>　数値が</a:t>
            </a:r>
            <a:r>
              <a:rPr kumimoji="1" lang="ja-JP" altLang="en-US">
                <a:solidFill>
                  <a:srgbClr val="0070C0"/>
                </a:solidFill>
              </a:rPr>
              <a:t>低い</a:t>
            </a:r>
            <a:r>
              <a:rPr kumimoji="1" lang="en-US" altLang="ja-JP" dirty="0">
                <a:solidFill>
                  <a:srgbClr val="0070C0"/>
                </a:solidFill>
              </a:rPr>
              <a:t> </a:t>
            </a:r>
            <a:r>
              <a:rPr kumimoji="1" lang="en-US" altLang="ja-JP" dirty="0"/>
              <a:t>:</a:t>
            </a:r>
            <a:r>
              <a:rPr lang="ja-JP" altLang="en-US"/>
              <a:t>構造レベルで変形されている</a:t>
            </a:r>
            <a:endParaRPr kumimoji="1" lang="ja-JP" altLang="en-US">
              <a:solidFill>
                <a:srgbClr val="0070C0"/>
              </a:solidFill>
            </a:endParaRPr>
          </a:p>
        </p:txBody>
      </p:sp>
      <p:pic>
        <p:nvPicPr>
          <p:cNvPr id="5" name="図 4" descr="テキスト&#10;&#10;低い精度で自動的に生成された説明">
            <a:extLst>
              <a:ext uri="{FF2B5EF4-FFF2-40B4-BE49-F238E27FC236}">
                <a16:creationId xmlns:a16="http://schemas.microsoft.com/office/drawing/2014/main" id="{81A7D160-B06C-076B-3F4F-2F13537AD602}"/>
              </a:ext>
            </a:extLst>
          </p:cNvPr>
          <p:cNvPicPr>
            <a:picLocks noChangeAspect="1"/>
          </p:cNvPicPr>
          <p:nvPr/>
        </p:nvPicPr>
        <p:blipFill rotWithShape="1">
          <a:blip r:embed="rId3"/>
          <a:srcRect r="19586"/>
          <a:stretch/>
        </p:blipFill>
        <p:spPr>
          <a:xfrm>
            <a:off x="356061" y="4035914"/>
            <a:ext cx="2410331" cy="1396300"/>
          </a:xfrm>
          <a:prstGeom prst="rect">
            <a:avLst/>
          </a:prstGeom>
          <a:ln>
            <a:solidFill>
              <a:schemeClr val="accent1">
                <a:shade val="15000"/>
              </a:schemeClr>
            </a:solidFill>
          </a:ln>
        </p:spPr>
      </p:pic>
      <p:pic>
        <p:nvPicPr>
          <p:cNvPr id="7" name="図 6" descr="テキスト が含まれている画像&#10;&#10;自動的に生成された説明">
            <a:extLst>
              <a:ext uri="{FF2B5EF4-FFF2-40B4-BE49-F238E27FC236}">
                <a16:creationId xmlns:a16="http://schemas.microsoft.com/office/drawing/2014/main" id="{C8A781AE-BBBA-7AA4-A33D-5B9EAED81AB5}"/>
              </a:ext>
            </a:extLst>
          </p:cNvPr>
          <p:cNvPicPr>
            <a:picLocks noChangeAspect="1"/>
          </p:cNvPicPr>
          <p:nvPr/>
        </p:nvPicPr>
        <p:blipFill>
          <a:blip r:embed="rId4"/>
          <a:stretch>
            <a:fillRect/>
          </a:stretch>
        </p:blipFill>
        <p:spPr>
          <a:xfrm>
            <a:off x="1754856" y="5515267"/>
            <a:ext cx="2410331" cy="1261658"/>
          </a:xfrm>
          <a:prstGeom prst="rect">
            <a:avLst/>
          </a:prstGeom>
          <a:ln>
            <a:solidFill>
              <a:schemeClr val="accent1">
                <a:shade val="15000"/>
              </a:schemeClr>
            </a:solidFill>
          </a:ln>
        </p:spPr>
      </p:pic>
      <p:sp>
        <p:nvSpPr>
          <p:cNvPr id="8" name="曲折矢印 7">
            <a:extLst>
              <a:ext uri="{FF2B5EF4-FFF2-40B4-BE49-F238E27FC236}">
                <a16:creationId xmlns:a16="http://schemas.microsoft.com/office/drawing/2014/main" id="{AD941156-B572-687B-438A-BE4CC457EB3C}"/>
              </a:ext>
            </a:extLst>
          </p:cNvPr>
          <p:cNvSpPr/>
          <p:nvPr/>
        </p:nvSpPr>
        <p:spPr>
          <a:xfrm flipV="1">
            <a:off x="927634" y="5741206"/>
            <a:ext cx="633592" cy="689906"/>
          </a:xfrm>
          <a:prstGeom prst="bentArrow">
            <a:avLst>
              <a:gd name="adj1" fmla="val 18360"/>
              <a:gd name="adj2" fmla="val 33361"/>
              <a:gd name="adj3" fmla="val 39263"/>
              <a:gd name="adj4" fmla="val 186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10" name="直線コネクタ 9">
            <a:extLst>
              <a:ext uri="{FF2B5EF4-FFF2-40B4-BE49-F238E27FC236}">
                <a16:creationId xmlns:a16="http://schemas.microsoft.com/office/drawing/2014/main" id="{D9351A6D-BD3B-6995-92C8-E685A784AD8F}"/>
              </a:ext>
            </a:extLst>
          </p:cNvPr>
          <p:cNvCxnSpPr>
            <a:cxnSpLocks/>
          </p:cNvCxnSpPr>
          <p:nvPr/>
        </p:nvCxnSpPr>
        <p:spPr>
          <a:xfrm>
            <a:off x="6096000" y="4035914"/>
            <a:ext cx="49877" cy="2525361"/>
          </a:xfrm>
          <a:prstGeom prst="line">
            <a:avLst/>
          </a:prstGeom>
        </p:spPr>
        <p:style>
          <a:lnRef idx="2">
            <a:schemeClr val="accent1"/>
          </a:lnRef>
          <a:fillRef idx="0">
            <a:schemeClr val="accent1"/>
          </a:fillRef>
          <a:effectRef idx="1">
            <a:schemeClr val="accent1"/>
          </a:effectRef>
          <a:fontRef idx="minor">
            <a:schemeClr val="tx1"/>
          </a:fontRef>
        </p:style>
      </p:cxnSp>
      <p:pic>
        <p:nvPicPr>
          <p:cNvPr id="13" name="図 12" descr="テキスト&#10;&#10;自動的に生成された説明">
            <a:extLst>
              <a:ext uri="{FF2B5EF4-FFF2-40B4-BE49-F238E27FC236}">
                <a16:creationId xmlns:a16="http://schemas.microsoft.com/office/drawing/2014/main" id="{5AB2E8BE-3AD2-19C2-CEB6-1A953FA0EEAC}"/>
              </a:ext>
            </a:extLst>
          </p:cNvPr>
          <p:cNvPicPr>
            <a:picLocks noChangeAspect="1"/>
          </p:cNvPicPr>
          <p:nvPr/>
        </p:nvPicPr>
        <p:blipFill>
          <a:blip r:embed="rId5"/>
          <a:stretch>
            <a:fillRect/>
          </a:stretch>
        </p:blipFill>
        <p:spPr>
          <a:xfrm>
            <a:off x="8736783" y="5172965"/>
            <a:ext cx="1876740" cy="1629505"/>
          </a:xfrm>
          <a:prstGeom prst="rect">
            <a:avLst/>
          </a:prstGeom>
          <a:ln>
            <a:solidFill>
              <a:schemeClr val="accent1">
                <a:shade val="15000"/>
              </a:schemeClr>
            </a:solidFill>
          </a:ln>
        </p:spPr>
      </p:pic>
      <p:pic>
        <p:nvPicPr>
          <p:cNvPr id="14" name="図 13" descr="テキスト&#10;&#10;低い精度で自動的に生成された説明">
            <a:extLst>
              <a:ext uri="{FF2B5EF4-FFF2-40B4-BE49-F238E27FC236}">
                <a16:creationId xmlns:a16="http://schemas.microsoft.com/office/drawing/2014/main" id="{3A279381-2C5A-A30E-FB3B-D001212F584B}"/>
              </a:ext>
            </a:extLst>
          </p:cNvPr>
          <p:cNvPicPr>
            <a:picLocks noChangeAspect="1"/>
          </p:cNvPicPr>
          <p:nvPr/>
        </p:nvPicPr>
        <p:blipFill rotWithShape="1">
          <a:blip r:embed="rId3"/>
          <a:srcRect r="19586"/>
          <a:stretch/>
        </p:blipFill>
        <p:spPr>
          <a:xfrm>
            <a:off x="6308628" y="4035914"/>
            <a:ext cx="2265404" cy="1312344"/>
          </a:xfrm>
          <a:prstGeom prst="rect">
            <a:avLst/>
          </a:prstGeom>
          <a:ln>
            <a:solidFill>
              <a:schemeClr val="accent1">
                <a:shade val="15000"/>
              </a:schemeClr>
            </a:solidFill>
          </a:ln>
        </p:spPr>
      </p:pic>
      <p:sp>
        <p:nvSpPr>
          <p:cNvPr id="15" name="曲折矢印 14">
            <a:extLst>
              <a:ext uri="{FF2B5EF4-FFF2-40B4-BE49-F238E27FC236}">
                <a16:creationId xmlns:a16="http://schemas.microsoft.com/office/drawing/2014/main" id="{2DE7067C-DCD0-3F97-FBE7-78FB2EB6DB68}"/>
              </a:ext>
            </a:extLst>
          </p:cNvPr>
          <p:cNvSpPr/>
          <p:nvPr/>
        </p:nvSpPr>
        <p:spPr>
          <a:xfrm flipV="1">
            <a:off x="7289810" y="5629096"/>
            <a:ext cx="633592" cy="689906"/>
          </a:xfrm>
          <a:prstGeom prst="bentArrow">
            <a:avLst>
              <a:gd name="adj1" fmla="val 18360"/>
              <a:gd name="adj2" fmla="val 33361"/>
              <a:gd name="adj3" fmla="val 39263"/>
              <a:gd name="adj4" fmla="val 186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テキスト ボックス 15">
            <a:extLst>
              <a:ext uri="{FF2B5EF4-FFF2-40B4-BE49-F238E27FC236}">
                <a16:creationId xmlns:a16="http://schemas.microsoft.com/office/drawing/2014/main" id="{B4D547C4-C23D-7794-FB70-60E5CF44D533}"/>
              </a:ext>
            </a:extLst>
          </p:cNvPr>
          <p:cNvSpPr txBox="1"/>
          <p:nvPr/>
        </p:nvSpPr>
        <p:spPr>
          <a:xfrm>
            <a:off x="3369847" y="4711300"/>
            <a:ext cx="2122697" cy="461665"/>
          </a:xfrm>
          <a:prstGeom prst="rect">
            <a:avLst/>
          </a:prstGeom>
          <a:noFill/>
        </p:spPr>
        <p:txBody>
          <a:bodyPr wrap="none" rtlCol="0">
            <a:spAutoFit/>
          </a:bodyPr>
          <a:lstStyle/>
          <a:p>
            <a:r>
              <a:rPr kumimoji="1" lang="ja-JP" altLang="en-US" sz="2400"/>
              <a:t>類似度</a:t>
            </a:r>
            <a:r>
              <a:rPr kumimoji="1" lang="en-US" altLang="ja-JP" sz="2400" dirty="0"/>
              <a:t> = </a:t>
            </a:r>
            <a:r>
              <a:rPr kumimoji="1" lang="ja-JP" altLang="en-US" sz="2400">
                <a:solidFill>
                  <a:srgbClr val="FF0000"/>
                </a:solidFill>
              </a:rPr>
              <a:t>高い</a:t>
            </a:r>
          </a:p>
        </p:txBody>
      </p:sp>
      <p:sp>
        <p:nvSpPr>
          <p:cNvPr id="19" name="テキスト ボックス 18">
            <a:extLst>
              <a:ext uri="{FF2B5EF4-FFF2-40B4-BE49-F238E27FC236}">
                <a16:creationId xmlns:a16="http://schemas.microsoft.com/office/drawing/2014/main" id="{8119E1D6-13FE-5320-28CD-A4253C1EAC6A}"/>
              </a:ext>
            </a:extLst>
          </p:cNvPr>
          <p:cNvSpPr txBox="1"/>
          <p:nvPr/>
        </p:nvSpPr>
        <p:spPr>
          <a:xfrm>
            <a:off x="9280980" y="4503231"/>
            <a:ext cx="2430474" cy="461665"/>
          </a:xfrm>
          <a:prstGeom prst="rect">
            <a:avLst/>
          </a:prstGeom>
          <a:noFill/>
        </p:spPr>
        <p:txBody>
          <a:bodyPr wrap="none" rtlCol="0">
            <a:spAutoFit/>
          </a:bodyPr>
          <a:lstStyle/>
          <a:p>
            <a:r>
              <a:rPr kumimoji="1" lang="ja-JP" altLang="en-US" sz="2400"/>
              <a:t>類似度</a:t>
            </a:r>
            <a:r>
              <a:rPr kumimoji="1" lang="en-US" altLang="ja-JP" sz="2400" dirty="0"/>
              <a:t> = </a:t>
            </a:r>
            <a:r>
              <a:rPr lang="ja-JP" altLang="en-US" sz="2400">
                <a:solidFill>
                  <a:srgbClr val="0070C0"/>
                </a:solidFill>
              </a:rPr>
              <a:t>下がる</a:t>
            </a:r>
            <a:endParaRPr kumimoji="1" lang="ja-JP" altLang="en-US" sz="2400">
              <a:solidFill>
                <a:srgbClr val="0070C0"/>
              </a:solidFill>
            </a:endParaRPr>
          </a:p>
        </p:txBody>
      </p:sp>
    </p:spTree>
    <p:extLst>
      <p:ext uri="{BB962C8B-B14F-4D97-AF65-F5344CB8AC3E}">
        <p14:creationId xmlns:p14="http://schemas.microsoft.com/office/powerpoint/2010/main" val="1543567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B4BC22-8949-A759-B4B4-8A1693643501}"/>
              </a:ext>
            </a:extLst>
          </p:cNvPr>
          <p:cNvSpPr>
            <a:spLocks noGrp="1"/>
          </p:cNvSpPr>
          <p:nvPr>
            <p:ph type="title"/>
          </p:nvPr>
        </p:nvSpPr>
        <p:spPr/>
        <p:txBody>
          <a:bodyPr/>
          <a:lstStyle/>
          <a:p>
            <a:r>
              <a:rPr kumimoji="1" lang="ja-JP" altLang="en-US"/>
              <a:t>評価指標</a:t>
            </a:r>
          </a:p>
        </p:txBody>
      </p:sp>
      <p:sp>
        <p:nvSpPr>
          <p:cNvPr id="3" name="コンテンツ プレースホルダー 2">
            <a:extLst>
              <a:ext uri="{FF2B5EF4-FFF2-40B4-BE49-F238E27FC236}">
                <a16:creationId xmlns:a16="http://schemas.microsoft.com/office/drawing/2014/main" id="{926BB675-AC3B-F2E9-5254-071EAB95C73A}"/>
              </a:ext>
            </a:extLst>
          </p:cNvPr>
          <p:cNvSpPr>
            <a:spLocks noGrp="1"/>
          </p:cNvSpPr>
          <p:nvPr>
            <p:ph idx="1"/>
          </p:nvPr>
        </p:nvSpPr>
        <p:spPr/>
        <p:txBody>
          <a:bodyPr/>
          <a:lstStyle/>
          <a:p>
            <a:r>
              <a:rPr lang="en" altLang="ja-JP" b="1" dirty="0"/>
              <a:t>AST </a:t>
            </a:r>
            <a:r>
              <a:rPr lang="ja-JP" altLang="en-US" b="1"/>
              <a:t>ノード頻度に基づくコサイン類似度</a:t>
            </a:r>
          </a:p>
          <a:p>
            <a:pPr marL="0" indent="0">
              <a:buNone/>
            </a:pPr>
            <a:r>
              <a:rPr kumimoji="1" lang="ja-JP" altLang="en-US"/>
              <a:t>「どんな構文要素をどれくらい使っているか」を比較</a:t>
            </a:r>
          </a:p>
          <a:p>
            <a:pPr marL="0" indent="0">
              <a:buNone/>
            </a:pPr>
            <a:endParaRPr kumimoji="1" lang="ja-JP" altLang="en-US"/>
          </a:p>
        </p:txBody>
      </p:sp>
      <p:pic>
        <p:nvPicPr>
          <p:cNvPr id="5" name="図 4" descr="テキスト&#10;&#10;自動的に生成された説明">
            <a:extLst>
              <a:ext uri="{FF2B5EF4-FFF2-40B4-BE49-F238E27FC236}">
                <a16:creationId xmlns:a16="http://schemas.microsoft.com/office/drawing/2014/main" id="{9EC07A04-DBF0-9AFB-0566-C37157187604}"/>
              </a:ext>
            </a:extLst>
          </p:cNvPr>
          <p:cNvPicPr>
            <a:picLocks noChangeAspect="1"/>
          </p:cNvPicPr>
          <p:nvPr/>
        </p:nvPicPr>
        <p:blipFill>
          <a:blip r:embed="rId3"/>
          <a:stretch>
            <a:fillRect/>
          </a:stretch>
        </p:blipFill>
        <p:spPr>
          <a:xfrm>
            <a:off x="1480241" y="3075709"/>
            <a:ext cx="3934159" cy="1383953"/>
          </a:xfrm>
          <a:prstGeom prst="rect">
            <a:avLst/>
          </a:prstGeom>
          <a:ln>
            <a:solidFill>
              <a:schemeClr val="accent1">
                <a:shade val="15000"/>
              </a:schemeClr>
            </a:solidFill>
          </a:ln>
        </p:spPr>
      </p:pic>
      <p:sp>
        <p:nvSpPr>
          <p:cNvPr id="7" name="テキスト ボックス 6">
            <a:extLst>
              <a:ext uri="{FF2B5EF4-FFF2-40B4-BE49-F238E27FC236}">
                <a16:creationId xmlns:a16="http://schemas.microsoft.com/office/drawing/2014/main" id="{F99BF426-092B-087D-DBB4-769B3D5B07EF}"/>
              </a:ext>
            </a:extLst>
          </p:cNvPr>
          <p:cNvSpPr txBox="1"/>
          <p:nvPr/>
        </p:nvSpPr>
        <p:spPr>
          <a:xfrm>
            <a:off x="6276110" y="3170297"/>
            <a:ext cx="6101542" cy="830997"/>
          </a:xfrm>
          <a:prstGeom prst="rect">
            <a:avLst/>
          </a:prstGeom>
          <a:noFill/>
        </p:spPr>
        <p:txBody>
          <a:bodyPr wrap="square">
            <a:spAutoFit/>
          </a:bodyPr>
          <a:lstStyle/>
          <a:p>
            <a:pPr marL="342900" indent="-342900">
              <a:buFont typeface="Arial" panose="020B0604020202020204" pitchFamily="34" charset="0"/>
              <a:buChar char="•"/>
            </a:pPr>
            <a:r>
              <a:rPr lang="ja-JP" altLang="en-US" sz="2400"/>
              <a:t>ベクトルの角度を比較</a:t>
            </a:r>
          </a:p>
          <a:p>
            <a:pPr marL="342900" indent="-342900">
              <a:buFont typeface="Arial" panose="020B0604020202020204" pitchFamily="34" charset="0"/>
              <a:buChar char="•"/>
            </a:pPr>
            <a:r>
              <a:rPr lang="ja-JP" altLang="en-US" sz="2400"/>
              <a:t>長さではなく </a:t>
            </a:r>
            <a:r>
              <a:rPr lang="ja-JP" altLang="en-US" sz="2400" b="1"/>
              <a:t>方向</a:t>
            </a:r>
            <a:r>
              <a:rPr lang="ja-JP" altLang="en-US" sz="2400"/>
              <a:t> を見る</a:t>
            </a:r>
          </a:p>
        </p:txBody>
      </p:sp>
      <p:sp>
        <p:nvSpPr>
          <p:cNvPr id="8" name="テキスト ボックス 7">
            <a:extLst>
              <a:ext uri="{FF2B5EF4-FFF2-40B4-BE49-F238E27FC236}">
                <a16:creationId xmlns:a16="http://schemas.microsoft.com/office/drawing/2014/main" id="{40ACBFD9-6D36-5315-474F-CE720106690D}"/>
              </a:ext>
            </a:extLst>
          </p:cNvPr>
          <p:cNvSpPr txBox="1"/>
          <p:nvPr/>
        </p:nvSpPr>
        <p:spPr>
          <a:xfrm>
            <a:off x="556953" y="4902814"/>
            <a:ext cx="5004262" cy="830997"/>
          </a:xfrm>
          <a:prstGeom prst="rect">
            <a:avLst/>
          </a:prstGeom>
          <a:noFill/>
        </p:spPr>
        <p:txBody>
          <a:bodyPr wrap="square" rtlCol="0">
            <a:spAutoFit/>
          </a:bodyPr>
          <a:lstStyle/>
          <a:p>
            <a:r>
              <a:rPr lang="ja-JP" altLang="en-US" sz="2400" b="1">
                <a:solidFill>
                  <a:srgbClr val="FF0000"/>
                </a:solidFill>
              </a:rPr>
              <a:t>高い</a:t>
            </a:r>
            <a:r>
              <a:rPr lang="ja-JP" altLang="en-US" sz="2400"/>
              <a:t> → 構文要素の分布がほぼ同じ</a:t>
            </a:r>
          </a:p>
          <a:p>
            <a:r>
              <a:rPr lang="ja-JP" altLang="en-US" sz="2400" b="1">
                <a:solidFill>
                  <a:srgbClr val="0070C0"/>
                </a:solidFill>
              </a:rPr>
              <a:t>低い</a:t>
            </a:r>
            <a:r>
              <a:rPr lang="ja-JP" altLang="en-US" sz="2400"/>
              <a:t> → ノード構成が変化している</a:t>
            </a:r>
          </a:p>
        </p:txBody>
      </p:sp>
      <p:pic>
        <p:nvPicPr>
          <p:cNvPr id="5122" name="Picture 2" descr="コサイン類似度とは？ベクトルの内積から見る類似度 - nomulog">
            <a:extLst>
              <a:ext uri="{FF2B5EF4-FFF2-40B4-BE49-F238E27FC236}">
                <a16:creationId xmlns:a16="http://schemas.microsoft.com/office/drawing/2014/main" id="{F2774354-6D98-AEAD-133E-A7E35FFED3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0785" y="4258507"/>
            <a:ext cx="5004262" cy="2444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728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83A7AA-F72E-7D59-FD22-E685523CB068}"/>
              </a:ext>
            </a:extLst>
          </p:cNvPr>
          <p:cNvSpPr>
            <a:spLocks noGrp="1"/>
          </p:cNvSpPr>
          <p:nvPr>
            <p:ph type="title"/>
          </p:nvPr>
        </p:nvSpPr>
        <p:spPr/>
        <p:txBody>
          <a:bodyPr/>
          <a:lstStyle/>
          <a:p>
            <a:r>
              <a:rPr kumimoji="1" lang="ja-JP" altLang="en-US"/>
              <a:t>評価指標</a:t>
            </a:r>
          </a:p>
        </p:txBody>
      </p:sp>
      <p:sp>
        <p:nvSpPr>
          <p:cNvPr id="3" name="コンテンツ プレースホルダー 2">
            <a:extLst>
              <a:ext uri="{FF2B5EF4-FFF2-40B4-BE49-F238E27FC236}">
                <a16:creationId xmlns:a16="http://schemas.microsoft.com/office/drawing/2014/main" id="{4BF8A177-DA23-0879-0545-2F53E5052405}"/>
              </a:ext>
            </a:extLst>
          </p:cNvPr>
          <p:cNvSpPr>
            <a:spLocks noGrp="1"/>
          </p:cNvSpPr>
          <p:nvPr>
            <p:ph idx="1"/>
          </p:nvPr>
        </p:nvSpPr>
        <p:spPr>
          <a:xfrm>
            <a:off x="838200" y="1509741"/>
            <a:ext cx="10515600" cy="4351338"/>
          </a:xfrm>
        </p:spPr>
        <p:txBody>
          <a:bodyPr/>
          <a:lstStyle/>
          <a:p>
            <a:r>
              <a:rPr lang="en" altLang="ja-JP" b="1" dirty="0"/>
              <a:t>CFG </a:t>
            </a:r>
            <a:r>
              <a:rPr lang="ja-JP" altLang="en-US" b="1"/>
              <a:t>類似度</a:t>
            </a:r>
            <a:endParaRPr lang="en-US" altLang="ja-JP" b="1" dirty="0"/>
          </a:p>
          <a:p>
            <a:pPr marL="0" indent="0">
              <a:buNone/>
            </a:pPr>
            <a:r>
              <a:rPr lang="en-US" altLang="ja-JP" dirty="0"/>
              <a:t>2</a:t>
            </a:r>
            <a:r>
              <a:rPr lang="ja-JP" altLang="en-US"/>
              <a:t>つのプログラムの </a:t>
            </a:r>
            <a:r>
              <a:rPr lang="ja-JP" altLang="en-US" b="1"/>
              <a:t>実行の流れ（制御フロー）がどれだけ似ているか</a:t>
            </a:r>
            <a:r>
              <a:rPr lang="ja-JP" altLang="en-US"/>
              <a:t> を数値化したもの。</a:t>
            </a:r>
            <a:endParaRPr lang="en-US" altLang="ja-JP" dirty="0"/>
          </a:p>
          <a:p>
            <a:pPr marL="0" indent="0">
              <a:buNone/>
            </a:pPr>
            <a:endParaRPr kumimoji="1" lang="en-US" altLang="ja-JP" b="1" dirty="0"/>
          </a:p>
          <a:p>
            <a:pPr marL="0" indent="0">
              <a:buNone/>
            </a:pPr>
            <a:endParaRPr kumimoji="1" lang="ja-JP" altLang="en-US" b="1"/>
          </a:p>
        </p:txBody>
      </p:sp>
      <p:sp>
        <p:nvSpPr>
          <p:cNvPr id="5" name="テキスト ボックス 4">
            <a:extLst>
              <a:ext uri="{FF2B5EF4-FFF2-40B4-BE49-F238E27FC236}">
                <a16:creationId xmlns:a16="http://schemas.microsoft.com/office/drawing/2014/main" id="{5066EAB5-0E59-A31B-25CD-53DE6151F1F7}"/>
              </a:ext>
            </a:extLst>
          </p:cNvPr>
          <p:cNvSpPr txBox="1"/>
          <p:nvPr/>
        </p:nvSpPr>
        <p:spPr>
          <a:xfrm>
            <a:off x="1163782" y="3223745"/>
            <a:ext cx="2646878" cy="461665"/>
          </a:xfrm>
          <a:prstGeom prst="rect">
            <a:avLst/>
          </a:prstGeom>
          <a:noFill/>
        </p:spPr>
        <p:txBody>
          <a:bodyPr wrap="none" rtlCol="0">
            <a:spAutoFit/>
          </a:bodyPr>
          <a:lstStyle/>
          <a:p>
            <a:r>
              <a:rPr kumimoji="1" lang="en-US" altLang="ja-JP" sz="2400" dirty="0"/>
              <a:t>CFG</a:t>
            </a:r>
            <a:r>
              <a:rPr kumimoji="1" lang="ja-JP" altLang="en-US" sz="2400"/>
              <a:t>類似度が</a:t>
            </a:r>
            <a:r>
              <a:rPr kumimoji="1" lang="ja-JP" altLang="en-US" sz="2400">
                <a:solidFill>
                  <a:srgbClr val="FF0000"/>
                </a:solidFill>
              </a:rPr>
              <a:t>高い</a:t>
            </a:r>
          </a:p>
        </p:txBody>
      </p:sp>
      <p:sp>
        <p:nvSpPr>
          <p:cNvPr id="6" name="曲折矢印 5">
            <a:extLst>
              <a:ext uri="{FF2B5EF4-FFF2-40B4-BE49-F238E27FC236}">
                <a16:creationId xmlns:a16="http://schemas.microsoft.com/office/drawing/2014/main" id="{6F30C909-8AD4-236E-6030-1BF3D70CE8C2}"/>
              </a:ext>
            </a:extLst>
          </p:cNvPr>
          <p:cNvSpPr/>
          <p:nvPr/>
        </p:nvSpPr>
        <p:spPr>
          <a:xfrm rot="10800000" flipH="1">
            <a:off x="1798980" y="3792493"/>
            <a:ext cx="688241" cy="653834"/>
          </a:xfrm>
          <a:prstGeom prst="bentArrow">
            <a:avLst>
              <a:gd name="adj1" fmla="val 7201"/>
              <a:gd name="adj2" fmla="val 25000"/>
              <a:gd name="adj3" fmla="val 25000"/>
              <a:gd name="adj4" fmla="val 4120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テキスト ボックス 7">
            <a:extLst>
              <a:ext uri="{FF2B5EF4-FFF2-40B4-BE49-F238E27FC236}">
                <a16:creationId xmlns:a16="http://schemas.microsoft.com/office/drawing/2014/main" id="{E55FC80F-D801-0F88-C9D7-947760EE4768}"/>
              </a:ext>
            </a:extLst>
          </p:cNvPr>
          <p:cNvSpPr txBox="1"/>
          <p:nvPr/>
        </p:nvSpPr>
        <p:spPr>
          <a:xfrm>
            <a:off x="2867891" y="3792493"/>
            <a:ext cx="6101542" cy="1569660"/>
          </a:xfrm>
          <a:prstGeom prst="rect">
            <a:avLst/>
          </a:prstGeom>
          <a:noFill/>
        </p:spPr>
        <p:txBody>
          <a:bodyPr wrap="square">
            <a:spAutoFit/>
          </a:bodyPr>
          <a:lstStyle/>
          <a:p>
            <a:pPr>
              <a:buFont typeface="Arial" panose="020B0604020202020204" pitchFamily="34" charset="0"/>
              <a:buChar char="•"/>
            </a:pPr>
            <a:r>
              <a:rPr lang="en-US" altLang="ja-JP" sz="2400" dirty="0"/>
              <a:t> </a:t>
            </a:r>
            <a:r>
              <a:rPr lang="ja-JP" altLang="en-US" sz="2400"/>
              <a:t>分岐の位置</a:t>
            </a:r>
          </a:p>
          <a:p>
            <a:pPr>
              <a:buFont typeface="Arial" panose="020B0604020202020204" pitchFamily="34" charset="0"/>
              <a:buChar char="•"/>
            </a:pPr>
            <a:r>
              <a:rPr lang="en-US" altLang="ja-JP" sz="2400" dirty="0"/>
              <a:t> </a:t>
            </a:r>
            <a:r>
              <a:rPr lang="ja-JP" altLang="en-US" sz="2400"/>
              <a:t>ループ構造</a:t>
            </a:r>
          </a:p>
          <a:p>
            <a:pPr>
              <a:buFont typeface="Arial" panose="020B0604020202020204" pitchFamily="34" charset="0"/>
              <a:buChar char="•"/>
            </a:pPr>
            <a:r>
              <a:rPr lang="en-US" altLang="ja-JP" sz="2400" dirty="0"/>
              <a:t> </a:t>
            </a:r>
            <a:r>
              <a:rPr lang="ja-JP" altLang="en-US" sz="2400"/>
              <a:t>実行経路</a:t>
            </a:r>
          </a:p>
          <a:p>
            <a:r>
              <a:rPr lang="ja-JP" altLang="en-US" sz="2400"/>
              <a:t>などが似ていることを意味する。</a:t>
            </a:r>
          </a:p>
        </p:txBody>
      </p:sp>
      <p:sp>
        <p:nvSpPr>
          <p:cNvPr id="10" name="テキスト ボックス 9">
            <a:extLst>
              <a:ext uri="{FF2B5EF4-FFF2-40B4-BE49-F238E27FC236}">
                <a16:creationId xmlns:a16="http://schemas.microsoft.com/office/drawing/2014/main" id="{E2216431-0704-00D1-0522-C2E645CC6A25}"/>
              </a:ext>
            </a:extLst>
          </p:cNvPr>
          <p:cNvSpPr txBox="1"/>
          <p:nvPr/>
        </p:nvSpPr>
        <p:spPr>
          <a:xfrm>
            <a:off x="1671345" y="5469236"/>
            <a:ext cx="8494633" cy="461665"/>
          </a:xfrm>
          <a:prstGeom prst="rect">
            <a:avLst/>
          </a:prstGeom>
          <a:noFill/>
        </p:spPr>
        <p:txBody>
          <a:bodyPr wrap="none" rtlCol="0">
            <a:spAutoFit/>
          </a:bodyPr>
          <a:lstStyle/>
          <a:p>
            <a:r>
              <a:rPr lang="ja-JP" altLang="en-US" sz="2400" b="1"/>
              <a:t>難読化後もプログラムの動作的な構造はほぼ維持されている</a:t>
            </a:r>
            <a:endParaRPr kumimoji="1" lang="ja-JP" altLang="en-US" sz="2400" b="1"/>
          </a:p>
        </p:txBody>
      </p:sp>
    </p:spTree>
    <p:extLst>
      <p:ext uri="{BB962C8B-B14F-4D97-AF65-F5344CB8AC3E}">
        <p14:creationId xmlns:p14="http://schemas.microsoft.com/office/powerpoint/2010/main" val="3203402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EA338B-28D4-20EC-1161-A819801020D6}"/>
              </a:ext>
            </a:extLst>
          </p:cNvPr>
          <p:cNvSpPr>
            <a:spLocks noGrp="1"/>
          </p:cNvSpPr>
          <p:nvPr>
            <p:ph type="title"/>
          </p:nvPr>
        </p:nvSpPr>
        <p:spPr/>
        <p:txBody>
          <a:bodyPr/>
          <a:lstStyle/>
          <a:p>
            <a:r>
              <a:rPr kumimoji="1" lang="ja-JP" altLang="en-US"/>
              <a:t>評価指標</a:t>
            </a:r>
          </a:p>
        </p:txBody>
      </p:sp>
      <p:sp>
        <p:nvSpPr>
          <p:cNvPr id="3" name="コンテンツ プレースホルダー 2">
            <a:extLst>
              <a:ext uri="{FF2B5EF4-FFF2-40B4-BE49-F238E27FC236}">
                <a16:creationId xmlns:a16="http://schemas.microsoft.com/office/drawing/2014/main" id="{CE95C87A-CD42-DE8E-2BA4-5BCC51D15C90}"/>
              </a:ext>
            </a:extLst>
          </p:cNvPr>
          <p:cNvSpPr>
            <a:spLocks noGrp="1"/>
          </p:cNvSpPr>
          <p:nvPr>
            <p:ph idx="1"/>
          </p:nvPr>
        </p:nvSpPr>
        <p:spPr/>
        <p:txBody>
          <a:bodyPr/>
          <a:lstStyle/>
          <a:p>
            <a:r>
              <a:rPr lang="ja-JP" altLang="en-US" b="1"/>
              <a:t>サイクロマチック複雑度</a:t>
            </a:r>
            <a:endParaRPr lang="en-US" altLang="ja-JP" b="1" dirty="0"/>
          </a:p>
          <a:p>
            <a:pPr marL="0" indent="0">
              <a:buNone/>
            </a:pPr>
            <a:r>
              <a:rPr lang="ja-JP" altLang="en-US" b="1"/>
              <a:t>プログラムに存在する独立した実行経路の数</a:t>
            </a:r>
            <a:r>
              <a:rPr lang="ja-JP" altLang="en-US"/>
              <a:t>を表す指標</a:t>
            </a:r>
          </a:p>
          <a:p>
            <a:pPr marL="0" indent="0">
              <a:buNone/>
            </a:pPr>
            <a:r>
              <a:rPr kumimoji="1" lang="ja-JP" altLang="en-US"/>
              <a:t>→分岐が多いほど複雑度が高くなる</a:t>
            </a:r>
          </a:p>
          <a:p>
            <a:pPr marL="0" indent="0">
              <a:buNone/>
            </a:pPr>
            <a:endParaRPr kumimoji="1" lang="ja-JP" altLang="en-US"/>
          </a:p>
        </p:txBody>
      </p:sp>
      <p:sp>
        <p:nvSpPr>
          <p:cNvPr id="4" name="テキスト ボックス 3">
            <a:extLst>
              <a:ext uri="{FF2B5EF4-FFF2-40B4-BE49-F238E27FC236}">
                <a16:creationId xmlns:a16="http://schemas.microsoft.com/office/drawing/2014/main" id="{F5C4E8E0-BEF1-57FD-8DDE-595A4D8E4881}"/>
              </a:ext>
            </a:extLst>
          </p:cNvPr>
          <p:cNvSpPr txBox="1"/>
          <p:nvPr/>
        </p:nvSpPr>
        <p:spPr>
          <a:xfrm>
            <a:off x="981952" y="3501395"/>
            <a:ext cx="4493538" cy="1938992"/>
          </a:xfrm>
          <a:prstGeom prst="rect">
            <a:avLst/>
          </a:prstGeom>
          <a:noFill/>
        </p:spPr>
        <p:txBody>
          <a:bodyPr wrap="none" rtlCol="0">
            <a:spAutoFit/>
          </a:bodyPr>
          <a:lstStyle/>
          <a:p>
            <a:pPr>
              <a:buFont typeface="Arial" panose="020B0604020202020204" pitchFamily="34" charset="0"/>
              <a:buChar char="•"/>
            </a:pPr>
            <a:r>
              <a:rPr lang="ja-JP" altLang="en-US" sz="2400"/>
              <a:t>可読性</a:t>
            </a:r>
          </a:p>
          <a:p>
            <a:pPr>
              <a:buFont typeface="Arial" panose="020B0604020202020204" pitchFamily="34" charset="0"/>
              <a:buChar char="•"/>
            </a:pPr>
            <a:r>
              <a:rPr lang="ja-JP" altLang="en-US" sz="2400"/>
              <a:t>テスト難易度</a:t>
            </a:r>
          </a:p>
          <a:p>
            <a:pPr>
              <a:buFont typeface="Arial" panose="020B0604020202020204" pitchFamily="34" charset="0"/>
              <a:buChar char="•"/>
            </a:pPr>
            <a:r>
              <a:rPr lang="ja-JP" altLang="en-US" sz="2400"/>
              <a:t>制御フローの複雑さ</a:t>
            </a:r>
          </a:p>
          <a:p>
            <a:r>
              <a:rPr lang="ja-JP" altLang="en-US" sz="2400"/>
              <a:t>を評価するために用いられる。</a:t>
            </a:r>
          </a:p>
          <a:p>
            <a:endParaRPr kumimoji="1" lang="ja-JP" altLang="en-US" sz="2400"/>
          </a:p>
        </p:txBody>
      </p:sp>
      <p:pic>
        <p:nvPicPr>
          <p:cNvPr id="8" name="図 7" descr="ダイアグラム, テキスト&#10;&#10;自動的に生成された説明">
            <a:extLst>
              <a:ext uri="{FF2B5EF4-FFF2-40B4-BE49-F238E27FC236}">
                <a16:creationId xmlns:a16="http://schemas.microsoft.com/office/drawing/2014/main" id="{31349196-D2FF-C569-DEF7-74A365F0CAA2}"/>
              </a:ext>
            </a:extLst>
          </p:cNvPr>
          <p:cNvPicPr>
            <a:picLocks noChangeAspect="1"/>
          </p:cNvPicPr>
          <p:nvPr/>
        </p:nvPicPr>
        <p:blipFill>
          <a:blip r:embed="rId3"/>
          <a:stretch>
            <a:fillRect/>
          </a:stretch>
        </p:blipFill>
        <p:spPr>
          <a:xfrm>
            <a:off x="5898596" y="3632691"/>
            <a:ext cx="2527300" cy="838200"/>
          </a:xfrm>
          <a:prstGeom prst="rect">
            <a:avLst/>
          </a:prstGeom>
          <a:ln>
            <a:solidFill>
              <a:schemeClr val="accent1">
                <a:shade val="15000"/>
              </a:schemeClr>
            </a:solidFill>
          </a:ln>
        </p:spPr>
      </p:pic>
      <p:pic>
        <p:nvPicPr>
          <p:cNvPr id="10" name="図 9" descr="テキスト&#10;&#10;自動的に生成された説明">
            <a:extLst>
              <a:ext uri="{FF2B5EF4-FFF2-40B4-BE49-F238E27FC236}">
                <a16:creationId xmlns:a16="http://schemas.microsoft.com/office/drawing/2014/main" id="{8D6805BD-4121-A620-2EE9-D9B8333C03DA}"/>
              </a:ext>
            </a:extLst>
          </p:cNvPr>
          <p:cNvPicPr>
            <a:picLocks noChangeAspect="1"/>
          </p:cNvPicPr>
          <p:nvPr/>
        </p:nvPicPr>
        <p:blipFill>
          <a:blip r:embed="rId4"/>
          <a:stretch>
            <a:fillRect/>
          </a:stretch>
        </p:blipFill>
        <p:spPr>
          <a:xfrm>
            <a:off x="8849002" y="3454338"/>
            <a:ext cx="2705100" cy="1219200"/>
          </a:xfrm>
          <a:prstGeom prst="rect">
            <a:avLst/>
          </a:prstGeom>
        </p:spPr>
      </p:pic>
      <p:sp>
        <p:nvSpPr>
          <p:cNvPr id="14" name="テキスト ボックス 13">
            <a:extLst>
              <a:ext uri="{FF2B5EF4-FFF2-40B4-BE49-F238E27FC236}">
                <a16:creationId xmlns:a16="http://schemas.microsoft.com/office/drawing/2014/main" id="{6E5B43DD-4ACA-5ED9-3A3F-466AAD662BA0}"/>
              </a:ext>
            </a:extLst>
          </p:cNvPr>
          <p:cNvSpPr txBox="1"/>
          <p:nvPr/>
        </p:nvSpPr>
        <p:spPr>
          <a:xfrm>
            <a:off x="2304789" y="5393177"/>
            <a:ext cx="5373587" cy="830997"/>
          </a:xfrm>
          <a:prstGeom prst="rect">
            <a:avLst/>
          </a:prstGeom>
          <a:noFill/>
        </p:spPr>
        <p:txBody>
          <a:bodyPr wrap="none" rtlCol="0">
            <a:spAutoFit/>
          </a:bodyPr>
          <a:lstStyle/>
          <a:p>
            <a:r>
              <a:rPr kumimoji="1" lang="ja-JP" altLang="en-US" sz="2400">
                <a:solidFill>
                  <a:srgbClr val="FF0000"/>
                </a:solidFill>
              </a:rPr>
              <a:t>高い</a:t>
            </a:r>
            <a:r>
              <a:rPr kumimoji="1" lang="en-US" altLang="ja-JP" sz="2400" dirty="0"/>
              <a:t> : </a:t>
            </a:r>
            <a:r>
              <a:rPr lang="ja-JP" altLang="en-US" sz="2400"/>
              <a:t>分岐が多く、制御フローが複雑</a:t>
            </a:r>
            <a:endParaRPr lang="en-US" altLang="ja-JP" sz="2400" dirty="0"/>
          </a:p>
          <a:p>
            <a:r>
              <a:rPr kumimoji="1" lang="ja-JP" altLang="en-US" sz="2400">
                <a:solidFill>
                  <a:srgbClr val="0070C0"/>
                </a:solidFill>
              </a:rPr>
              <a:t>低い</a:t>
            </a:r>
            <a:r>
              <a:rPr kumimoji="1" lang="en-US" altLang="ja-JP" sz="2400" dirty="0"/>
              <a:t> : </a:t>
            </a:r>
            <a:r>
              <a:rPr lang="ja-JP" altLang="en-US" sz="2400"/>
              <a:t>実行構造が比較的単純</a:t>
            </a:r>
            <a:endParaRPr kumimoji="1" lang="ja-JP" altLang="en-US" sz="2400"/>
          </a:p>
        </p:txBody>
      </p:sp>
    </p:spTree>
    <p:extLst>
      <p:ext uri="{BB962C8B-B14F-4D97-AF65-F5344CB8AC3E}">
        <p14:creationId xmlns:p14="http://schemas.microsoft.com/office/powerpoint/2010/main" val="2972317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A8633-9626-2C8E-9D5F-ACD9E27EA4E0}"/>
              </a:ext>
            </a:extLst>
          </p:cNvPr>
          <p:cNvSpPr>
            <a:spLocks noGrp="1"/>
          </p:cNvSpPr>
          <p:nvPr>
            <p:ph type="title"/>
          </p:nvPr>
        </p:nvSpPr>
        <p:spPr/>
        <p:txBody>
          <a:bodyPr/>
          <a:lstStyle/>
          <a:p>
            <a:r>
              <a:rPr kumimoji="1" lang="ja-JP" altLang="en-US"/>
              <a:t>研究結果</a:t>
            </a:r>
          </a:p>
        </p:txBody>
      </p:sp>
      <p:graphicFrame>
        <p:nvGraphicFramePr>
          <p:cNvPr id="4" name="グラフ 3">
            <a:extLst>
              <a:ext uri="{FF2B5EF4-FFF2-40B4-BE49-F238E27FC236}">
                <a16:creationId xmlns:a16="http://schemas.microsoft.com/office/drawing/2014/main" id="{E00FE48B-9BAA-CA5B-5102-DA5152933456}"/>
              </a:ext>
            </a:extLst>
          </p:cNvPr>
          <p:cNvGraphicFramePr>
            <a:graphicFrameLocks/>
          </p:cNvGraphicFramePr>
          <p:nvPr>
            <p:extLst>
              <p:ext uri="{D42A27DB-BD31-4B8C-83A1-F6EECF244321}">
                <p14:modId xmlns:p14="http://schemas.microsoft.com/office/powerpoint/2010/main" val="2557315593"/>
              </p:ext>
            </p:extLst>
          </p:nvPr>
        </p:nvGraphicFramePr>
        <p:xfrm>
          <a:off x="838200" y="1427967"/>
          <a:ext cx="6035899" cy="33068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グラフ 4">
            <a:extLst>
              <a:ext uri="{FF2B5EF4-FFF2-40B4-BE49-F238E27FC236}">
                <a16:creationId xmlns:a16="http://schemas.microsoft.com/office/drawing/2014/main" id="{DDAB4AC0-0098-851D-0DA2-13AD23191677}"/>
              </a:ext>
            </a:extLst>
          </p:cNvPr>
          <p:cNvGraphicFramePr>
            <a:graphicFrameLocks/>
          </p:cNvGraphicFramePr>
          <p:nvPr>
            <p:extLst>
              <p:ext uri="{D42A27DB-BD31-4B8C-83A1-F6EECF244321}">
                <p14:modId xmlns:p14="http://schemas.microsoft.com/office/powerpoint/2010/main" val="3141827391"/>
              </p:ext>
            </p:extLst>
          </p:nvPr>
        </p:nvGraphicFramePr>
        <p:xfrm>
          <a:off x="7388866" y="912139"/>
          <a:ext cx="3450166" cy="382270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8D180B19-12E2-36B2-A280-4F328819C729}"/>
              </a:ext>
            </a:extLst>
          </p:cNvPr>
          <p:cNvSpPr txBox="1"/>
          <p:nvPr/>
        </p:nvSpPr>
        <p:spPr>
          <a:xfrm>
            <a:off x="1527067" y="5797681"/>
            <a:ext cx="3650358" cy="461665"/>
          </a:xfrm>
          <a:prstGeom prst="rect">
            <a:avLst/>
          </a:prstGeom>
          <a:noFill/>
        </p:spPr>
        <p:txBody>
          <a:bodyPr wrap="none" rtlCol="0">
            <a:spAutoFit/>
          </a:bodyPr>
          <a:lstStyle/>
          <a:p>
            <a:r>
              <a:rPr kumimoji="1" lang="en-US" altLang="ja-JP" sz="2400" dirty="0"/>
              <a:t>AST</a:t>
            </a:r>
            <a:r>
              <a:rPr kumimoji="1" lang="ja-JP" altLang="en-US" sz="2400"/>
              <a:t>構造類似度</a:t>
            </a:r>
            <a:r>
              <a:rPr lang="en-US" altLang="ja-JP" sz="2400" dirty="0"/>
              <a:t>:  0.485</a:t>
            </a:r>
            <a:r>
              <a:rPr lang="ja-JP" altLang="en-US" sz="2400"/>
              <a:t>　</a:t>
            </a:r>
            <a:endParaRPr lang="en-US" altLang="ja-JP" sz="2400" dirty="0"/>
          </a:p>
        </p:txBody>
      </p:sp>
      <p:sp>
        <p:nvSpPr>
          <p:cNvPr id="7" name="テキスト ボックス 6">
            <a:extLst>
              <a:ext uri="{FF2B5EF4-FFF2-40B4-BE49-F238E27FC236}">
                <a16:creationId xmlns:a16="http://schemas.microsoft.com/office/drawing/2014/main" id="{B8AAB45E-8F04-609F-B56D-86B1F3A79E0D}"/>
              </a:ext>
            </a:extLst>
          </p:cNvPr>
          <p:cNvSpPr txBox="1"/>
          <p:nvPr/>
        </p:nvSpPr>
        <p:spPr>
          <a:xfrm>
            <a:off x="7014576" y="5657671"/>
            <a:ext cx="3376245" cy="1200329"/>
          </a:xfrm>
          <a:prstGeom prst="rect">
            <a:avLst/>
          </a:prstGeom>
          <a:noFill/>
        </p:spPr>
        <p:txBody>
          <a:bodyPr wrap="none" rtlCol="0">
            <a:spAutoFit/>
          </a:bodyPr>
          <a:lstStyle/>
          <a:p>
            <a:r>
              <a:rPr lang="ja-JP" altLang="en-US" sz="2400"/>
              <a:t>コサイン類似度</a:t>
            </a:r>
            <a:r>
              <a:rPr lang="en-US" altLang="ja-JP" sz="2400" dirty="0"/>
              <a:t>:  0.935</a:t>
            </a:r>
          </a:p>
          <a:p>
            <a:r>
              <a:rPr lang="en-US" altLang="ja-JP" sz="2400" dirty="0"/>
              <a:t>CFG</a:t>
            </a:r>
            <a:r>
              <a:rPr lang="ja-JP" altLang="en-US" sz="2400"/>
              <a:t>類似度</a:t>
            </a:r>
            <a:r>
              <a:rPr lang="en-US" altLang="ja-JP" sz="2400" dirty="0"/>
              <a:t>:         0.936</a:t>
            </a:r>
          </a:p>
          <a:p>
            <a:endParaRPr kumimoji="1" lang="ja-JP" altLang="en-US" sz="2400"/>
          </a:p>
        </p:txBody>
      </p:sp>
      <p:sp>
        <p:nvSpPr>
          <p:cNvPr id="8" name="テキスト ボックス 7">
            <a:extLst>
              <a:ext uri="{FF2B5EF4-FFF2-40B4-BE49-F238E27FC236}">
                <a16:creationId xmlns:a16="http://schemas.microsoft.com/office/drawing/2014/main" id="{C24FC338-798B-90DB-1219-5FEB6F9F81B0}"/>
              </a:ext>
            </a:extLst>
          </p:cNvPr>
          <p:cNvSpPr txBox="1"/>
          <p:nvPr/>
        </p:nvSpPr>
        <p:spPr>
          <a:xfrm>
            <a:off x="2768252" y="5135671"/>
            <a:ext cx="800219" cy="461665"/>
          </a:xfrm>
          <a:prstGeom prst="rect">
            <a:avLst/>
          </a:prstGeom>
          <a:noFill/>
        </p:spPr>
        <p:txBody>
          <a:bodyPr wrap="none" rtlCol="0">
            <a:spAutoFit/>
          </a:bodyPr>
          <a:lstStyle/>
          <a:p>
            <a:r>
              <a:rPr kumimoji="1" lang="ja-JP" altLang="en-US" sz="2400">
                <a:solidFill>
                  <a:srgbClr val="0070C0"/>
                </a:solidFill>
              </a:rPr>
              <a:t>低い</a:t>
            </a:r>
          </a:p>
        </p:txBody>
      </p:sp>
      <p:sp>
        <p:nvSpPr>
          <p:cNvPr id="9" name="テキスト ボックス 8">
            <a:extLst>
              <a:ext uri="{FF2B5EF4-FFF2-40B4-BE49-F238E27FC236}">
                <a16:creationId xmlns:a16="http://schemas.microsoft.com/office/drawing/2014/main" id="{A81E5A24-8026-F1E9-41D2-842B390886E9}"/>
              </a:ext>
            </a:extLst>
          </p:cNvPr>
          <p:cNvSpPr txBox="1"/>
          <p:nvPr/>
        </p:nvSpPr>
        <p:spPr>
          <a:xfrm>
            <a:off x="8383887" y="5135671"/>
            <a:ext cx="800219" cy="461665"/>
          </a:xfrm>
          <a:prstGeom prst="rect">
            <a:avLst/>
          </a:prstGeom>
          <a:noFill/>
        </p:spPr>
        <p:txBody>
          <a:bodyPr wrap="none" rtlCol="0">
            <a:spAutoFit/>
          </a:bodyPr>
          <a:lstStyle/>
          <a:p>
            <a:r>
              <a:rPr kumimoji="1" lang="ja-JP" altLang="en-US" sz="2400">
                <a:solidFill>
                  <a:srgbClr val="FF0000"/>
                </a:solidFill>
              </a:rPr>
              <a:t>高い</a:t>
            </a:r>
          </a:p>
        </p:txBody>
      </p:sp>
    </p:spTree>
    <p:extLst>
      <p:ext uri="{BB962C8B-B14F-4D97-AF65-F5344CB8AC3E}">
        <p14:creationId xmlns:p14="http://schemas.microsoft.com/office/powerpoint/2010/main" val="3545058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8F9406-9E30-75AC-8EC6-B70A7542B8F1}"/>
              </a:ext>
            </a:extLst>
          </p:cNvPr>
          <p:cNvSpPr>
            <a:spLocks noGrp="1"/>
          </p:cNvSpPr>
          <p:nvPr>
            <p:ph type="title"/>
          </p:nvPr>
        </p:nvSpPr>
        <p:spPr/>
        <p:txBody>
          <a:bodyPr/>
          <a:lstStyle/>
          <a:p>
            <a:r>
              <a:rPr kumimoji="1" lang="ja-JP" altLang="en-US"/>
              <a:t>研究結果</a:t>
            </a:r>
          </a:p>
        </p:txBody>
      </p:sp>
      <p:sp>
        <p:nvSpPr>
          <p:cNvPr id="3" name="コンテンツ プレースホルダー 2">
            <a:extLst>
              <a:ext uri="{FF2B5EF4-FFF2-40B4-BE49-F238E27FC236}">
                <a16:creationId xmlns:a16="http://schemas.microsoft.com/office/drawing/2014/main" id="{3D3787B6-55E2-6829-D65C-0DBCD3C47FFC}"/>
              </a:ext>
            </a:extLst>
          </p:cNvPr>
          <p:cNvSpPr>
            <a:spLocks noGrp="1"/>
          </p:cNvSpPr>
          <p:nvPr>
            <p:ph idx="1"/>
          </p:nvPr>
        </p:nvSpPr>
        <p:spPr/>
        <p:txBody>
          <a:bodyPr/>
          <a:lstStyle/>
          <a:p>
            <a:pPr marL="0" indent="0">
              <a:buNone/>
            </a:pPr>
            <a:r>
              <a:rPr lang="en" altLang="ja-JP" b="1" dirty="0"/>
              <a:t>AST </a:t>
            </a:r>
            <a:r>
              <a:rPr lang="ja-JP" altLang="en-US" b="1"/>
              <a:t>構造に基づく評価</a:t>
            </a:r>
            <a:endParaRPr lang="en-US" altLang="ja-JP" b="1" dirty="0"/>
          </a:p>
          <a:p>
            <a:pPr marL="0" indent="0">
              <a:buNone/>
            </a:pPr>
            <a:endParaRPr lang="ja-JP" altLang="en-US" b="1"/>
          </a:p>
          <a:p>
            <a:pPr marL="0" indent="0">
              <a:buNone/>
            </a:pPr>
            <a:endParaRPr kumimoji="1" lang="ja-JP" altLang="en-US"/>
          </a:p>
        </p:txBody>
      </p:sp>
      <p:pic>
        <p:nvPicPr>
          <p:cNvPr id="8" name="図 7" descr="グラフィカル ユーザー インターフェイス, テキスト, アプリケーション&#10;&#10;自動的に生成された説明">
            <a:extLst>
              <a:ext uri="{FF2B5EF4-FFF2-40B4-BE49-F238E27FC236}">
                <a16:creationId xmlns:a16="http://schemas.microsoft.com/office/drawing/2014/main" id="{97FAECFE-5125-68DE-3EA2-997CDF7E62C0}"/>
              </a:ext>
            </a:extLst>
          </p:cNvPr>
          <p:cNvPicPr>
            <a:picLocks noChangeAspect="1"/>
          </p:cNvPicPr>
          <p:nvPr/>
        </p:nvPicPr>
        <p:blipFill>
          <a:blip r:embed="rId3"/>
          <a:srcRect r="17646"/>
          <a:stretch/>
        </p:blipFill>
        <p:spPr>
          <a:xfrm>
            <a:off x="838200" y="2574030"/>
            <a:ext cx="6119598" cy="1891495"/>
          </a:xfrm>
          <a:prstGeom prst="rect">
            <a:avLst/>
          </a:prstGeom>
          <a:ln>
            <a:solidFill>
              <a:schemeClr val="accent1"/>
            </a:solidFill>
          </a:ln>
        </p:spPr>
      </p:pic>
      <p:sp>
        <p:nvSpPr>
          <p:cNvPr id="9" name="テキスト ボックス 8">
            <a:extLst>
              <a:ext uri="{FF2B5EF4-FFF2-40B4-BE49-F238E27FC236}">
                <a16:creationId xmlns:a16="http://schemas.microsoft.com/office/drawing/2014/main" id="{545C366F-1E77-8A14-E492-A6A25B03B5CF}"/>
              </a:ext>
            </a:extLst>
          </p:cNvPr>
          <p:cNvSpPr txBox="1"/>
          <p:nvPr/>
        </p:nvSpPr>
        <p:spPr>
          <a:xfrm>
            <a:off x="2449286" y="4481060"/>
            <a:ext cx="2262158" cy="369332"/>
          </a:xfrm>
          <a:prstGeom prst="rect">
            <a:avLst/>
          </a:prstGeom>
          <a:noFill/>
        </p:spPr>
        <p:txBody>
          <a:bodyPr wrap="none" rtlCol="0">
            <a:spAutoFit/>
          </a:bodyPr>
          <a:lstStyle/>
          <a:p>
            <a:r>
              <a:rPr kumimoji="1" lang="ja-JP" altLang="en-US"/>
              <a:t>難読化レポートの例</a:t>
            </a:r>
          </a:p>
        </p:txBody>
      </p:sp>
      <p:cxnSp>
        <p:nvCxnSpPr>
          <p:cNvPr id="13" name="直線矢印コネクタ 12">
            <a:extLst>
              <a:ext uri="{FF2B5EF4-FFF2-40B4-BE49-F238E27FC236}">
                <a16:creationId xmlns:a16="http://schemas.microsoft.com/office/drawing/2014/main" id="{5463FA90-570C-3852-E9DD-44CCBBFBFB9B}"/>
              </a:ext>
            </a:extLst>
          </p:cNvPr>
          <p:cNvCxnSpPr>
            <a:cxnSpLocks/>
          </p:cNvCxnSpPr>
          <p:nvPr/>
        </p:nvCxnSpPr>
        <p:spPr>
          <a:xfrm flipV="1">
            <a:off x="3347357" y="3186938"/>
            <a:ext cx="4653643" cy="5863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テキスト ボックス 30">
            <a:extLst>
              <a:ext uri="{FF2B5EF4-FFF2-40B4-BE49-F238E27FC236}">
                <a16:creationId xmlns:a16="http://schemas.microsoft.com/office/drawing/2014/main" id="{CD92376E-C49F-AE4B-AD9F-B5EF1D0F3A9A}"/>
              </a:ext>
            </a:extLst>
          </p:cNvPr>
          <p:cNvSpPr txBox="1"/>
          <p:nvPr/>
        </p:nvSpPr>
        <p:spPr>
          <a:xfrm>
            <a:off x="8124085" y="2893442"/>
            <a:ext cx="2409634" cy="830997"/>
          </a:xfrm>
          <a:prstGeom prst="rect">
            <a:avLst/>
          </a:prstGeom>
          <a:noFill/>
        </p:spPr>
        <p:txBody>
          <a:bodyPr wrap="none" rtlCol="0">
            <a:spAutoFit/>
          </a:bodyPr>
          <a:lstStyle/>
          <a:p>
            <a:r>
              <a:rPr kumimoji="1" lang="ja-JP" altLang="en-US" sz="2400"/>
              <a:t>難読化前</a:t>
            </a:r>
            <a:r>
              <a:rPr lang="ja-JP" altLang="en-US" sz="2400"/>
              <a:t>：</a:t>
            </a:r>
            <a:r>
              <a:rPr lang="en-US" altLang="ja-JP" sz="2400" dirty="0"/>
              <a:t>2462</a:t>
            </a:r>
          </a:p>
          <a:p>
            <a:r>
              <a:rPr kumimoji="1" lang="ja-JP" altLang="en-US" sz="2400"/>
              <a:t>難読化後：</a:t>
            </a:r>
            <a:r>
              <a:rPr kumimoji="1" lang="en-US" altLang="ja-JP" sz="2400" dirty="0"/>
              <a:t>3396</a:t>
            </a:r>
            <a:endParaRPr kumimoji="1" lang="ja-JP" altLang="en-US" sz="2400"/>
          </a:p>
        </p:txBody>
      </p:sp>
      <p:sp>
        <p:nvSpPr>
          <p:cNvPr id="43" name="テキスト ボックス 42">
            <a:extLst>
              <a:ext uri="{FF2B5EF4-FFF2-40B4-BE49-F238E27FC236}">
                <a16:creationId xmlns:a16="http://schemas.microsoft.com/office/drawing/2014/main" id="{562391D6-0536-372E-AA13-DE9A22D97529}"/>
              </a:ext>
            </a:extLst>
          </p:cNvPr>
          <p:cNvSpPr txBox="1"/>
          <p:nvPr/>
        </p:nvSpPr>
        <p:spPr>
          <a:xfrm>
            <a:off x="7460057" y="3773325"/>
            <a:ext cx="2339102" cy="461665"/>
          </a:xfrm>
          <a:prstGeom prst="rect">
            <a:avLst/>
          </a:prstGeom>
          <a:noFill/>
        </p:spPr>
        <p:txBody>
          <a:bodyPr wrap="none" rtlCol="0">
            <a:spAutoFit/>
          </a:bodyPr>
          <a:lstStyle/>
          <a:p>
            <a:r>
              <a:rPr kumimoji="1" lang="ja-JP" altLang="en-US" sz="2400"/>
              <a:t>ノード数が増加</a:t>
            </a:r>
          </a:p>
        </p:txBody>
      </p:sp>
      <p:cxnSp>
        <p:nvCxnSpPr>
          <p:cNvPr id="51" name="直線矢印コネクタ 50">
            <a:extLst>
              <a:ext uri="{FF2B5EF4-FFF2-40B4-BE49-F238E27FC236}">
                <a16:creationId xmlns:a16="http://schemas.microsoft.com/office/drawing/2014/main" id="{1CA58817-AF1E-75D5-9498-8CAE29078FB1}"/>
              </a:ext>
            </a:extLst>
          </p:cNvPr>
          <p:cNvCxnSpPr>
            <a:cxnSpLocks/>
          </p:cNvCxnSpPr>
          <p:nvPr/>
        </p:nvCxnSpPr>
        <p:spPr>
          <a:xfrm>
            <a:off x="2106386" y="4465525"/>
            <a:ext cx="342900" cy="8557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テキスト ボックス 52">
            <a:extLst>
              <a:ext uri="{FF2B5EF4-FFF2-40B4-BE49-F238E27FC236}">
                <a16:creationId xmlns:a16="http://schemas.microsoft.com/office/drawing/2014/main" id="{01FD60B7-12C2-2DE7-FFE2-804EF968C92C}"/>
              </a:ext>
            </a:extLst>
          </p:cNvPr>
          <p:cNvSpPr txBox="1"/>
          <p:nvPr/>
        </p:nvSpPr>
        <p:spPr>
          <a:xfrm>
            <a:off x="1351864" y="5436511"/>
            <a:ext cx="3557384" cy="461665"/>
          </a:xfrm>
          <a:prstGeom prst="rect">
            <a:avLst/>
          </a:prstGeom>
          <a:noFill/>
        </p:spPr>
        <p:txBody>
          <a:bodyPr wrap="none" rtlCol="0">
            <a:spAutoFit/>
          </a:bodyPr>
          <a:lstStyle/>
          <a:p>
            <a:r>
              <a:rPr kumimoji="1" lang="en-US" altLang="ja-JP" sz="2400" dirty="0"/>
              <a:t>AST</a:t>
            </a:r>
            <a:r>
              <a:rPr kumimoji="1" lang="ja-JP" altLang="en-US" sz="2400"/>
              <a:t>構造類似度：</a:t>
            </a:r>
            <a:r>
              <a:rPr kumimoji="1" lang="en-US" altLang="ja-JP" sz="2400" dirty="0"/>
              <a:t>0.5306</a:t>
            </a:r>
            <a:endParaRPr kumimoji="1" lang="ja-JP" altLang="en-US" sz="2400"/>
          </a:p>
        </p:txBody>
      </p:sp>
      <p:sp>
        <p:nvSpPr>
          <p:cNvPr id="59" name="右矢印 58">
            <a:extLst>
              <a:ext uri="{FF2B5EF4-FFF2-40B4-BE49-F238E27FC236}">
                <a16:creationId xmlns:a16="http://schemas.microsoft.com/office/drawing/2014/main" id="{7D916EF9-6FBB-F0EC-D620-CC53C79D46DF}"/>
              </a:ext>
            </a:extLst>
          </p:cNvPr>
          <p:cNvSpPr/>
          <p:nvPr/>
        </p:nvSpPr>
        <p:spPr>
          <a:xfrm>
            <a:off x="5535386" y="5436511"/>
            <a:ext cx="560614"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右矢印 59">
            <a:extLst>
              <a:ext uri="{FF2B5EF4-FFF2-40B4-BE49-F238E27FC236}">
                <a16:creationId xmlns:a16="http://schemas.microsoft.com/office/drawing/2014/main" id="{8A0956C6-6DB8-4D7F-3624-DAB9F9B6E81A}"/>
              </a:ext>
            </a:extLst>
          </p:cNvPr>
          <p:cNvSpPr/>
          <p:nvPr/>
        </p:nvSpPr>
        <p:spPr>
          <a:xfrm rot="5400000">
            <a:off x="8644658" y="4464593"/>
            <a:ext cx="560614"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E81958B0-BACD-B5EF-293C-35C388D04E97}"/>
              </a:ext>
            </a:extLst>
          </p:cNvPr>
          <p:cNvSpPr txBox="1"/>
          <p:nvPr/>
        </p:nvSpPr>
        <p:spPr>
          <a:xfrm>
            <a:off x="7030444" y="5436511"/>
            <a:ext cx="4185761" cy="461665"/>
          </a:xfrm>
          <a:prstGeom prst="rect">
            <a:avLst/>
          </a:prstGeom>
          <a:noFill/>
        </p:spPr>
        <p:txBody>
          <a:bodyPr wrap="none" rtlCol="0">
            <a:spAutoFit/>
          </a:bodyPr>
          <a:lstStyle/>
          <a:p>
            <a:r>
              <a:rPr lang="ja-JP" altLang="en-US" sz="2400" b="1"/>
              <a:t>構造レベルで変形されている</a:t>
            </a:r>
            <a:endParaRPr kumimoji="1" lang="ja-JP" altLang="en-US" sz="2400" b="1"/>
          </a:p>
        </p:txBody>
      </p:sp>
    </p:spTree>
    <p:extLst>
      <p:ext uri="{BB962C8B-B14F-4D97-AF65-F5344CB8AC3E}">
        <p14:creationId xmlns:p14="http://schemas.microsoft.com/office/powerpoint/2010/main" val="2398088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C2FCFA-F668-2118-3EDE-8684F8C54275}"/>
              </a:ext>
            </a:extLst>
          </p:cNvPr>
          <p:cNvSpPr>
            <a:spLocks noGrp="1"/>
          </p:cNvSpPr>
          <p:nvPr>
            <p:ph type="title"/>
          </p:nvPr>
        </p:nvSpPr>
        <p:spPr/>
        <p:txBody>
          <a:bodyPr/>
          <a:lstStyle/>
          <a:p>
            <a:r>
              <a:rPr kumimoji="1" lang="ja-JP" altLang="en-US"/>
              <a:t>研究結果</a:t>
            </a:r>
          </a:p>
        </p:txBody>
      </p:sp>
      <p:pic>
        <p:nvPicPr>
          <p:cNvPr id="6" name="図 5" descr="テキスト&#10;&#10;自動的に生成された説明">
            <a:extLst>
              <a:ext uri="{FF2B5EF4-FFF2-40B4-BE49-F238E27FC236}">
                <a16:creationId xmlns:a16="http://schemas.microsoft.com/office/drawing/2014/main" id="{5F44B7D6-FE43-459A-77C4-C44CA5C88CB0}"/>
              </a:ext>
            </a:extLst>
          </p:cNvPr>
          <p:cNvPicPr>
            <a:picLocks noChangeAspect="1"/>
          </p:cNvPicPr>
          <p:nvPr/>
        </p:nvPicPr>
        <p:blipFill>
          <a:blip r:embed="rId3"/>
          <a:srcRect r="26952"/>
          <a:stretch/>
        </p:blipFill>
        <p:spPr>
          <a:xfrm>
            <a:off x="1477477" y="2521685"/>
            <a:ext cx="4860471" cy="1325563"/>
          </a:xfrm>
          <a:prstGeom prst="rect">
            <a:avLst/>
          </a:prstGeom>
          <a:ln>
            <a:solidFill>
              <a:schemeClr val="accent1">
                <a:shade val="15000"/>
              </a:schemeClr>
            </a:solidFill>
          </a:ln>
        </p:spPr>
      </p:pic>
      <p:sp>
        <p:nvSpPr>
          <p:cNvPr id="8" name="テキスト ボックス 7">
            <a:extLst>
              <a:ext uri="{FF2B5EF4-FFF2-40B4-BE49-F238E27FC236}">
                <a16:creationId xmlns:a16="http://schemas.microsoft.com/office/drawing/2014/main" id="{0628C6DD-A6FA-C49C-6C04-DA2B60961C11}"/>
              </a:ext>
            </a:extLst>
          </p:cNvPr>
          <p:cNvSpPr txBox="1"/>
          <p:nvPr/>
        </p:nvSpPr>
        <p:spPr>
          <a:xfrm>
            <a:off x="538842" y="1690688"/>
            <a:ext cx="6737742" cy="830997"/>
          </a:xfrm>
          <a:prstGeom prst="rect">
            <a:avLst/>
          </a:prstGeom>
          <a:noFill/>
        </p:spPr>
        <p:txBody>
          <a:bodyPr wrap="none" rtlCol="0">
            <a:spAutoFit/>
          </a:bodyPr>
          <a:lstStyle/>
          <a:p>
            <a:r>
              <a:rPr lang="en" altLang="ja-JP" sz="2400" b="1" dirty="0"/>
              <a:t>AST </a:t>
            </a:r>
            <a:r>
              <a:rPr lang="ja-JP" altLang="en-US" sz="2400" b="1"/>
              <a:t>ノード頻度に基づくコサイン類似度の評価</a:t>
            </a:r>
          </a:p>
          <a:p>
            <a:endParaRPr kumimoji="1" lang="ja-JP" altLang="en-US" sz="2400"/>
          </a:p>
        </p:txBody>
      </p:sp>
      <p:cxnSp>
        <p:nvCxnSpPr>
          <p:cNvPr id="10" name="直線矢印コネクタ 9">
            <a:extLst>
              <a:ext uri="{FF2B5EF4-FFF2-40B4-BE49-F238E27FC236}">
                <a16:creationId xmlns:a16="http://schemas.microsoft.com/office/drawing/2014/main" id="{6E2C10D5-6A02-6C9B-F701-8CC8DC886A53}"/>
              </a:ext>
            </a:extLst>
          </p:cNvPr>
          <p:cNvCxnSpPr>
            <a:cxnSpLocks/>
          </p:cNvCxnSpPr>
          <p:nvPr/>
        </p:nvCxnSpPr>
        <p:spPr>
          <a:xfrm flipH="1">
            <a:off x="1975757" y="3739487"/>
            <a:ext cx="179614" cy="7282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20BDE956-DEDA-0C82-E63C-0E98C6D2B55C}"/>
              </a:ext>
            </a:extLst>
          </p:cNvPr>
          <p:cNvSpPr txBox="1"/>
          <p:nvPr/>
        </p:nvSpPr>
        <p:spPr>
          <a:xfrm>
            <a:off x="838200" y="4570484"/>
            <a:ext cx="3584636" cy="830997"/>
          </a:xfrm>
          <a:prstGeom prst="rect">
            <a:avLst/>
          </a:prstGeom>
          <a:noFill/>
        </p:spPr>
        <p:txBody>
          <a:bodyPr wrap="none" rtlCol="0">
            <a:spAutoFit/>
          </a:bodyPr>
          <a:lstStyle/>
          <a:p>
            <a:r>
              <a:rPr kumimoji="1" lang="ja-JP" altLang="en-US" sz="2400"/>
              <a:t>コサイン類似度：</a:t>
            </a:r>
            <a:r>
              <a:rPr kumimoji="1" lang="en-US" altLang="ja-JP" sz="2400" dirty="0"/>
              <a:t>0.9896</a:t>
            </a:r>
          </a:p>
          <a:p>
            <a:r>
              <a:rPr kumimoji="1" lang="ja-JP" altLang="en-US" sz="2400"/>
              <a:t>↪︎ 数値が高い</a:t>
            </a:r>
          </a:p>
        </p:txBody>
      </p:sp>
      <p:sp>
        <p:nvSpPr>
          <p:cNvPr id="12" name="右矢印 11">
            <a:extLst>
              <a:ext uri="{FF2B5EF4-FFF2-40B4-BE49-F238E27FC236}">
                <a16:creationId xmlns:a16="http://schemas.microsoft.com/office/drawing/2014/main" id="{BA6398E5-C57B-7332-CD97-2B6A95FD2D58}"/>
              </a:ext>
            </a:extLst>
          </p:cNvPr>
          <p:cNvSpPr/>
          <p:nvPr/>
        </p:nvSpPr>
        <p:spPr>
          <a:xfrm>
            <a:off x="4757058" y="4900803"/>
            <a:ext cx="723900" cy="4082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B18AB8CC-3D3A-8784-F5DA-69110497928B}"/>
              </a:ext>
            </a:extLst>
          </p:cNvPr>
          <p:cNvSpPr txBox="1"/>
          <p:nvPr/>
        </p:nvSpPr>
        <p:spPr>
          <a:xfrm>
            <a:off x="5830173" y="4874077"/>
            <a:ext cx="3877985" cy="461665"/>
          </a:xfrm>
          <a:prstGeom prst="rect">
            <a:avLst/>
          </a:prstGeom>
          <a:noFill/>
        </p:spPr>
        <p:txBody>
          <a:bodyPr wrap="none" rtlCol="0">
            <a:spAutoFit/>
          </a:bodyPr>
          <a:lstStyle/>
          <a:p>
            <a:r>
              <a:rPr lang="ja-JP" altLang="en-US" sz="2400" b="1"/>
              <a:t>構文要素の分布がほぼ同じ</a:t>
            </a:r>
            <a:endParaRPr kumimoji="1" lang="ja-JP" altLang="en-US" sz="2400" b="1"/>
          </a:p>
        </p:txBody>
      </p:sp>
      <p:sp>
        <p:nvSpPr>
          <p:cNvPr id="15" name="テキスト ボックス 14">
            <a:extLst>
              <a:ext uri="{FF2B5EF4-FFF2-40B4-BE49-F238E27FC236}">
                <a16:creationId xmlns:a16="http://schemas.microsoft.com/office/drawing/2014/main" id="{2B27473F-592A-604F-B2A8-9B682719F05F}"/>
              </a:ext>
            </a:extLst>
          </p:cNvPr>
          <p:cNvSpPr txBox="1"/>
          <p:nvPr/>
        </p:nvSpPr>
        <p:spPr>
          <a:xfrm>
            <a:off x="2856850" y="3949999"/>
            <a:ext cx="2262158" cy="369332"/>
          </a:xfrm>
          <a:prstGeom prst="rect">
            <a:avLst/>
          </a:prstGeom>
          <a:noFill/>
        </p:spPr>
        <p:txBody>
          <a:bodyPr wrap="none" rtlCol="0">
            <a:spAutoFit/>
          </a:bodyPr>
          <a:lstStyle/>
          <a:p>
            <a:r>
              <a:rPr lang="ja-JP" altLang="en-US"/>
              <a:t>難読化レポートの例</a:t>
            </a:r>
            <a:endParaRPr kumimoji="1" lang="ja-JP" altLang="en-US"/>
          </a:p>
        </p:txBody>
      </p:sp>
    </p:spTree>
    <p:extLst>
      <p:ext uri="{BB962C8B-B14F-4D97-AF65-F5344CB8AC3E}">
        <p14:creationId xmlns:p14="http://schemas.microsoft.com/office/powerpoint/2010/main" val="1238829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0C4F36D-FE81-979C-A3D0-50B3898FFE3E}"/>
              </a:ext>
            </a:extLst>
          </p:cNvPr>
          <p:cNvSpPr>
            <a:spLocks noGrp="1"/>
          </p:cNvSpPr>
          <p:nvPr>
            <p:ph idx="1"/>
          </p:nvPr>
        </p:nvSpPr>
        <p:spPr>
          <a:xfrm>
            <a:off x="725010" y="986187"/>
            <a:ext cx="10515600" cy="1325563"/>
          </a:xfrm>
        </p:spPr>
        <p:txBody>
          <a:bodyPr/>
          <a:lstStyle/>
          <a:p>
            <a:pPr marL="0" indent="0">
              <a:buNone/>
            </a:pPr>
            <a:r>
              <a:rPr kumimoji="1" lang="ja-JP" altLang="en-US"/>
              <a:t>どうして</a:t>
            </a:r>
            <a:r>
              <a:rPr kumimoji="1" lang="en-US" altLang="ja-JP" dirty="0"/>
              <a:t>AST</a:t>
            </a:r>
            <a:r>
              <a:rPr kumimoji="1" lang="ja-JP" altLang="en-US"/>
              <a:t>構造類似度が</a:t>
            </a:r>
            <a:r>
              <a:rPr kumimoji="1" lang="ja-JP" altLang="en-US">
                <a:solidFill>
                  <a:srgbClr val="0070C0"/>
                </a:solidFill>
              </a:rPr>
              <a:t>低く</a:t>
            </a:r>
            <a:r>
              <a:rPr kumimoji="1" lang="ja-JP" altLang="en-US"/>
              <a:t>、</a:t>
            </a:r>
            <a:endParaRPr kumimoji="1" lang="en-US" altLang="ja-JP" dirty="0"/>
          </a:p>
          <a:p>
            <a:pPr marL="0" indent="0">
              <a:buNone/>
            </a:pPr>
            <a:r>
              <a:rPr kumimoji="1" lang="ja-JP" altLang="en-US"/>
              <a:t>コサイン類似度の数値が</a:t>
            </a:r>
            <a:r>
              <a:rPr kumimoji="1" lang="ja-JP" altLang="en-US">
                <a:solidFill>
                  <a:srgbClr val="FF0000"/>
                </a:solidFill>
              </a:rPr>
              <a:t>高く</a:t>
            </a:r>
            <a:r>
              <a:rPr kumimoji="1" lang="ja-JP" altLang="en-US"/>
              <a:t>なるのか？</a:t>
            </a:r>
          </a:p>
        </p:txBody>
      </p:sp>
      <p:pic>
        <p:nvPicPr>
          <p:cNvPr id="6146" name="Picture 2" descr="ボールを比較している人のイラスト（男性） | かわいいフリー素材集 いらすとや">
            <a:extLst>
              <a:ext uri="{FF2B5EF4-FFF2-40B4-BE49-F238E27FC236}">
                <a16:creationId xmlns:a16="http://schemas.microsoft.com/office/drawing/2014/main" id="{C2FC5EFE-F57B-B050-4957-6A13C8BD1E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6026" y="260194"/>
            <a:ext cx="3180964" cy="3101279"/>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はてなマーク・クエスチョンマーク | かわいいフリー素材集 いらすとや">
            <a:extLst>
              <a:ext uri="{FF2B5EF4-FFF2-40B4-BE49-F238E27FC236}">
                <a16:creationId xmlns:a16="http://schemas.microsoft.com/office/drawing/2014/main" id="{02974E44-54AD-5953-7A98-D85F546362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7238" y="99299"/>
            <a:ext cx="960069" cy="1223313"/>
          </a:xfrm>
          <a:prstGeom prst="rect">
            <a:avLst/>
          </a:prstGeom>
          <a:noFill/>
          <a:extLst>
            <a:ext uri="{909E8E84-426E-40DD-AFC4-6F175D3DCCD1}">
              <a14:hiddenFill xmlns:a14="http://schemas.microsoft.com/office/drawing/2010/main">
                <a:solidFill>
                  <a:srgbClr val="FFFFFF"/>
                </a:solidFill>
              </a14:hiddenFill>
            </a:ext>
          </a:extLst>
        </p:spPr>
      </p:pic>
      <p:pic>
        <p:nvPicPr>
          <p:cNvPr id="4" name="図 3" descr="テキスト&#10;&#10;自動的に生成された説明">
            <a:extLst>
              <a:ext uri="{FF2B5EF4-FFF2-40B4-BE49-F238E27FC236}">
                <a16:creationId xmlns:a16="http://schemas.microsoft.com/office/drawing/2014/main" id="{4CBA9D73-0111-5FE2-BAAE-B64AF0CB17E1}"/>
              </a:ext>
            </a:extLst>
          </p:cNvPr>
          <p:cNvPicPr>
            <a:picLocks noChangeAspect="1"/>
          </p:cNvPicPr>
          <p:nvPr/>
        </p:nvPicPr>
        <p:blipFill>
          <a:blip r:embed="rId4"/>
          <a:stretch>
            <a:fillRect/>
          </a:stretch>
        </p:blipFill>
        <p:spPr>
          <a:xfrm>
            <a:off x="2856603" y="4081934"/>
            <a:ext cx="1876740" cy="1629505"/>
          </a:xfrm>
          <a:prstGeom prst="rect">
            <a:avLst/>
          </a:prstGeom>
          <a:ln>
            <a:solidFill>
              <a:schemeClr val="accent1">
                <a:shade val="15000"/>
              </a:schemeClr>
            </a:solidFill>
          </a:ln>
        </p:spPr>
      </p:pic>
      <p:pic>
        <p:nvPicPr>
          <p:cNvPr id="5" name="図 4" descr="テキスト&#10;&#10;低い精度で自動的に生成された説明">
            <a:extLst>
              <a:ext uri="{FF2B5EF4-FFF2-40B4-BE49-F238E27FC236}">
                <a16:creationId xmlns:a16="http://schemas.microsoft.com/office/drawing/2014/main" id="{DC79B33D-0ACA-3BBA-F698-22A341CE43A3}"/>
              </a:ext>
            </a:extLst>
          </p:cNvPr>
          <p:cNvPicPr>
            <a:picLocks noChangeAspect="1"/>
          </p:cNvPicPr>
          <p:nvPr/>
        </p:nvPicPr>
        <p:blipFill rotWithShape="1">
          <a:blip r:embed="rId5"/>
          <a:srcRect r="19586"/>
          <a:stretch/>
        </p:blipFill>
        <p:spPr>
          <a:xfrm>
            <a:off x="276928" y="2788775"/>
            <a:ext cx="2265404" cy="1312344"/>
          </a:xfrm>
          <a:prstGeom prst="rect">
            <a:avLst/>
          </a:prstGeom>
          <a:ln>
            <a:solidFill>
              <a:schemeClr val="accent1">
                <a:shade val="15000"/>
              </a:schemeClr>
            </a:solidFill>
          </a:ln>
        </p:spPr>
      </p:pic>
      <p:sp>
        <p:nvSpPr>
          <p:cNvPr id="6" name="曲折矢印 5">
            <a:extLst>
              <a:ext uri="{FF2B5EF4-FFF2-40B4-BE49-F238E27FC236}">
                <a16:creationId xmlns:a16="http://schemas.microsoft.com/office/drawing/2014/main" id="{1D92904A-D817-399A-C0BF-0C638F5A07CF}"/>
              </a:ext>
            </a:extLst>
          </p:cNvPr>
          <p:cNvSpPr/>
          <p:nvPr/>
        </p:nvSpPr>
        <p:spPr>
          <a:xfrm flipV="1">
            <a:off x="5698123" y="4328238"/>
            <a:ext cx="537606" cy="507989"/>
          </a:xfrm>
          <a:prstGeom prst="bentArrow">
            <a:avLst>
              <a:gd name="adj1" fmla="val 5474"/>
              <a:gd name="adj2" fmla="val 16610"/>
              <a:gd name="adj3" fmla="val 39263"/>
              <a:gd name="adj4" fmla="val 18601"/>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テキスト ボックス 6">
            <a:extLst>
              <a:ext uri="{FF2B5EF4-FFF2-40B4-BE49-F238E27FC236}">
                <a16:creationId xmlns:a16="http://schemas.microsoft.com/office/drawing/2014/main" id="{545BB5B7-FC2A-10F5-D092-DB08D0D3142A}"/>
              </a:ext>
            </a:extLst>
          </p:cNvPr>
          <p:cNvSpPr txBox="1"/>
          <p:nvPr/>
        </p:nvSpPr>
        <p:spPr>
          <a:xfrm>
            <a:off x="5037142" y="3800489"/>
            <a:ext cx="6813084" cy="461665"/>
          </a:xfrm>
          <a:prstGeom prst="rect">
            <a:avLst/>
          </a:prstGeom>
          <a:noFill/>
        </p:spPr>
        <p:txBody>
          <a:bodyPr wrap="none" rtlCol="0">
            <a:spAutoFit/>
          </a:bodyPr>
          <a:lstStyle/>
          <a:p>
            <a:r>
              <a:rPr kumimoji="1" lang="ja-JP" altLang="en-US" sz="2400" b="1"/>
              <a:t>変化</a:t>
            </a:r>
            <a:r>
              <a:rPr kumimoji="1" lang="ja-JP" altLang="en-US" sz="2400"/>
              <a:t>：</a:t>
            </a:r>
            <a:r>
              <a:rPr lang="en" altLang="ja-JP" sz="2400" dirty="0"/>
              <a:t>AST</a:t>
            </a:r>
            <a:r>
              <a:rPr lang="ja-JP" altLang="en-US" sz="2400"/>
              <a:t>の階層が増えた、</a:t>
            </a:r>
            <a:r>
              <a:rPr lang="en" altLang="ja-JP" sz="2400" dirty="0" err="1"/>
              <a:t>FunctionDef</a:t>
            </a:r>
            <a:r>
              <a:rPr lang="ja-JP" altLang="en-US" sz="2400"/>
              <a:t>が追加</a:t>
            </a:r>
            <a:endParaRPr lang="en-US" altLang="ja-JP" sz="2400" dirty="0"/>
          </a:p>
        </p:txBody>
      </p:sp>
      <p:sp>
        <p:nvSpPr>
          <p:cNvPr id="9" name="テキスト ボックス 8">
            <a:extLst>
              <a:ext uri="{FF2B5EF4-FFF2-40B4-BE49-F238E27FC236}">
                <a16:creationId xmlns:a16="http://schemas.microsoft.com/office/drawing/2014/main" id="{7C70ECF1-FD6D-8C43-1C80-D3857A9C5E10}"/>
              </a:ext>
            </a:extLst>
          </p:cNvPr>
          <p:cNvSpPr txBox="1"/>
          <p:nvPr/>
        </p:nvSpPr>
        <p:spPr>
          <a:xfrm>
            <a:off x="6348919" y="4463270"/>
            <a:ext cx="6098720" cy="461665"/>
          </a:xfrm>
          <a:prstGeom prst="rect">
            <a:avLst/>
          </a:prstGeom>
          <a:noFill/>
        </p:spPr>
        <p:txBody>
          <a:bodyPr wrap="square">
            <a:spAutoFit/>
          </a:bodyPr>
          <a:lstStyle/>
          <a:p>
            <a:r>
              <a:rPr lang="ja-JP" altLang="en-US" sz="2400" u="sng"/>
              <a:t>ツリー構造は変わる</a:t>
            </a:r>
          </a:p>
        </p:txBody>
      </p:sp>
      <p:sp>
        <p:nvSpPr>
          <p:cNvPr id="10" name="曲折矢印 9">
            <a:extLst>
              <a:ext uri="{FF2B5EF4-FFF2-40B4-BE49-F238E27FC236}">
                <a16:creationId xmlns:a16="http://schemas.microsoft.com/office/drawing/2014/main" id="{777D0BBB-7E03-0997-47BE-D684B493D40B}"/>
              </a:ext>
            </a:extLst>
          </p:cNvPr>
          <p:cNvSpPr/>
          <p:nvPr/>
        </p:nvSpPr>
        <p:spPr>
          <a:xfrm flipV="1">
            <a:off x="1562030" y="4690465"/>
            <a:ext cx="633592" cy="689906"/>
          </a:xfrm>
          <a:prstGeom prst="bentArrow">
            <a:avLst>
              <a:gd name="adj1" fmla="val 18360"/>
              <a:gd name="adj2" fmla="val 33361"/>
              <a:gd name="adj3" fmla="val 39263"/>
              <a:gd name="adj4" fmla="val 186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テキスト ボックス 11">
            <a:extLst>
              <a:ext uri="{FF2B5EF4-FFF2-40B4-BE49-F238E27FC236}">
                <a16:creationId xmlns:a16="http://schemas.microsoft.com/office/drawing/2014/main" id="{F272F2A8-FB13-98D6-870E-7A68691940D8}"/>
              </a:ext>
            </a:extLst>
          </p:cNvPr>
          <p:cNvSpPr txBox="1"/>
          <p:nvPr/>
        </p:nvSpPr>
        <p:spPr>
          <a:xfrm>
            <a:off x="5394324" y="5126051"/>
            <a:ext cx="6098720" cy="830997"/>
          </a:xfrm>
          <a:prstGeom prst="rect">
            <a:avLst/>
          </a:prstGeom>
          <a:noFill/>
        </p:spPr>
        <p:txBody>
          <a:bodyPr wrap="square">
            <a:spAutoFit/>
          </a:bodyPr>
          <a:lstStyle/>
          <a:p>
            <a:r>
              <a:rPr lang="en" altLang="ja-JP" sz="2400" dirty="0"/>
              <a:t>If</a:t>
            </a:r>
            <a:r>
              <a:rPr lang="ja-JP" altLang="en-US" sz="2400"/>
              <a:t>、</a:t>
            </a:r>
            <a:r>
              <a:rPr lang="en" altLang="ja-JP" sz="2400" dirty="0"/>
              <a:t>Call</a:t>
            </a:r>
            <a:r>
              <a:rPr lang="ja-JP" altLang="en-US" sz="2400"/>
              <a:t>、</a:t>
            </a:r>
            <a:r>
              <a:rPr lang="en" altLang="ja-JP" sz="2400" dirty="0"/>
              <a:t>Name</a:t>
            </a:r>
          </a:p>
          <a:p>
            <a:r>
              <a:rPr lang="ja-JP" altLang="en-US" sz="2400"/>
              <a:t>などのノード種類は同じ。</a:t>
            </a:r>
          </a:p>
        </p:txBody>
      </p:sp>
      <p:sp>
        <p:nvSpPr>
          <p:cNvPr id="13" name="曲折矢印 12">
            <a:extLst>
              <a:ext uri="{FF2B5EF4-FFF2-40B4-BE49-F238E27FC236}">
                <a16:creationId xmlns:a16="http://schemas.microsoft.com/office/drawing/2014/main" id="{3400F25A-6A54-11CD-D06D-30A16CAA9919}"/>
              </a:ext>
            </a:extLst>
          </p:cNvPr>
          <p:cNvSpPr/>
          <p:nvPr/>
        </p:nvSpPr>
        <p:spPr>
          <a:xfrm flipV="1">
            <a:off x="5811313" y="5948535"/>
            <a:ext cx="537606" cy="507989"/>
          </a:xfrm>
          <a:prstGeom prst="bentArrow">
            <a:avLst>
              <a:gd name="adj1" fmla="val 5474"/>
              <a:gd name="adj2" fmla="val 16610"/>
              <a:gd name="adj3" fmla="val 39263"/>
              <a:gd name="adj4" fmla="val 1860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テキスト ボックス 14">
            <a:extLst>
              <a:ext uri="{FF2B5EF4-FFF2-40B4-BE49-F238E27FC236}">
                <a16:creationId xmlns:a16="http://schemas.microsoft.com/office/drawing/2014/main" id="{4753A5D5-26BD-4F71-B2D8-82003A1D67DC}"/>
              </a:ext>
            </a:extLst>
          </p:cNvPr>
          <p:cNvSpPr txBox="1"/>
          <p:nvPr/>
        </p:nvSpPr>
        <p:spPr>
          <a:xfrm>
            <a:off x="6399142" y="6118292"/>
            <a:ext cx="3665049" cy="461665"/>
          </a:xfrm>
          <a:prstGeom prst="rect">
            <a:avLst/>
          </a:prstGeom>
          <a:noFill/>
        </p:spPr>
        <p:txBody>
          <a:bodyPr wrap="square">
            <a:spAutoFit/>
          </a:bodyPr>
          <a:lstStyle/>
          <a:p>
            <a:r>
              <a:rPr lang="ja-JP" altLang="en-US" sz="2400" u="sng"/>
              <a:t>分布があまり変わらない</a:t>
            </a:r>
          </a:p>
        </p:txBody>
      </p:sp>
    </p:spTree>
    <p:extLst>
      <p:ext uri="{BB962C8B-B14F-4D97-AF65-F5344CB8AC3E}">
        <p14:creationId xmlns:p14="http://schemas.microsoft.com/office/powerpoint/2010/main" val="2104663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80D221-B88F-905E-EBF4-FBD24B12706D}"/>
              </a:ext>
            </a:extLst>
          </p:cNvPr>
          <p:cNvSpPr>
            <a:spLocks noGrp="1"/>
          </p:cNvSpPr>
          <p:nvPr>
            <p:ph type="title"/>
          </p:nvPr>
        </p:nvSpPr>
        <p:spPr>
          <a:xfrm>
            <a:off x="604157" y="7528"/>
            <a:ext cx="10515600" cy="1325563"/>
          </a:xfrm>
        </p:spPr>
        <p:txBody>
          <a:bodyPr/>
          <a:lstStyle/>
          <a:p>
            <a:r>
              <a:rPr kumimoji="1" lang="ja-JP" altLang="en-US"/>
              <a:t>研究結果</a:t>
            </a:r>
          </a:p>
        </p:txBody>
      </p:sp>
      <p:sp>
        <p:nvSpPr>
          <p:cNvPr id="3" name="コンテンツ プレースホルダー 2">
            <a:extLst>
              <a:ext uri="{FF2B5EF4-FFF2-40B4-BE49-F238E27FC236}">
                <a16:creationId xmlns:a16="http://schemas.microsoft.com/office/drawing/2014/main" id="{4057B630-E5E8-2BCB-DC9B-1BA19576EA9B}"/>
              </a:ext>
            </a:extLst>
          </p:cNvPr>
          <p:cNvSpPr>
            <a:spLocks noGrp="1"/>
          </p:cNvSpPr>
          <p:nvPr>
            <p:ph idx="1"/>
          </p:nvPr>
        </p:nvSpPr>
        <p:spPr>
          <a:xfrm>
            <a:off x="279167" y="1094991"/>
            <a:ext cx="10515600" cy="493032"/>
          </a:xfrm>
        </p:spPr>
        <p:txBody>
          <a:bodyPr/>
          <a:lstStyle/>
          <a:p>
            <a:pPr marL="0" indent="0">
              <a:buNone/>
            </a:pPr>
            <a:r>
              <a:rPr lang="en" altLang="ja-JP" b="1" dirty="0"/>
              <a:t>CFG </a:t>
            </a:r>
            <a:r>
              <a:rPr lang="ja-JP" altLang="en-US" b="1"/>
              <a:t>類似度による評価</a:t>
            </a:r>
            <a:endParaRPr lang="en-US" altLang="ja-JP" b="1" dirty="0"/>
          </a:p>
          <a:p>
            <a:pPr marL="0" indent="0">
              <a:buNone/>
            </a:pPr>
            <a:endParaRPr lang="ja-JP" altLang="en-US" b="1"/>
          </a:p>
          <a:p>
            <a:pPr marL="0" indent="0">
              <a:buNone/>
            </a:pPr>
            <a:endParaRPr kumimoji="1" lang="ja-JP" altLang="en-US"/>
          </a:p>
        </p:txBody>
      </p:sp>
      <p:pic>
        <p:nvPicPr>
          <p:cNvPr id="7" name="図 6" descr="アプリケーション が含まれている画像&#10;&#10;自動的に生成された説明">
            <a:extLst>
              <a:ext uri="{FF2B5EF4-FFF2-40B4-BE49-F238E27FC236}">
                <a16:creationId xmlns:a16="http://schemas.microsoft.com/office/drawing/2014/main" id="{BD32278A-E3C0-0D3F-D24C-4FB55AAF5507}"/>
              </a:ext>
            </a:extLst>
          </p:cNvPr>
          <p:cNvPicPr>
            <a:picLocks noChangeAspect="1"/>
          </p:cNvPicPr>
          <p:nvPr/>
        </p:nvPicPr>
        <p:blipFill>
          <a:blip r:embed="rId3"/>
          <a:stretch>
            <a:fillRect/>
          </a:stretch>
        </p:blipFill>
        <p:spPr>
          <a:xfrm>
            <a:off x="987660" y="1690968"/>
            <a:ext cx="9971314" cy="1628976"/>
          </a:xfrm>
          <a:prstGeom prst="rect">
            <a:avLst/>
          </a:prstGeom>
          <a:ln>
            <a:solidFill>
              <a:schemeClr val="tx1"/>
            </a:solidFill>
          </a:ln>
        </p:spPr>
      </p:pic>
      <p:sp>
        <p:nvSpPr>
          <p:cNvPr id="9" name="テキスト ボックス 8">
            <a:extLst>
              <a:ext uri="{FF2B5EF4-FFF2-40B4-BE49-F238E27FC236}">
                <a16:creationId xmlns:a16="http://schemas.microsoft.com/office/drawing/2014/main" id="{D2ED9C46-725B-4D7E-D609-AFDF855F8724}"/>
              </a:ext>
            </a:extLst>
          </p:cNvPr>
          <p:cNvSpPr txBox="1"/>
          <p:nvPr/>
        </p:nvSpPr>
        <p:spPr>
          <a:xfrm>
            <a:off x="433609" y="4185490"/>
            <a:ext cx="5521558" cy="2677656"/>
          </a:xfrm>
          <a:prstGeom prst="rect">
            <a:avLst/>
          </a:prstGeom>
          <a:noFill/>
        </p:spPr>
        <p:txBody>
          <a:bodyPr wrap="square" rtlCol="0">
            <a:spAutoFit/>
          </a:bodyPr>
          <a:lstStyle/>
          <a:p>
            <a:r>
              <a:rPr lang="en-US" altLang="ja-JP" sz="2400" dirty="0"/>
              <a:t>Before{'</a:t>
            </a:r>
            <a:r>
              <a:rPr lang="en-US" altLang="ja-JP" sz="2400" dirty="0" err="1"/>
              <a:t>func</a:t>
            </a:r>
            <a:r>
              <a:rPr lang="en-US" altLang="ja-JP" sz="2400" dirty="0"/>
              <a:t>': 8, 'if': 29, 'while': 4, 'break': 3, '</a:t>
            </a:r>
            <a:r>
              <a:rPr lang="en-US" altLang="ja-JP" sz="2400" dirty="0" err="1"/>
              <a:t>max_depth</a:t>
            </a:r>
            <a:r>
              <a:rPr lang="en-US" altLang="ja-JP" sz="2400" dirty="0"/>
              <a:t>': 7}</a:t>
            </a:r>
          </a:p>
          <a:p>
            <a:endParaRPr lang="en-US" altLang="ja-JP" sz="2400" dirty="0"/>
          </a:p>
          <a:p>
            <a:r>
              <a:rPr lang="en-US" altLang="ja-JP" sz="2400" dirty="0"/>
              <a:t>after{'</a:t>
            </a:r>
            <a:r>
              <a:rPr lang="en-US" altLang="ja-JP" sz="2400" dirty="0" err="1"/>
              <a:t>func</a:t>
            </a:r>
            <a:r>
              <a:rPr lang="en-US" altLang="ja-JP" sz="2400" dirty="0"/>
              <a:t>': 17, 'for': 3, 'if': 46, 'return': 15, 'while':5,'continue':5,'try':2,'break': 4,'max_depth': 4}</a:t>
            </a:r>
          </a:p>
          <a:p>
            <a:endParaRPr lang="en-US" altLang="ja-JP" sz="2400" dirty="0"/>
          </a:p>
        </p:txBody>
      </p:sp>
      <p:sp>
        <p:nvSpPr>
          <p:cNvPr id="10" name="曲折矢印 9">
            <a:extLst>
              <a:ext uri="{FF2B5EF4-FFF2-40B4-BE49-F238E27FC236}">
                <a16:creationId xmlns:a16="http://schemas.microsoft.com/office/drawing/2014/main" id="{E26F8A2D-6751-4C42-CCD4-17010DD950D5}"/>
              </a:ext>
            </a:extLst>
          </p:cNvPr>
          <p:cNvSpPr/>
          <p:nvPr/>
        </p:nvSpPr>
        <p:spPr>
          <a:xfrm>
            <a:off x="536801" y="2614531"/>
            <a:ext cx="440872" cy="769052"/>
          </a:xfrm>
          <a:prstGeom prst="bentArrow">
            <a:avLst>
              <a:gd name="adj1" fmla="val 9197"/>
              <a:gd name="adj2" fmla="val 28098"/>
              <a:gd name="adj3" fmla="val 42778"/>
              <a:gd name="adj4" fmla="val 3189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1" name="テキスト ボックス 10">
            <a:extLst>
              <a:ext uri="{FF2B5EF4-FFF2-40B4-BE49-F238E27FC236}">
                <a16:creationId xmlns:a16="http://schemas.microsoft.com/office/drawing/2014/main" id="{885A94F8-2A88-7FA3-807F-894034E2AB32}"/>
              </a:ext>
            </a:extLst>
          </p:cNvPr>
          <p:cNvSpPr txBox="1"/>
          <p:nvPr/>
        </p:nvSpPr>
        <p:spPr>
          <a:xfrm>
            <a:off x="124725" y="3583833"/>
            <a:ext cx="5830442" cy="677108"/>
          </a:xfrm>
          <a:prstGeom prst="rect">
            <a:avLst/>
          </a:prstGeom>
          <a:noFill/>
        </p:spPr>
        <p:txBody>
          <a:bodyPr wrap="none" rtlCol="0">
            <a:spAutoFit/>
          </a:bodyPr>
          <a:lstStyle/>
          <a:p>
            <a:r>
              <a:rPr kumimoji="1" lang="ja-JP" altLang="en-US" sz="2000"/>
              <a:t>難読化前と難読化後の</a:t>
            </a:r>
            <a:r>
              <a:rPr kumimoji="1" lang="en-US" altLang="ja-JP" sz="2000" dirty="0"/>
              <a:t>CFG</a:t>
            </a:r>
            <a:r>
              <a:rPr kumimoji="1" lang="ja-JP" altLang="en-US" sz="2000"/>
              <a:t>特徴量を表している。</a:t>
            </a:r>
          </a:p>
          <a:p>
            <a:endParaRPr kumimoji="1" lang="ja-JP" altLang="en-US"/>
          </a:p>
        </p:txBody>
      </p:sp>
      <p:sp>
        <p:nvSpPr>
          <p:cNvPr id="12" name="テキスト ボックス 11">
            <a:extLst>
              <a:ext uri="{FF2B5EF4-FFF2-40B4-BE49-F238E27FC236}">
                <a16:creationId xmlns:a16="http://schemas.microsoft.com/office/drawing/2014/main" id="{A0BC9C28-474D-502F-6A83-C4B4EE5E257B}"/>
              </a:ext>
            </a:extLst>
          </p:cNvPr>
          <p:cNvSpPr txBox="1"/>
          <p:nvPr/>
        </p:nvSpPr>
        <p:spPr>
          <a:xfrm>
            <a:off x="6572250" y="4343400"/>
            <a:ext cx="4657044" cy="1938992"/>
          </a:xfrm>
          <a:prstGeom prst="rect">
            <a:avLst/>
          </a:prstGeom>
          <a:noFill/>
        </p:spPr>
        <p:txBody>
          <a:bodyPr wrap="none" rtlCol="0">
            <a:spAutoFit/>
          </a:bodyPr>
          <a:lstStyle/>
          <a:p>
            <a:pPr marL="342900" indent="-342900">
              <a:buFont typeface="Arial" panose="020B0604020202020204" pitchFamily="34" charset="0"/>
              <a:buChar char="•"/>
            </a:pPr>
            <a:r>
              <a:rPr lang="ja-JP" altLang="en-US" sz="2400"/>
              <a:t>関数数が増加（</a:t>
            </a:r>
            <a:r>
              <a:rPr lang="en-US" altLang="ja-JP" sz="2400" dirty="0"/>
              <a:t>8 → 17</a:t>
            </a:r>
            <a:r>
              <a:rPr lang="ja-JP" altLang="en-US" sz="2400"/>
              <a:t>）</a:t>
            </a:r>
          </a:p>
          <a:p>
            <a:pPr marL="342900" indent="-342900">
              <a:buFont typeface="Arial" panose="020B0604020202020204" pitchFamily="34" charset="0"/>
              <a:buChar char="•"/>
            </a:pPr>
            <a:r>
              <a:rPr lang="en" altLang="ja-JP" sz="2400" dirty="0"/>
              <a:t>if</a:t>
            </a:r>
            <a:r>
              <a:rPr lang="ja-JP" altLang="en-US" sz="2400"/>
              <a:t>が増加（</a:t>
            </a:r>
            <a:r>
              <a:rPr lang="en-US" altLang="ja-JP" sz="2400" dirty="0"/>
              <a:t>29 → 46</a:t>
            </a:r>
            <a:r>
              <a:rPr lang="ja-JP" altLang="en-US" sz="2400"/>
              <a:t>）</a:t>
            </a:r>
          </a:p>
          <a:p>
            <a:pPr marL="342900" indent="-342900">
              <a:buFont typeface="Arial" panose="020B0604020202020204" pitchFamily="34" charset="0"/>
              <a:buChar char="•"/>
            </a:pPr>
            <a:r>
              <a:rPr lang="en" altLang="ja-JP" sz="2400" dirty="0"/>
              <a:t>return / continue / try </a:t>
            </a:r>
            <a:r>
              <a:rPr lang="ja-JP" altLang="en-US" sz="2400"/>
              <a:t>が追加</a:t>
            </a:r>
          </a:p>
          <a:p>
            <a:pPr marL="342900" indent="-342900">
              <a:buFont typeface="Arial" panose="020B0604020202020204" pitchFamily="34" charset="0"/>
              <a:buChar char="•"/>
            </a:pPr>
            <a:r>
              <a:rPr lang="en" altLang="ja-JP" sz="2400" dirty="0" err="1"/>
              <a:t>max_depth</a:t>
            </a:r>
            <a:r>
              <a:rPr lang="ja-JP" altLang="en-US" sz="2400"/>
              <a:t>が減少（</a:t>
            </a:r>
            <a:r>
              <a:rPr lang="en-US" altLang="ja-JP" sz="2400" dirty="0"/>
              <a:t>7 → 4</a:t>
            </a:r>
            <a:r>
              <a:rPr lang="ja-JP" altLang="en-US" sz="2400"/>
              <a:t>）</a:t>
            </a:r>
          </a:p>
          <a:p>
            <a:endParaRPr kumimoji="1" lang="ja-JP" altLang="en-US" sz="2400"/>
          </a:p>
        </p:txBody>
      </p:sp>
      <p:sp>
        <p:nvSpPr>
          <p:cNvPr id="13" name="テキスト ボックス 12">
            <a:extLst>
              <a:ext uri="{FF2B5EF4-FFF2-40B4-BE49-F238E27FC236}">
                <a16:creationId xmlns:a16="http://schemas.microsoft.com/office/drawing/2014/main" id="{FE424B40-5E5C-731F-F367-2AC93EE066F6}"/>
              </a:ext>
            </a:extLst>
          </p:cNvPr>
          <p:cNvSpPr txBox="1"/>
          <p:nvPr/>
        </p:nvSpPr>
        <p:spPr>
          <a:xfrm>
            <a:off x="5536967" y="1275891"/>
            <a:ext cx="2262158" cy="369332"/>
          </a:xfrm>
          <a:prstGeom prst="rect">
            <a:avLst/>
          </a:prstGeom>
          <a:noFill/>
        </p:spPr>
        <p:txBody>
          <a:bodyPr wrap="none" rtlCol="0">
            <a:spAutoFit/>
          </a:bodyPr>
          <a:lstStyle/>
          <a:p>
            <a:r>
              <a:rPr lang="ja-JP" altLang="en-US"/>
              <a:t>難読化レポートの例</a:t>
            </a:r>
            <a:endParaRPr kumimoji="1" lang="ja-JP" altLang="en-US"/>
          </a:p>
        </p:txBody>
      </p:sp>
    </p:spTree>
    <p:extLst>
      <p:ext uri="{BB962C8B-B14F-4D97-AF65-F5344CB8AC3E}">
        <p14:creationId xmlns:p14="http://schemas.microsoft.com/office/powerpoint/2010/main" val="3887835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3DA2B70-D669-BA9A-21B4-8F498369BDE6}"/>
              </a:ext>
            </a:extLst>
          </p:cNvPr>
          <p:cNvSpPr txBox="1"/>
          <p:nvPr/>
        </p:nvSpPr>
        <p:spPr>
          <a:xfrm>
            <a:off x="4067376" y="3658051"/>
            <a:ext cx="7858125" cy="3046988"/>
          </a:xfrm>
          <a:prstGeom prst="rect">
            <a:avLst/>
          </a:prstGeom>
          <a:noFill/>
        </p:spPr>
        <p:txBody>
          <a:bodyPr wrap="square" rtlCol="0">
            <a:spAutoFit/>
          </a:bodyPr>
          <a:lstStyle/>
          <a:p>
            <a:pPr>
              <a:buFont typeface="Arial" panose="020B0604020202020204" pitchFamily="34" charset="0"/>
              <a:buChar char="•"/>
            </a:pPr>
            <a:r>
              <a:rPr lang="ja-JP" altLang="en-US" sz="2400"/>
              <a:t>分岐数・ループ数が増加する例はあるが、</a:t>
            </a:r>
            <a:br>
              <a:rPr lang="ja-JP" altLang="en-US" sz="2400"/>
            </a:br>
            <a:r>
              <a:rPr lang="en" altLang="ja-JP" sz="2400" b="1" dirty="0"/>
              <a:t>CFG </a:t>
            </a:r>
            <a:r>
              <a:rPr lang="ja-JP" altLang="en-US" sz="2400" b="1"/>
              <a:t>類似度が極端に低下するケースは少ない</a:t>
            </a:r>
            <a:endParaRPr lang="ja-JP" altLang="en-US" sz="2400"/>
          </a:p>
          <a:p>
            <a:pPr>
              <a:buFont typeface="Arial" panose="020B0604020202020204" pitchFamily="34" charset="0"/>
              <a:buChar char="•"/>
            </a:pPr>
            <a:r>
              <a:rPr lang="ja-JP" altLang="en-US" sz="2400"/>
              <a:t>強い難読化を行っても、</a:t>
            </a:r>
            <a:br>
              <a:rPr lang="ja-JP" altLang="en-US" sz="2400"/>
            </a:br>
            <a:r>
              <a:rPr lang="ja-JP" altLang="en-US" sz="2400" b="1"/>
              <a:t>一定以上の類似度を維持</a:t>
            </a:r>
            <a:endParaRPr lang="ja-JP" altLang="en-US" sz="2400"/>
          </a:p>
          <a:p>
            <a:pPr marL="0" indent="0">
              <a:buNone/>
            </a:pPr>
            <a:r>
              <a:rPr lang="ja-JP" altLang="en-US" sz="2400"/>
              <a:t>→ </a:t>
            </a:r>
            <a:r>
              <a:rPr lang="ja-JP" altLang="en-US" sz="2400" b="1"/>
              <a:t>制御フローの意味的構造は保持されている</a:t>
            </a:r>
            <a:br>
              <a:rPr lang="ja-JP" altLang="en-US" sz="2400"/>
            </a:br>
            <a:r>
              <a:rPr lang="ja-JP" altLang="en-US" sz="2400"/>
              <a:t>→ </a:t>
            </a:r>
            <a:r>
              <a:rPr lang="en" altLang="ja-JP" sz="2400" dirty="0"/>
              <a:t>ChatGPT </a:t>
            </a:r>
            <a:r>
              <a:rPr lang="ja-JP" altLang="en-US" sz="2400"/>
              <a:t>は制御構造を冗長化できるが、</a:t>
            </a:r>
            <a:br>
              <a:rPr lang="ja-JP" altLang="en-US" sz="2400"/>
            </a:br>
            <a:r>
              <a:rPr lang="ja-JP" altLang="en-US" sz="2400"/>
              <a:t>　</a:t>
            </a:r>
            <a:r>
              <a:rPr lang="ja-JP" altLang="en-US" sz="2400" b="1"/>
              <a:t>本質的な制御フローの変換は困難</a:t>
            </a:r>
            <a:endParaRPr lang="ja-JP" altLang="en-US" sz="2400"/>
          </a:p>
          <a:p>
            <a:endParaRPr kumimoji="1" lang="ja-JP" altLang="en-US" sz="2400"/>
          </a:p>
        </p:txBody>
      </p:sp>
      <p:sp>
        <p:nvSpPr>
          <p:cNvPr id="5" name="タイトル 1">
            <a:extLst>
              <a:ext uri="{FF2B5EF4-FFF2-40B4-BE49-F238E27FC236}">
                <a16:creationId xmlns:a16="http://schemas.microsoft.com/office/drawing/2014/main" id="{EC066E63-A644-4BA1-272B-76D37D49FA13}"/>
              </a:ext>
            </a:extLst>
          </p:cNvPr>
          <p:cNvSpPr txBox="1">
            <a:spLocks/>
          </p:cNvSpPr>
          <p:nvPr/>
        </p:nvSpPr>
        <p:spPr>
          <a:xfrm>
            <a:off x="604157" y="752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a:t>研究結果</a:t>
            </a:r>
          </a:p>
        </p:txBody>
      </p:sp>
      <p:sp>
        <p:nvSpPr>
          <p:cNvPr id="6" name="コンテンツ プレースホルダー 2">
            <a:extLst>
              <a:ext uri="{FF2B5EF4-FFF2-40B4-BE49-F238E27FC236}">
                <a16:creationId xmlns:a16="http://schemas.microsoft.com/office/drawing/2014/main" id="{688D74E5-F415-5884-B02A-FFFEB08DD24B}"/>
              </a:ext>
            </a:extLst>
          </p:cNvPr>
          <p:cNvSpPr txBox="1">
            <a:spLocks/>
          </p:cNvSpPr>
          <p:nvPr/>
        </p:nvSpPr>
        <p:spPr>
          <a:xfrm>
            <a:off x="279167" y="1094991"/>
            <a:ext cx="10515600" cy="493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 altLang="ja-JP" b="1"/>
              <a:t>CFG </a:t>
            </a:r>
            <a:r>
              <a:rPr lang="ja-JP" altLang="en-US" b="1"/>
              <a:t>類似度による評価</a:t>
            </a:r>
            <a:endParaRPr lang="en-US" altLang="ja-JP" b="1"/>
          </a:p>
          <a:p>
            <a:pPr marL="0" indent="0">
              <a:buFont typeface="Arial" panose="020B0604020202020204" pitchFamily="34" charset="0"/>
              <a:buNone/>
            </a:pPr>
            <a:endParaRPr lang="ja-JP" altLang="en-US" b="1"/>
          </a:p>
          <a:p>
            <a:pPr marL="0" indent="0">
              <a:buFont typeface="Arial" panose="020B0604020202020204" pitchFamily="34" charset="0"/>
              <a:buNone/>
            </a:pPr>
            <a:endParaRPr lang="ja-JP" altLang="en-US"/>
          </a:p>
        </p:txBody>
      </p:sp>
      <p:pic>
        <p:nvPicPr>
          <p:cNvPr id="7" name="図 6" descr="アプリケーション が含まれている画像&#10;&#10;自動的に生成された説明">
            <a:extLst>
              <a:ext uri="{FF2B5EF4-FFF2-40B4-BE49-F238E27FC236}">
                <a16:creationId xmlns:a16="http://schemas.microsoft.com/office/drawing/2014/main" id="{61AB30AC-8674-A543-CC4A-370B1BFFDE99}"/>
              </a:ext>
            </a:extLst>
          </p:cNvPr>
          <p:cNvPicPr>
            <a:picLocks noChangeAspect="1"/>
          </p:cNvPicPr>
          <p:nvPr/>
        </p:nvPicPr>
        <p:blipFill>
          <a:blip r:embed="rId3"/>
          <a:stretch>
            <a:fillRect/>
          </a:stretch>
        </p:blipFill>
        <p:spPr>
          <a:xfrm>
            <a:off x="987660" y="1690968"/>
            <a:ext cx="9971314" cy="1628976"/>
          </a:xfrm>
          <a:prstGeom prst="rect">
            <a:avLst/>
          </a:prstGeom>
          <a:ln>
            <a:solidFill>
              <a:schemeClr val="tx1"/>
            </a:solidFill>
          </a:ln>
        </p:spPr>
      </p:pic>
      <p:cxnSp>
        <p:nvCxnSpPr>
          <p:cNvPr id="11" name="直線矢印コネクタ 10">
            <a:extLst>
              <a:ext uri="{FF2B5EF4-FFF2-40B4-BE49-F238E27FC236}">
                <a16:creationId xmlns:a16="http://schemas.microsoft.com/office/drawing/2014/main" id="{8DEAB779-319C-0B11-4BF6-A84E04531370}"/>
              </a:ext>
            </a:extLst>
          </p:cNvPr>
          <p:cNvCxnSpPr/>
          <p:nvPr/>
        </p:nvCxnSpPr>
        <p:spPr>
          <a:xfrm flipV="1">
            <a:off x="1471613" y="3114675"/>
            <a:ext cx="242887" cy="5288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6759DB3A-DDE8-5A58-511E-351441FBAE4A}"/>
              </a:ext>
            </a:extLst>
          </p:cNvPr>
          <p:cNvSpPr txBox="1"/>
          <p:nvPr/>
        </p:nvSpPr>
        <p:spPr>
          <a:xfrm>
            <a:off x="453379" y="3929062"/>
            <a:ext cx="2973891" cy="461665"/>
          </a:xfrm>
          <a:prstGeom prst="rect">
            <a:avLst/>
          </a:prstGeom>
          <a:noFill/>
        </p:spPr>
        <p:txBody>
          <a:bodyPr wrap="none" rtlCol="0">
            <a:spAutoFit/>
          </a:bodyPr>
          <a:lstStyle/>
          <a:p>
            <a:r>
              <a:rPr kumimoji="1" lang="en-US" altLang="ja-JP" sz="2400" dirty="0"/>
              <a:t>CFG</a:t>
            </a:r>
            <a:r>
              <a:rPr kumimoji="1" lang="ja-JP" altLang="en-US" sz="2400"/>
              <a:t>類似度：</a:t>
            </a:r>
            <a:r>
              <a:rPr kumimoji="1" lang="en-US" altLang="ja-JP" sz="2400" dirty="0"/>
              <a:t>0.9367</a:t>
            </a:r>
            <a:endParaRPr kumimoji="1" lang="ja-JP" altLang="en-US" sz="2400"/>
          </a:p>
        </p:txBody>
      </p:sp>
    </p:spTree>
    <p:extLst>
      <p:ext uri="{BB962C8B-B14F-4D97-AF65-F5344CB8AC3E}">
        <p14:creationId xmlns:p14="http://schemas.microsoft.com/office/powerpoint/2010/main" val="4261286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C3C625F8-00D3-39D0-4438-BEE63A1A5DC5}"/>
              </a:ext>
            </a:extLst>
          </p:cNvPr>
          <p:cNvSpPr>
            <a:spLocks noGrp="1"/>
          </p:cNvSpPr>
          <p:nvPr>
            <p:ph type="title"/>
          </p:nvPr>
        </p:nvSpPr>
        <p:spPr>
          <a:xfrm>
            <a:off x="838200" y="365125"/>
            <a:ext cx="10515600" cy="1325563"/>
          </a:xfrm>
        </p:spPr>
        <p:txBody>
          <a:bodyPr/>
          <a:lstStyle/>
          <a:p>
            <a:r>
              <a:rPr kumimoji="1" lang="ja-JP" altLang="en-US"/>
              <a:t>研究結果</a:t>
            </a:r>
          </a:p>
        </p:txBody>
      </p:sp>
      <p:sp>
        <p:nvSpPr>
          <p:cNvPr id="5" name="コンテンツ プレースホルダー 2">
            <a:extLst>
              <a:ext uri="{FF2B5EF4-FFF2-40B4-BE49-F238E27FC236}">
                <a16:creationId xmlns:a16="http://schemas.microsoft.com/office/drawing/2014/main" id="{335E7257-8250-AA30-D5A1-FB0EE54C0503}"/>
              </a:ext>
            </a:extLst>
          </p:cNvPr>
          <p:cNvSpPr>
            <a:spLocks noGrp="1"/>
          </p:cNvSpPr>
          <p:nvPr>
            <p:ph idx="1"/>
          </p:nvPr>
        </p:nvSpPr>
        <p:spPr>
          <a:xfrm>
            <a:off x="838200" y="1431555"/>
            <a:ext cx="10515600" cy="603620"/>
          </a:xfrm>
        </p:spPr>
        <p:txBody>
          <a:bodyPr>
            <a:normAutofit/>
          </a:bodyPr>
          <a:lstStyle/>
          <a:p>
            <a:pPr marL="0" indent="0">
              <a:buNone/>
            </a:pPr>
            <a:r>
              <a:rPr lang="ja-JP" altLang="en-US" b="1"/>
              <a:t>サイクロマチック複雑度の評価</a:t>
            </a:r>
            <a:endParaRPr lang="en-US" altLang="ja-JP" b="1" dirty="0"/>
          </a:p>
          <a:p>
            <a:pPr marL="0" indent="0">
              <a:buNone/>
            </a:pPr>
            <a:endParaRPr lang="ja-JP" altLang="en-US" b="1"/>
          </a:p>
          <a:p>
            <a:pPr marL="0" indent="0">
              <a:buNone/>
            </a:pPr>
            <a:endParaRPr kumimoji="1" lang="ja-JP" altLang="en-US"/>
          </a:p>
        </p:txBody>
      </p:sp>
      <p:graphicFrame>
        <p:nvGraphicFramePr>
          <p:cNvPr id="6" name="グラフ 5">
            <a:extLst>
              <a:ext uri="{FF2B5EF4-FFF2-40B4-BE49-F238E27FC236}">
                <a16:creationId xmlns:a16="http://schemas.microsoft.com/office/drawing/2014/main" id="{F0E851FC-96BE-88FE-4143-27BD376427EF}"/>
              </a:ext>
            </a:extLst>
          </p:cNvPr>
          <p:cNvGraphicFramePr>
            <a:graphicFrameLocks/>
          </p:cNvGraphicFramePr>
          <p:nvPr>
            <p:extLst>
              <p:ext uri="{D42A27DB-BD31-4B8C-83A1-F6EECF244321}">
                <p14:modId xmlns:p14="http://schemas.microsoft.com/office/powerpoint/2010/main" val="4134157356"/>
              </p:ext>
            </p:extLst>
          </p:nvPr>
        </p:nvGraphicFramePr>
        <p:xfrm>
          <a:off x="838200" y="2171702"/>
          <a:ext cx="6162676" cy="3857624"/>
        </p:xfrm>
        <a:graphic>
          <a:graphicData uri="http://schemas.openxmlformats.org/drawingml/2006/chart">
            <c:chart xmlns:c="http://schemas.openxmlformats.org/drawingml/2006/chart" xmlns:r="http://schemas.openxmlformats.org/officeDocument/2006/relationships" r:id="rId2"/>
          </a:graphicData>
        </a:graphic>
      </p:graphicFrame>
      <p:sp>
        <p:nvSpPr>
          <p:cNvPr id="7" name="テキスト ボックス 6">
            <a:extLst>
              <a:ext uri="{FF2B5EF4-FFF2-40B4-BE49-F238E27FC236}">
                <a16:creationId xmlns:a16="http://schemas.microsoft.com/office/drawing/2014/main" id="{35BD46CD-DC39-DA79-4E8B-D72A53A80455}"/>
              </a:ext>
            </a:extLst>
          </p:cNvPr>
          <p:cNvSpPr txBox="1"/>
          <p:nvPr/>
        </p:nvSpPr>
        <p:spPr>
          <a:xfrm>
            <a:off x="7715250" y="2300288"/>
            <a:ext cx="2318263" cy="830997"/>
          </a:xfrm>
          <a:prstGeom prst="rect">
            <a:avLst/>
          </a:prstGeom>
          <a:noFill/>
        </p:spPr>
        <p:txBody>
          <a:bodyPr wrap="none" rtlCol="0">
            <a:spAutoFit/>
          </a:bodyPr>
          <a:lstStyle/>
          <a:p>
            <a:r>
              <a:rPr kumimoji="1" lang="ja-JP" altLang="en-US" sz="2400"/>
              <a:t>難読化前：</a:t>
            </a:r>
            <a:r>
              <a:rPr kumimoji="1" lang="en-US" altLang="ja-JP" sz="2400" dirty="0"/>
              <a:t>9.02</a:t>
            </a:r>
          </a:p>
          <a:p>
            <a:r>
              <a:rPr lang="ja-JP" altLang="en-US" sz="2400"/>
              <a:t>難読化後：</a:t>
            </a:r>
            <a:r>
              <a:rPr lang="en-US" altLang="ja-JP" sz="2400" dirty="0"/>
              <a:t>8.91</a:t>
            </a:r>
          </a:p>
        </p:txBody>
      </p:sp>
      <p:sp>
        <p:nvSpPr>
          <p:cNvPr id="8" name="下矢印 7">
            <a:extLst>
              <a:ext uri="{FF2B5EF4-FFF2-40B4-BE49-F238E27FC236}">
                <a16:creationId xmlns:a16="http://schemas.microsoft.com/office/drawing/2014/main" id="{95298882-89ED-6903-6C72-496280D72A26}"/>
              </a:ext>
            </a:extLst>
          </p:cNvPr>
          <p:cNvSpPr/>
          <p:nvPr/>
        </p:nvSpPr>
        <p:spPr>
          <a:xfrm>
            <a:off x="9101138" y="3429000"/>
            <a:ext cx="471487" cy="428625"/>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2FC94C7-0DB7-51A1-EEF4-346B80B6C0CD}"/>
              </a:ext>
            </a:extLst>
          </p:cNvPr>
          <p:cNvSpPr txBox="1"/>
          <p:nvPr/>
        </p:nvSpPr>
        <p:spPr>
          <a:xfrm>
            <a:off x="7633632" y="4155340"/>
            <a:ext cx="3877985" cy="830997"/>
          </a:xfrm>
          <a:prstGeom prst="rect">
            <a:avLst/>
          </a:prstGeom>
          <a:noFill/>
        </p:spPr>
        <p:txBody>
          <a:bodyPr wrap="none" rtlCol="0">
            <a:spAutoFit/>
          </a:bodyPr>
          <a:lstStyle/>
          <a:p>
            <a:r>
              <a:rPr kumimoji="1" lang="ja-JP" altLang="en-US" sz="2400" b="1"/>
              <a:t>サイクロマチック複雑度は</a:t>
            </a:r>
            <a:endParaRPr kumimoji="1" lang="en-US" altLang="ja-JP" sz="2400" b="1" dirty="0"/>
          </a:p>
          <a:p>
            <a:r>
              <a:rPr lang="ja-JP" altLang="en-US" sz="2400" b="1"/>
              <a:t>あまり変わらない</a:t>
            </a:r>
            <a:endParaRPr kumimoji="1" lang="ja-JP" altLang="en-US" sz="2400" b="1"/>
          </a:p>
        </p:txBody>
      </p:sp>
    </p:spTree>
    <p:extLst>
      <p:ext uri="{BB962C8B-B14F-4D97-AF65-F5344CB8AC3E}">
        <p14:creationId xmlns:p14="http://schemas.microsoft.com/office/powerpoint/2010/main" val="2046795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D2E509-16D9-134F-C492-81DFCAC3979A}"/>
              </a:ext>
            </a:extLst>
          </p:cNvPr>
          <p:cNvSpPr>
            <a:spLocks noGrp="1"/>
          </p:cNvSpPr>
          <p:nvPr>
            <p:ph type="title"/>
          </p:nvPr>
        </p:nvSpPr>
        <p:spPr/>
        <p:txBody>
          <a:bodyPr/>
          <a:lstStyle/>
          <a:p>
            <a:r>
              <a:rPr kumimoji="1" lang="ja-JP" altLang="en-US"/>
              <a:t>研究結果</a:t>
            </a:r>
          </a:p>
        </p:txBody>
      </p:sp>
      <p:sp>
        <p:nvSpPr>
          <p:cNvPr id="3" name="コンテンツ プレースホルダー 2">
            <a:extLst>
              <a:ext uri="{FF2B5EF4-FFF2-40B4-BE49-F238E27FC236}">
                <a16:creationId xmlns:a16="http://schemas.microsoft.com/office/drawing/2014/main" id="{4E4DA319-1195-2C85-ED1B-58B135DAA27C}"/>
              </a:ext>
            </a:extLst>
          </p:cNvPr>
          <p:cNvSpPr>
            <a:spLocks noGrp="1"/>
          </p:cNvSpPr>
          <p:nvPr>
            <p:ph idx="1"/>
          </p:nvPr>
        </p:nvSpPr>
        <p:spPr>
          <a:xfrm>
            <a:off x="838200" y="1431555"/>
            <a:ext cx="10515600" cy="603620"/>
          </a:xfrm>
        </p:spPr>
        <p:txBody>
          <a:bodyPr>
            <a:normAutofit/>
          </a:bodyPr>
          <a:lstStyle/>
          <a:p>
            <a:pPr marL="0" indent="0">
              <a:buNone/>
            </a:pPr>
            <a:r>
              <a:rPr lang="ja-JP" altLang="en-US" b="1"/>
              <a:t>サイクロマチック複雑度の評価</a:t>
            </a:r>
            <a:endParaRPr lang="en-US" altLang="ja-JP" b="1" dirty="0"/>
          </a:p>
          <a:p>
            <a:pPr marL="0" indent="0">
              <a:buNone/>
            </a:pPr>
            <a:endParaRPr lang="ja-JP" altLang="en-US" b="1"/>
          </a:p>
          <a:p>
            <a:pPr marL="0" indent="0">
              <a:buNone/>
            </a:pPr>
            <a:endParaRPr kumimoji="1" lang="ja-JP" altLang="en-US"/>
          </a:p>
        </p:txBody>
      </p:sp>
      <p:pic>
        <p:nvPicPr>
          <p:cNvPr id="5" name="図 4" descr="テキスト&#10;&#10;自動的に生成された説明">
            <a:extLst>
              <a:ext uri="{FF2B5EF4-FFF2-40B4-BE49-F238E27FC236}">
                <a16:creationId xmlns:a16="http://schemas.microsoft.com/office/drawing/2014/main" id="{27EAFB01-8501-A54B-2D1E-B63512F7FCD3}"/>
              </a:ext>
            </a:extLst>
          </p:cNvPr>
          <p:cNvPicPr>
            <a:picLocks noChangeAspect="1"/>
          </p:cNvPicPr>
          <p:nvPr/>
        </p:nvPicPr>
        <p:blipFill>
          <a:blip r:embed="rId3"/>
          <a:stretch>
            <a:fillRect/>
          </a:stretch>
        </p:blipFill>
        <p:spPr>
          <a:xfrm>
            <a:off x="838200" y="2035175"/>
            <a:ext cx="5316538" cy="2541165"/>
          </a:xfrm>
          <a:prstGeom prst="rect">
            <a:avLst/>
          </a:prstGeom>
        </p:spPr>
      </p:pic>
      <p:sp>
        <p:nvSpPr>
          <p:cNvPr id="7" name="テキスト ボックス 6">
            <a:extLst>
              <a:ext uri="{FF2B5EF4-FFF2-40B4-BE49-F238E27FC236}">
                <a16:creationId xmlns:a16="http://schemas.microsoft.com/office/drawing/2014/main" id="{E09F0813-1257-0DA3-14C9-9B9354D9F741}"/>
              </a:ext>
            </a:extLst>
          </p:cNvPr>
          <p:cNvSpPr txBox="1"/>
          <p:nvPr/>
        </p:nvSpPr>
        <p:spPr>
          <a:xfrm>
            <a:off x="6322219" y="2337891"/>
            <a:ext cx="6100762" cy="4154984"/>
          </a:xfrm>
          <a:prstGeom prst="rect">
            <a:avLst/>
          </a:prstGeom>
          <a:noFill/>
        </p:spPr>
        <p:txBody>
          <a:bodyPr wrap="square">
            <a:spAutoFit/>
          </a:bodyPr>
          <a:lstStyle/>
          <a:p>
            <a:pPr>
              <a:buFont typeface="Arial" panose="020B0604020202020204" pitchFamily="34" charset="0"/>
              <a:buChar char="•"/>
            </a:pPr>
            <a:r>
              <a:rPr lang="ja-JP" altLang="en-US" sz="2400"/>
              <a:t>難読化後、</a:t>
            </a:r>
          </a:p>
          <a:p>
            <a:pPr marL="742950" lvl="1" indent="-285750">
              <a:buFont typeface="Arial" panose="020B0604020202020204" pitchFamily="34" charset="0"/>
              <a:buChar char="•"/>
            </a:pPr>
            <a:r>
              <a:rPr lang="ja-JP" altLang="en-US" sz="2400"/>
              <a:t>ブロック数は増加</a:t>
            </a:r>
          </a:p>
          <a:p>
            <a:pPr marL="742950" lvl="1" indent="-285750">
              <a:buFont typeface="Arial" panose="020B0604020202020204" pitchFamily="34" charset="0"/>
              <a:buChar char="•"/>
            </a:pPr>
            <a:r>
              <a:rPr lang="ja-JP" altLang="en-US" sz="2400" b="1"/>
              <a:t>平均複雑度は大きく増えない</a:t>
            </a:r>
            <a:endParaRPr lang="ja-JP" altLang="en-US" sz="2400"/>
          </a:p>
          <a:p>
            <a:pPr>
              <a:buFont typeface="Arial" panose="020B0604020202020204" pitchFamily="34" charset="0"/>
              <a:buChar char="•"/>
            </a:pPr>
            <a:r>
              <a:rPr lang="ja-JP" altLang="en-US" sz="2400"/>
              <a:t>処理が細分化され、</a:t>
            </a:r>
            <a:br>
              <a:rPr lang="ja-JP" altLang="en-US" sz="2400"/>
            </a:br>
            <a:r>
              <a:rPr lang="ja-JP" altLang="en-US" sz="2400" b="1"/>
              <a:t>関数単位で複雑度が分散</a:t>
            </a:r>
            <a:r>
              <a:rPr lang="ja-JP" altLang="en-US" sz="2400"/>
              <a:t>した影響</a:t>
            </a:r>
          </a:p>
          <a:p>
            <a:pPr>
              <a:buFont typeface="Arial" panose="020B0604020202020204" pitchFamily="34" charset="0"/>
              <a:buChar char="•"/>
            </a:pPr>
            <a:r>
              <a:rPr lang="ja-JP" altLang="en-US" sz="2400"/>
              <a:t>一方で、</a:t>
            </a:r>
          </a:p>
          <a:p>
            <a:pPr marL="742950" lvl="1" indent="-285750">
              <a:buFont typeface="Arial" panose="020B0604020202020204" pitchFamily="34" charset="0"/>
              <a:buChar char="•"/>
            </a:pPr>
            <a:r>
              <a:rPr lang="ja-JP" altLang="en-US" sz="2400" b="1"/>
              <a:t>複雑度の合計値は増加</a:t>
            </a:r>
            <a:endParaRPr lang="ja-JP" altLang="en-US" sz="2400"/>
          </a:p>
          <a:p>
            <a:pPr marL="742950" lvl="1" indent="-285750">
              <a:buFont typeface="Arial" panose="020B0604020202020204" pitchFamily="34" charset="0"/>
              <a:buChar char="•"/>
            </a:pPr>
            <a:r>
              <a:rPr lang="ja-JP" altLang="en-US" sz="2400"/>
              <a:t>コード全体は冗長で複雑に見える構造に</a:t>
            </a:r>
          </a:p>
          <a:p>
            <a:pPr marL="0" indent="0">
              <a:buNone/>
            </a:pPr>
            <a:r>
              <a:rPr lang="ja-JP" altLang="en-US" sz="2400"/>
              <a:t>→ 制御構造の本質的な複雑さは</a:t>
            </a:r>
            <a:br>
              <a:rPr lang="ja-JP" altLang="en-US" sz="2400"/>
            </a:br>
            <a:r>
              <a:rPr lang="ja-JP" altLang="en-US" sz="2400"/>
              <a:t>　</a:t>
            </a:r>
            <a:r>
              <a:rPr lang="ja-JP" altLang="en-US" sz="2400" b="1"/>
              <a:t>難読化前後で大きく変化していない</a:t>
            </a:r>
            <a:endParaRPr lang="ja-JP" altLang="en-US" sz="2400"/>
          </a:p>
        </p:txBody>
      </p:sp>
      <p:sp>
        <p:nvSpPr>
          <p:cNvPr id="8" name="テキスト ボックス 7">
            <a:extLst>
              <a:ext uri="{FF2B5EF4-FFF2-40B4-BE49-F238E27FC236}">
                <a16:creationId xmlns:a16="http://schemas.microsoft.com/office/drawing/2014/main" id="{BA3AD6D8-1927-4952-94EF-EE07126EE1AB}"/>
              </a:ext>
            </a:extLst>
          </p:cNvPr>
          <p:cNvSpPr txBox="1"/>
          <p:nvPr/>
        </p:nvSpPr>
        <p:spPr>
          <a:xfrm>
            <a:off x="1300163" y="4826280"/>
            <a:ext cx="2318263" cy="1200329"/>
          </a:xfrm>
          <a:prstGeom prst="rect">
            <a:avLst/>
          </a:prstGeom>
          <a:noFill/>
        </p:spPr>
        <p:txBody>
          <a:bodyPr wrap="none" rtlCol="0">
            <a:spAutoFit/>
          </a:bodyPr>
          <a:lstStyle/>
          <a:p>
            <a:r>
              <a:rPr kumimoji="1" lang="ja-JP" altLang="en-US" sz="2400"/>
              <a:t>難読化前：</a:t>
            </a:r>
            <a:r>
              <a:rPr kumimoji="1" lang="en-US" altLang="ja-JP" sz="2400" dirty="0"/>
              <a:t>2.36</a:t>
            </a:r>
          </a:p>
          <a:p>
            <a:endParaRPr lang="en-US" altLang="ja-JP" sz="2400" dirty="0"/>
          </a:p>
          <a:p>
            <a:r>
              <a:rPr kumimoji="1" lang="ja-JP" altLang="en-US" sz="2400"/>
              <a:t>難読化後：</a:t>
            </a:r>
            <a:r>
              <a:rPr lang="en-US" altLang="ja-JP" sz="2400" dirty="0"/>
              <a:t>5.41</a:t>
            </a:r>
            <a:endParaRPr kumimoji="1" lang="ja-JP" altLang="en-US" sz="2400"/>
          </a:p>
        </p:txBody>
      </p:sp>
    </p:spTree>
    <p:extLst>
      <p:ext uri="{BB962C8B-B14F-4D97-AF65-F5344CB8AC3E}">
        <p14:creationId xmlns:p14="http://schemas.microsoft.com/office/powerpoint/2010/main" val="3322096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6B1A7E-8980-3038-917B-822CAE0F4248}"/>
              </a:ext>
            </a:extLst>
          </p:cNvPr>
          <p:cNvSpPr>
            <a:spLocks noGrp="1"/>
          </p:cNvSpPr>
          <p:nvPr>
            <p:ph type="title"/>
          </p:nvPr>
        </p:nvSpPr>
        <p:spPr/>
        <p:txBody>
          <a:bodyPr>
            <a:normAutofit/>
          </a:bodyPr>
          <a:lstStyle/>
          <a:p>
            <a:r>
              <a:rPr kumimoji="1" lang="ja-JP" altLang="en-US" sz="2400" b="1"/>
              <a:t>どうしてサイクロマチック複雑度はあまり変化がないのか？</a:t>
            </a:r>
          </a:p>
        </p:txBody>
      </p:sp>
      <p:sp>
        <p:nvSpPr>
          <p:cNvPr id="3" name="コンテンツ プレースホルダー 2">
            <a:extLst>
              <a:ext uri="{FF2B5EF4-FFF2-40B4-BE49-F238E27FC236}">
                <a16:creationId xmlns:a16="http://schemas.microsoft.com/office/drawing/2014/main" id="{617524EB-9BE2-DBC7-4487-7A16231D6942}"/>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2368415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680989-0C66-9760-130E-572BDA4A102B}"/>
              </a:ext>
            </a:extLst>
          </p:cNvPr>
          <p:cNvSpPr>
            <a:spLocks noGrp="1"/>
          </p:cNvSpPr>
          <p:nvPr>
            <p:ph type="title"/>
          </p:nvPr>
        </p:nvSpPr>
        <p:spPr/>
        <p:txBody>
          <a:bodyPr/>
          <a:lstStyle/>
          <a:p>
            <a:r>
              <a:rPr lang="ja-JP" altLang="en-US"/>
              <a:t>まとめ</a:t>
            </a:r>
            <a:endParaRPr kumimoji="1" lang="ja-JP" altLang="en-US"/>
          </a:p>
        </p:txBody>
      </p:sp>
      <p:sp>
        <p:nvSpPr>
          <p:cNvPr id="3" name="コンテンツ プレースホルダー 2">
            <a:extLst>
              <a:ext uri="{FF2B5EF4-FFF2-40B4-BE49-F238E27FC236}">
                <a16:creationId xmlns:a16="http://schemas.microsoft.com/office/drawing/2014/main" id="{3728415E-ADAC-42EF-F5BB-D42386B9B094}"/>
              </a:ext>
            </a:extLst>
          </p:cNvPr>
          <p:cNvSpPr>
            <a:spLocks noGrp="1"/>
          </p:cNvSpPr>
          <p:nvPr>
            <p:ph idx="1"/>
          </p:nvPr>
        </p:nvSpPr>
        <p:spPr/>
        <p:txBody>
          <a:bodyPr/>
          <a:lstStyle/>
          <a:p>
            <a:pPr marL="0" indent="0">
              <a:buNone/>
            </a:pPr>
            <a:r>
              <a:rPr kumimoji="1" lang="ja-JP" altLang="en-US"/>
              <a:t>生成</a:t>
            </a:r>
            <a:r>
              <a:rPr kumimoji="1" lang="en-US" altLang="ja-JP" dirty="0"/>
              <a:t>AI</a:t>
            </a:r>
            <a:r>
              <a:rPr kumimoji="1" lang="ja-JP" altLang="en-US"/>
              <a:t>は綺麗なコードを書くのが得意</a:t>
            </a:r>
          </a:p>
        </p:txBody>
      </p:sp>
      <p:sp>
        <p:nvSpPr>
          <p:cNvPr id="6" name="テキスト ボックス 5">
            <a:extLst>
              <a:ext uri="{FF2B5EF4-FFF2-40B4-BE49-F238E27FC236}">
                <a16:creationId xmlns:a16="http://schemas.microsoft.com/office/drawing/2014/main" id="{BF6E56B1-9216-B2DB-7673-5A8C01367794}"/>
              </a:ext>
            </a:extLst>
          </p:cNvPr>
          <p:cNvSpPr txBox="1"/>
          <p:nvPr/>
        </p:nvSpPr>
        <p:spPr>
          <a:xfrm>
            <a:off x="1303998" y="3903410"/>
            <a:ext cx="4852610" cy="523220"/>
          </a:xfrm>
          <a:prstGeom prst="rect">
            <a:avLst/>
          </a:prstGeom>
          <a:noFill/>
        </p:spPr>
        <p:txBody>
          <a:bodyPr wrap="none" rtlCol="0">
            <a:spAutoFit/>
          </a:bodyPr>
          <a:lstStyle/>
          <a:p>
            <a:r>
              <a:rPr kumimoji="1" lang="ja-JP" altLang="en-US" sz="2800"/>
              <a:t>複雑なコードを書くのが苦手</a:t>
            </a:r>
          </a:p>
        </p:txBody>
      </p:sp>
      <p:sp>
        <p:nvSpPr>
          <p:cNvPr id="7" name="テキスト ボックス 6">
            <a:extLst>
              <a:ext uri="{FF2B5EF4-FFF2-40B4-BE49-F238E27FC236}">
                <a16:creationId xmlns:a16="http://schemas.microsoft.com/office/drawing/2014/main" id="{0B37994C-97EC-B586-DD4F-63CF30236F86}"/>
              </a:ext>
            </a:extLst>
          </p:cNvPr>
          <p:cNvSpPr txBox="1"/>
          <p:nvPr/>
        </p:nvSpPr>
        <p:spPr>
          <a:xfrm>
            <a:off x="2610853" y="5234682"/>
            <a:ext cx="6750566" cy="1077218"/>
          </a:xfrm>
          <a:prstGeom prst="rect">
            <a:avLst/>
          </a:prstGeom>
          <a:noFill/>
        </p:spPr>
        <p:txBody>
          <a:bodyPr wrap="none" rtlCol="0">
            <a:spAutoFit/>
          </a:bodyPr>
          <a:lstStyle/>
          <a:p>
            <a:r>
              <a:rPr kumimoji="1" lang="ja-JP" altLang="en-US" sz="3200" b="1"/>
              <a:t>結果的に中身をあまり変えれなく、</a:t>
            </a:r>
            <a:endParaRPr kumimoji="1" lang="en-US" altLang="ja-JP" sz="3200" b="1" dirty="0"/>
          </a:p>
          <a:p>
            <a:r>
              <a:rPr kumimoji="1" lang="ja-JP" altLang="en-US" sz="3200" b="1"/>
              <a:t>見た目だけ難読化することができる</a:t>
            </a:r>
          </a:p>
        </p:txBody>
      </p:sp>
      <p:sp>
        <p:nvSpPr>
          <p:cNvPr id="8" name="屈折矢印 7">
            <a:extLst>
              <a:ext uri="{FF2B5EF4-FFF2-40B4-BE49-F238E27FC236}">
                <a16:creationId xmlns:a16="http://schemas.microsoft.com/office/drawing/2014/main" id="{4016D29C-CE7E-42F3-0CB0-A382BC159490}"/>
              </a:ext>
            </a:extLst>
          </p:cNvPr>
          <p:cNvSpPr/>
          <p:nvPr/>
        </p:nvSpPr>
        <p:spPr>
          <a:xfrm rot="5400000">
            <a:off x="1273342" y="5265339"/>
            <a:ext cx="749968" cy="688655"/>
          </a:xfrm>
          <a:prstGeom prst="bentUpArrow">
            <a:avLst>
              <a:gd name="adj1" fmla="val 25000"/>
              <a:gd name="adj2" fmla="val 31988"/>
              <a:gd name="adj3" fmla="val 37230"/>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上下矢印 8">
            <a:extLst>
              <a:ext uri="{FF2B5EF4-FFF2-40B4-BE49-F238E27FC236}">
                <a16:creationId xmlns:a16="http://schemas.microsoft.com/office/drawing/2014/main" id="{759B3A95-2137-8C50-AFDA-004E9F3CEF4B}"/>
              </a:ext>
            </a:extLst>
          </p:cNvPr>
          <p:cNvSpPr/>
          <p:nvPr/>
        </p:nvSpPr>
        <p:spPr>
          <a:xfrm>
            <a:off x="3248526" y="2455770"/>
            <a:ext cx="806116" cy="1279176"/>
          </a:xfrm>
          <a:prstGeom prst="up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0993812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14256</TotalTime>
  <Words>2172</Words>
  <Application>Microsoft Macintosh PowerPoint</Application>
  <PresentationFormat>ワイド画面</PresentationFormat>
  <Paragraphs>218</Paragraphs>
  <Slides>25</Slides>
  <Notes>22</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25</vt:i4>
      </vt:variant>
    </vt:vector>
  </HeadingPairs>
  <TitlesOfParts>
    <vt:vector size="34" baseType="lpstr">
      <vt:lpstr>CMR10</vt:lpstr>
      <vt:lpstr>HaranoAjiGothic-Medium-Identity-H</vt:lpstr>
      <vt:lpstr>HaranoAjiMincho-Regular-Identity-H</vt:lpstr>
      <vt:lpstr>游ゴシック</vt:lpstr>
      <vt:lpstr>游ゴシック Light</vt:lpstr>
      <vt:lpstr>Arial</vt:lpstr>
      <vt:lpstr>Consolas</vt:lpstr>
      <vt:lpstr>Courier New</vt:lpstr>
      <vt:lpstr>Office テーマ</vt:lpstr>
      <vt:lpstr>ChatGPTを用いた Pythonコード難読化と構造的類似度分析ツールの評価</vt:lpstr>
      <vt:lpstr>難読化とは？    なぜ必要か？</vt:lpstr>
      <vt:lpstr>背景</vt:lpstr>
      <vt:lpstr>背景</vt:lpstr>
      <vt:lpstr>研究の背景</vt:lpstr>
      <vt:lpstr>研究の背景</vt:lpstr>
      <vt:lpstr>研究の背景</vt:lpstr>
      <vt:lpstr>研究の目的</vt:lpstr>
      <vt:lpstr>研究の方法</vt:lpstr>
      <vt:lpstr>研究の方法</vt:lpstr>
      <vt:lpstr>使用した評価指標</vt:lpstr>
      <vt:lpstr>評価指標</vt:lpstr>
      <vt:lpstr>評価指標</vt:lpstr>
      <vt:lpstr>評価指標</vt:lpstr>
      <vt:lpstr>評価指標</vt:lpstr>
      <vt:lpstr>研究結果</vt:lpstr>
      <vt:lpstr>研究結果</vt:lpstr>
      <vt:lpstr>研究結果</vt:lpstr>
      <vt:lpstr>PowerPoint プレゼンテーション</vt:lpstr>
      <vt:lpstr>研究結果</vt:lpstr>
      <vt:lpstr>PowerPoint プレゼンテーション</vt:lpstr>
      <vt:lpstr>研究結果</vt:lpstr>
      <vt:lpstr>研究結果</vt:lpstr>
      <vt:lpstr>どうしてサイクロマチック複雑度はあまり変化がないのか？</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KONDO ATSUTO</dc:creator>
  <cp:lastModifiedBy>KONDO ATSUTO</cp:lastModifiedBy>
  <cp:revision>7</cp:revision>
  <dcterms:created xsi:type="dcterms:W3CDTF">2026-02-01T23:45:50Z</dcterms:created>
  <dcterms:modified xsi:type="dcterms:W3CDTF">2026-02-11T21:22:18Z</dcterms:modified>
</cp:coreProperties>
</file>