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69" r:id="rId4"/>
    <p:sldId id="270" r:id="rId5"/>
    <p:sldId id="257" r:id="rId6"/>
    <p:sldId id="258" r:id="rId7"/>
    <p:sldId id="272" r:id="rId8"/>
    <p:sldId id="259" r:id="rId9"/>
    <p:sldId id="260" r:id="rId10"/>
    <p:sldId id="273" r:id="rId11"/>
    <p:sldId id="263" r:id="rId12"/>
    <p:sldId id="264" r:id="rId13"/>
    <p:sldId id="268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172"/>
  </p:normalViewPr>
  <p:slideViewPr>
    <p:cSldViewPr snapToGrid="0">
      <p:cViewPr varScale="1">
        <p:scale>
          <a:sx n="106" d="100"/>
          <a:sy n="106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0396CC-BA72-400E-9AE5-C02D6C32C442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59B5CD9-5584-4B76-AB97-A1D345EB5652}">
      <dgm:prSet/>
      <dgm:spPr/>
      <dgm:t>
        <a:bodyPr/>
        <a:lstStyle/>
        <a:p>
          <a:r>
            <a:rPr kumimoji="1" lang="en-US" b="1" dirty="0"/>
            <a:t>Python</a:t>
          </a:r>
          <a:r>
            <a:rPr kumimoji="1" lang="ja-JP" b="1"/>
            <a:t>コードを対象に、難読化前後の構造的変化を定量化・可視化するツールの実装と評価</a:t>
          </a:r>
          <a:r>
            <a:rPr kumimoji="1" lang="ja-JP"/>
            <a:t>を目的とする。</a:t>
          </a:r>
          <a:endParaRPr lang="en-US" dirty="0"/>
        </a:p>
      </dgm:t>
    </dgm:pt>
    <dgm:pt modelId="{0A741A77-BD4C-44EE-94FF-7A072D043730}" type="parTrans" cxnId="{04162DD0-6027-45B9-A253-1F88DAE9C3A8}">
      <dgm:prSet/>
      <dgm:spPr/>
      <dgm:t>
        <a:bodyPr/>
        <a:lstStyle/>
        <a:p>
          <a:endParaRPr lang="en-US"/>
        </a:p>
      </dgm:t>
    </dgm:pt>
    <dgm:pt modelId="{7A8576A3-1E52-4F5C-B7AD-3FB0B2506D43}" type="sibTrans" cxnId="{04162DD0-6027-45B9-A253-1F88DAE9C3A8}">
      <dgm:prSet/>
      <dgm:spPr/>
      <dgm:t>
        <a:bodyPr/>
        <a:lstStyle/>
        <a:p>
          <a:endParaRPr lang="en-US"/>
        </a:p>
      </dgm:t>
    </dgm:pt>
    <dgm:pt modelId="{36556160-113D-4C74-B8E2-74390896BF6D}">
      <dgm:prSet/>
      <dgm:spPr/>
      <dgm:t>
        <a:bodyPr/>
        <a:lstStyle/>
        <a:p>
          <a:r>
            <a:rPr kumimoji="1" lang="ja-JP"/>
            <a:t>生成</a:t>
          </a:r>
          <a:r>
            <a:rPr kumimoji="1" lang="en-US" dirty="0"/>
            <a:t>AI</a:t>
          </a:r>
          <a:r>
            <a:rPr kumimoji="1" lang="ja-JP"/>
            <a:t>がどれくらい難読化できるかを評価する。</a:t>
          </a:r>
          <a:endParaRPr lang="en-US" dirty="0"/>
        </a:p>
      </dgm:t>
    </dgm:pt>
    <dgm:pt modelId="{D366563F-3CD1-4FD2-9749-CBF8B0567C47}" type="parTrans" cxnId="{FA606E3E-E58F-4606-8E1A-76D2C53D52EC}">
      <dgm:prSet/>
      <dgm:spPr/>
      <dgm:t>
        <a:bodyPr/>
        <a:lstStyle/>
        <a:p>
          <a:endParaRPr lang="en-US"/>
        </a:p>
      </dgm:t>
    </dgm:pt>
    <dgm:pt modelId="{0D88ECDC-9AA8-4AB3-81C4-AB3679F9C1B1}" type="sibTrans" cxnId="{FA606E3E-E58F-4606-8E1A-76D2C53D52EC}">
      <dgm:prSet/>
      <dgm:spPr/>
      <dgm:t>
        <a:bodyPr/>
        <a:lstStyle/>
        <a:p>
          <a:endParaRPr lang="en-US"/>
        </a:p>
      </dgm:t>
    </dgm:pt>
    <dgm:pt modelId="{6686BB18-663F-C646-8CB2-C0F4E26A1F7A}" type="pres">
      <dgm:prSet presAssocID="{AD0396CC-BA72-400E-9AE5-C02D6C32C44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12A81E2-2775-A542-A79D-8BD8FE7D8341}" type="pres">
      <dgm:prSet presAssocID="{B59B5CD9-5584-4B76-AB97-A1D345EB5652}" presName="hierRoot1" presStyleCnt="0"/>
      <dgm:spPr/>
    </dgm:pt>
    <dgm:pt modelId="{29DBF818-6605-FD44-AB84-771872CAF2A3}" type="pres">
      <dgm:prSet presAssocID="{B59B5CD9-5584-4B76-AB97-A1D345EB5652}" presName="composite" presStyleCnt="0"/>
      <dgm:spPr/>
    </dgm:pt>
    <dgm:pt modelId="{6091AB5F-5F34-4448-98DB-9E207EC2062A}" type="pres">
      <dgm:prSet presAssocID="{B59B5CD9-5584-4B76-AB97-A1D345EB5652}" presName="background" presStyleLbl="node0" presStyleIdx="0" presStyleCnt="2"/>
      <dgm:spPr/>
    </dgm:pt>
    <dgm:pt modelId="{CFFEDD34-D42C-954F-A277-527C019A361D}" type="pres">
      <dgm:prSet presAssocID="{B59B5CD9-5584-4B76-AB97-A1D345EB5652}" presName="text" presStyleLbl="fgAcc0" presStyleIdx="0" presStyleCnt="2" custLinFactNeighborY="627">
        <dgm:presLayoutVars>
          <dgm:chPref val="3"/>
        </dgm:presLayoutVars>
      </dgm:prSet>
      <dgm:spPr/>
    </dgm:pt>
    <dgm:pt modelId="{5DCA2477-C74A-7F48-BDED-45B10F77BBA3}" type="pres">
      <dgm:prSet presAssocID="{B59B5CD9-5584-4B76-AB97-A1D345EB5652}" presName="hierChild2" presStyleCnt="0"/>
      <dgm:spPr/>
    </dgm:pt>
    <dgm:pt modelId="{A4261F24-1702-C74B-A6A3-561639E63E31}" type="pres">
      <dgm:prSet presAssocID="{36556160-113D-4C74-B8E2-74390896BF6D}" presName="hierRoot1" presStyleCnt="0"/>
      <dgm:spPr/>
    </dgm:pt>
    <dgm:pt modelId="{B58579CB-8064-8D44-BE94-C583933F2246}" type="pres">
      <dgm:prSet presAssocID="{36556160-113D-4C74-B8E2-74390896BF6D}" presName="composite" presStyleCnt="0"/>
      <dgm:spPr/>
    </dgm:pt>
    <dgm:pt modelId="{DE34164E-5071-0248-9B48-82FC8B8C76D7}" type="pres">
      <dgm:prSet presAssocID="{36556160-113D-4C74-B8E2-74390896BF6D}" presName="background" presStyleLbl="node0" presStyleIdx="1" presStyleCnt="2"/>
      <dgm:spPr/>
    </dgm:pt>
    <dgm:pt modelId="{ADEA786D-D65F-3540-9E4D-034A7F1F00C1}" type="pres">
      <dgm:prSet presAssocID="{36556160-113D-4C74-B8E2-74390896BF6D}" presName="text" presStyleLbl="fgAcc0" presStyleIdx="1" presStyleCnt="2">
        <dgm:presLayoutVars>
          <dgm:chPref val="3"/>
        </dgm:presLayoutVars>
      </dgm:prSet>
      <dgm:spPr/>
    </dgm:pt>
    <dgm:pt modelId="{244178C1-7848-0740-88EA-D018A306AAB4}" type="pres">
      <dgm:prSet presAssocID="{36556160-113D-4C74-B8E2-74390896BF6D}" presName="hierChild2" presStyleCnt="0"/>
      <dgm:spPr/>
    </dgm:pt>
  </dgm:ptLst>
  <dgm:cxnLst>
    <dgm:cxn modelId="{FA606E3E-E58F-4606-8E1A-76D2C53D52EC}" srcId="{AD0396CC-BA72-400E-9AE5-C02D6C32C442}" destId="{36556160-113D-4C74-B8E2-74390896BF6D}" srcOrd="1" destOrd="0" parTransId="{D366563F-3CD1-4FD2-9749-CBF8B0567C47}" sibTransId="{0D88ECDC-9AA8-4AB3-81C4-AB3679F9C1B1}"/>
    <dgm:cxn modelId="{D52FDC49-A3FC-7543-84CC-628EE70F0F57}" type="presOf" srcId="{AD0396CC-BA72-400E-9AE5-C02D6C32C442}" destId="{6686BB18-663F-C646-8CB2-C0F4E26A1F7A}" srcOrd="0" destOrd="0" presId="urn:microsoft.com/office/officeart/2005/8/layout/hierarchy1"/>
    <dgm:cxn modelId="{522B5C7E-EB91-E04C-B1E9-BC82DB3DF563}" type="presOf" srcId="{B59B5CD9-5584-4B76-AB97-A1D345EB5652}" destId="{CFFEDD34-D42C-954F-A277-527C019A361D}" srcOrd="0" destOrd="0" presId="urn:microsoft.com/office/officeart/2005/8/layout/hierarchy1"/>
    <dgm:cxn modelId="{04162DD0-6027-45B9-A253-1F88DAE9C3A8}" srcId="{AD0396CC-BA72-400E-9AE5-C02D6C32C442}" destId="{B59B5CD9-5584-4B76-AB97-A1D345EB5652}" srcOrd="0" destOrd="0" parTransId="{0A741A77-BD4C-44EE-94FF-7A072D043730}" sibTransId="{7A8576A3-1E52-4F5C-B7AD-3FB0B2506D43}"/>
    <dgm:cxn modelId="{150EC1DD-119F-F947-AE3C-FC0CD3AF7258}" type="presOf" srcId="{36556160-113D-4C74-B8E2-74390896BF6D}" destId="{ADEA786D-D65F-3540-9E4D-034A7F1F00C1}" srcOrd="0" destOrd="0" presId="urn:microsoft.com/office/officeart/2005/8/layout/hierarchy1"/>
    <dgm:cxn modelId="{67B61D7D-7023-8D4F-8D6A-6DB7077AE9F3}" type="presParOf" srcId="{6686BB18-663F-C646-8CB2-C0F4E26A1F7A}" destId="{512A81E2-2775-A542-A79D-8BD8FE7D8341}" srcOrd="0" destOrd="0" presId="urn:microsoft.com/office/officeart/2005/8/layout/hierarchy1"/>
    <dgm:cxn modelId="{B82C50B4-1BD2-0749-A770-5DA265837005}" type="presParOf" srcId="{512A81E2-2775-A542-A79D-8BD8FE7D8341}" destId="{29DBF818-6605-FD44-AB84-771872CAF2A3}" srcOrd="0" destOrd="0" presId="urn:microsoft.com/office/officeart/2005/8/layout/hierarchy1"/>
    <dgm:cxn modelId="{B5737432-BB84-7D4A-A1F9-4F382C8CFD2B}" type="presParOf" srcId="{29DBF818-6605-FD44-AB84-771872CAF2A3}" destId="{6091AB5F-5F34-4448-98DB-9E207EC2062A}" srcOrd="0" destOrd="0" presId="urn:microsoft.com/office/officeart/2005/8/layout/hierarchy1"/>
    <dgm:cxn modelId="{65E165CA-EBE5-444A-B38F-7A984ADF3E6B}" type="presParOf" srcId="{29DBF818-6605-FD44-AB84-771872CAF2A3}" destId="{CFFEDD34-D42C-954F-A277-527C019A361D}" srcOrd="1" destOrd="0" presId="urn:microsoft.com/office/officeart/2005/8/layout/hierarchy1"/>
    <dgm:cxn modelId="{E54E8968-F802-FA46-8769-883FD6A63640}" type="presParOf" srcId="{512A81E2-2775-A542-A79D-8BD8FE7D8341}" destId="{5DCA2477-C74A-7F48-BDED-45B10F77BBA3}" srcOrd="1" destOrd="0" presId="urn:microsoft.com/office/officeart/2005/8/layout/hierarchy1"/>
    <dgm:cxn modelId="{88E78C63-557C-6744-8428-C052E27EDD3F}" type="presParOf" srcId="{6686BB18-663F-C646-8CB2-C0F4E26A1F7A}" destId="{A4261F24-1702-C74B-A6A3-561639E63E31}" srcOrd="1" destOrd="0" presId="urn:microsoft.com/office/officeart/2005/8/layout/hierarchy1"/>
    <dgm:cxn modelId="{649F1433-DED5-304D-994F-9A6E8C4201DF}" type="presParOf" srcId="{A4261F24-1702-C74B-A6A3-561639E63E31}" destId="{B58579CB-8064-8D44-BE94-C583933F2246}" srcOrd="0" destOrd="0" presId="urn:microsoft.com/office/officeart/2005/8/layout/hierarchy1"/>
    <dgm:cxn modelId="{EBF6B352-8CC3-4F44-BADC-08E3EDB3BE83}" type="presParOf" srcId="{B58579CB-8064-8D44-BE94-C583933F2246}" destId="{DE34164E-5071-0248-9B48-82FC8B8C76D7}" srcOrd="0" destOrd="0" presId="urn:microsoft.com/office/officeart/2005/8/layout/hierarchy1"/>
    <dgm:cxn modelId="{37115363-3E2D-0D40-BB2E-94EA06FDC24D}" type="presParOf" srcId="{B58579CB-8064-8D44-BE94-C583933F2246}" destId="{ADEA786D-D65F-3540-9E4D-034A7F1F00C1}" srcOrd="1" destOrd="0" presId="urn:microsoft.com/office/officeart/2005/8/layout/hierarchy1"/>
    <dgm:cxn modelId="{8C23C315-7FCB-644F-8251-80C5C30150CE}" type="presParOf" srcId="{A4261F24-1702-C74B-A6A3-561639E63E31}" destId="{244178C1-7848-0740-88EA-D018A306AAB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91AB5F-5F34-4448-98DB-9E207EC2062A}">
      <dsp:nvSpPr>
        <dsp:cNvPr id="0" name=""/>
        <dsp:cNvSpPr/>
      </dsp:nvSpPr>
      <dsp:spPr>
        <a:xfrm>
          <a:off x="134291" y="1225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EDD34-D42C-954F-A277-527C019A361D}">
      <dsp:nvSpPr>
        <dsp:cNvPr id="0" name=""/>
        <dsp:cNvSpPr/>
      </dsp:nvSpPr>
      <dsp:spPr>
        <a:xfrm>
          <a:off x="615713" y="458576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600" b="1" kern="1200" dirty="0"/>
            <a:t>Python</a:t>
          </a:r>
          <a:r>
            <a:rPr kumimoji="1" lang="ja-JP" sz="2600" b="1" kern="1200"/>
            <a:t>コードを対象に、難読化前後の構造的変化を定量化・可視化するツールの実装と評価</a:t>
          </a:r>
          <a:r>
            <a:rPr kumimoji="1" lang="ja-JP" sz="2600" kern="1200"/>
            <a:t>を目的とする。</a:t>
          </a:r>
          <a:endParaRPr lang="en-US" sz="2600" kern="1200" dirty="0"/>
        </a:p>
      </dsp:txBody>
      <dsp:txXfrm>
        <a:off x="696297" y="539160"/>
        <a:ext cx="4171627" cy="2590157"/>
      </dsp:txXfrm>
    </dsp:sp>
    <dsp:sp modelId="{DE34164E-5071-0248-9B48-82FC8B8C76D7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A786D-D65F-3540-9E4D-034A7F1F00C1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600" kern="1200"/>
            <a:t>生成</a:t>
          </a:r>
          <a:r>
            <a:rPr kumimoji="1" lang="en-US" sz="2600" kern="1200" dirty="0"/>
            <a:t>AI</a:t>
          </a:r>
          <a:r>
            <a:rPr kumimoji="1" lang="ja-JP" sz="2600" kern="1200"/>
            <a:t>がどれくらい難読化できるかを評価する。</a:t>
          </a:r>
          <a:endParaRPr lang="en-US" sz="2600" kern="1200" dirty="0"/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FF8D9-170D-5945-B46D-80FB79F0717D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AC0DF-4DAE-294C-AB2C-C3ADA7B834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906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AC0DF-4DAE-294C-AB2C-C3ADA7B834F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9646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AC0DF-4DAE-294C-AB2C-C3ADA7B834F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7048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1"/>
              <a:t>要因</a:t>
            </a:r>
            <a:endParaRPr lang="ja-JP" altLang="en-US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識別子名の変更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処理の分割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冗長な関数呼び出しの追加</a:t>
            </a:r>
            <a:br>
              <a:rPr lang="ja-JP" altLang="en-US"/>
            </a:br>
            <a:r>
              <a:rPr lang="ja-JP" altLang="en-US"/>
              <a:t>（</a:t>
            </a:r>
            <a:r>
              <a:rPr lang="en" altLang="ja-JP" dirty="0"/>
              <a:t>ChatGPT </a:t>
            </a:r>
            <a:r>
              <a:rPr lang="ja-JP" altLang="en-US"/>
              <a:t>による難読化の特徴）</a:t>
            </a:r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AC0DF-4DAE-294C-AB2C-C3ADA7B834F6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2894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1"/>
              <a:t>特徴（得意な点）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ja-JP" dirty="0"/>
              <a:t>AST </a:t>
            </a:r>
            <a:r>
              <a:rPr lang="ja-JP" altLang="en-US"/>
              <a:t>構造類似度・ノード頻度の評価より，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構文構造は </a:t>
            </a:r>
            <a:r>
              <a:rPr lang="ja-JP" altLang="en-US" b="1"/>
              <a:t>大きく変化</a:t>
            </a:r>
            <a:endParaRPr lang="ja-JP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ja-JP" dirty="0"/>
              <a:t>If / Call / Name </a:t>
            </a:r>
            <a:r>
              <a:rPr lang="ja-JP" altLang="en-US"/>
              <a:t>などのノードが増加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識別子変更・処理分割・冗長呼び出しにより</a:t>
            </a:r>
            <a:br>
              <a:rPr lang="ja-JP" altLang="en-US"/>
            </a:br>
            <a:r>
              <a:rPr lang="ja-JP" altLang="en-US" b="1"/>
              <a:t>コードの表層構造を大きく変形可能</a:t>
            </a:r>
            <a:endParaRPr lang="ja-JP" altLang="en-US"/>
          </a:p>
          <a:p>
            <a:r>
              <a:rPr lang="ja-JP" altLang="en-US"/>
              <a:t>➡ </a:t>
            </a:r>
            <a:r>
              <a:rPr lang="ja-JP" altLang="en-US" b="1"/>
              <a:t>人間の可読性が大きく低下</a:t>
            </a:r>
            <a:br>
              <a:rPr lang="ja-JP" altLang="en-US"/>
            </a:br>
            <a:r>
              <a:rPr lang="ja-JP" altLang="en-US"/>
              <a:t>➡ </a:t>
            </a:r>
            <a:r>
              <a:rPr lang="ja-JP" altLang="en-US" b="1"/>
              <a:t>単純な静的解析による比較が困難</a:t>
            </a:r>
            <a:endParaRPr lang="ja-JP" altLang="en-US"/>
          </a:p>
          <a:p>
            <a:endParaRPr kumimoji="1" lang="en-US" altLang="ja-JP" dirty="0"/>
          </a:p>
          <a:p>
            <a:r>
              <a:rPr lang="ja-JP" altLang="en-US" b="1"/>
              <a:t>限界（苦手な点）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ja-JP" dirty="0"/>
              <a:t>CFG </a:t>
            </a:r>
            <a:r>
              <a:rPr lang="ja-JP" altLang="en-US"/>
              <a:t>類似度・サイクロマチック複雑度より，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制御フローの意味的構造は </a:t>
            </a:r>
            <a:r>
              <a:rPr lang="ja-JP" altLang="en-US" b="1"/>
              <a:t>大きく変化しない</a:t>
            </a:r>
            <a:endParaRPr lang="ja-JP" altLang="en-US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分岐やループは冗長化できるが，</a:t>
            </a:r>
            <a:br>
              <a:rPr lang="ja-JP" altLang="en-US"/>
            </a:br>
            <a:r>
              <a:rPr lang="ja-JP" altLang="en-US" b="1"/>
              <a:t>制御フローそのものの再構成は困難</a:t>
            </a:r>
            <a:endParaRPr lang="ja-JP" altLang="en-US"/>
          </a:p>
          <a:p>
            <a:r>
              <a:rPr lang="ja-JP" altLang="en-US" b="1"/>
              <a:t>理由</a:t>
            </a:r>
            <a:endParaRPr lang="ja-JP" altLang="en-US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生成</a:t>
            </a:r>
            <a:r>
              <a:rPr lang="en" altLang="ja-JP" dirty="0"/>
              <a:t>AI</a:t>
            </a:r>
            <a:r>
              <a:rPr lang="ja-JP" altLang="en-US"/>
              <a:t>は</a:t>
            </a:r>
            <a:br>
              <a:rPr lang="ja-JP" altLang="en-US"/>
            </a:br>
            <a:r>
              <a:rPr lang="ja-JP" altLang="en-US" b="1"/>
              <a:t>プログラムの意味・仕様保持を強く優先</a:t>
            </a:r>
            <a:endParaRPr lang="ja-JP" altLang="en-US"/>
          </a:p>
          <a:p>
            <a:endParaRPr kumimoji="1" lang="en-US" altLang="ja-JP" dirty="0"/>
          </a:p>
          <a:p>
            <a:r>
              <a:rPr lang="ja-JP" altLang="en-US" b="1"/>
              <a:t>本研究から得られた結論</a:t>
            </a:r>
          </a:p>
          <a:p>
            <a:r>
              <a:rPr lang="en" altLang="ja-JP" b="1" dirty="0"/>
              <a:t>ChatGPT</a:t>
            </a:r>
            <a:r>
              <a:rPr lang="ja-JP" altLang="en-US" b="1"/>
              <a:t>による難読化は，</a:t>
            </a:r>
            <a:br>
              <a:rPr lang="ja-JP" altLang="en-US" b="1"/>
            </a:br>
            <a:r>
              <a:rPr lang="ja-JP" altLang="en-US" b="1"/>
              <a:t>「見た目（構文）」を複雑にすることには有効だが，</a:t>
            </a:r>
            <a:br>
              <a:rPr lang="ja-JP" altLang="en-US" b="1"/>
            </a:br>
            <a:r>
              <a:rPr lang="ja-JP" altLang="en-US" b="1"/>
              <a:t>「中身（制御構造）」の本質的変化には限界がある</a:t>
            </a:r>
            <a:endParaRPr lang="ja-JP" altLang="en-US"/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AC0DF-4DAE-294C-AB2C-C3ADA7B834F6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8909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E21936-02FE-7954-18AA-92DF88973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309F11-46B7-CC1F-21B3-FF631DCB4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4F9A01-4E66-3EC0-0AF1-43C0BA8E0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8857E-40F9-DE40-90DB-D4557460E884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467ACB-8D9F-CB1A-95B6-F1C53A33F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D61DDB-8DDE-1210-8104-63553FD1C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389C-C6BB-584A-AF18-92C6BAF3E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5685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B9E12B-BA37-207A-6C1B-FCDAF6EC2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AAC08F-52AE-DFA7-F942-6A58CC702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3C7D6C-54B8-70B3-23B7-839E315BD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8857E-40F9-DE40-90DB-D4557460E884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E6CE7A-FF07-1209-2681-0FBCE19F0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7F51C8-1ADB-F2A5-BBC2-5030000C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389C-C6BB-584A-AF18-92C6BAF3E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732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7EECE5-46A5-06E6-2E71-D66D008B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05EDAD-8D7F-9031-FD38-4F8C013AE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8B68AC-2981-84F7-65E3-41ED52CCA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8857E-40F9-DE40-90DB-D4557460E884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D09EF2-8FC8-DFCA-C4DD-582251B2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0DFFA9-DC64-4893-DE2D-4D8587D3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389C-C6BB-584A-AF18-92C6BAF3E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6032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18E5A1-CE78-AEBD-7ADD-B49322BF2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F82FF7-53DA-6854-E174-5CAF27EC2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0FC04C-C798-9EA1-B269-50A5B3C54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014EA37-328A-05F8-D1F4-BE39EEC9C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8857E-40F9-DE40-90DB-D4557460E884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A75E3E-56FB-9642-0F19-368FB9F42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890882-B778-399C-C90D-35D8F75BF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389C-C6BB-584A-AF18-92C6BAF3E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3383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27F72D-CF8B-8F57-C2D5-B43E7192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164E0C-C340-C8F9-DAD7-2ED40FDDD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812E1B5-884C-DF15-F212-528268AB7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C87B567-C537-0CEF-4445-8ED5B806E5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1D0CED6-C25D-E039-1800-54700F5F9E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0A36D00-B857-B5CD-9A16-24CFC891A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8857E-40F9-DE40-90DB-D4557460E884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EF36506-5474-C8ED-D7DD-37F79561D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287512C-850D-3140-24B1-EE45F7413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389C-C6BB-584A-AF18-92C6BAF3E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242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7D709F-7F23-4B65-6D43-754F8C864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1A3288F-3A30-719D-D2CB-59DE71F82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8857E-40F9-DE40-90DB-D4557460E884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04938F4-F2D9-E900-075C-AAE2C3963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7853D72-CDE9-FFE2-DDB6-699ACEE7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389C-C6BB-584A-AF18-92C6BAF3E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0963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7756A77-F936-2DCC-0D41-40316330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8857E-40F9-DE40-90DB-D4557460E884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30D017A-61F8-2D2C-E0BF-684FC4225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2E96E3-2CF4-3309-0A24-4DE86AA42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389C-C6BB-584A-AF18-92C6BAF3E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9647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E0E347-F7D2-F791-EAC2-292692FC9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443EF0-0C52-87B0-C5F9-279EE16B3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CB8AE27-7CF5-FEAD-9257-880284869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4A9E05A-D97B-945B-70E6-C0B71BF91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8857E-40F9-DE40-90DB-D4557460E884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6937E7-F165-B13E-C201-538596400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147047-FECB-4D9A-0B2E-685535D5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389C-C6BB-584A-AF18-92C6BAF3E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167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439E0A-91B0-9137-93D6-810D3690D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645E217-99F1-0D38-9E1D-FBFD18A91C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C4148B9-DE95-ABB2-FD8E-4A6F69BDE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37C053-7B45-087D-1F33-10DE6F147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8857E-40F9-DE40-90DB-D4557460E884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9393AE-5EC6-A96A-EC26-139DFA5D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6FC308-BE35-4017-3F63-4E34DEB46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389C-C6BB-584A-AF18-92C6BAF3E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742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AC66CE-FE92-8F65-4FEA-FD51C57DF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43C20D-8E4F-BA32-CC59-0C0F618FA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A02885-F5B8-51B2-4AF0-21A364D4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8857E-40F9-DE40-90DB-D4557460E884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FAE3D8-8CFE-5E7E-917D-323086A97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AD45C4-A0B7-D0C2-90EF-8B8DEC3C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389C-C6BB-584A-AF18-92C6BAF3E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2053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0F54452-18C9-6FBE-474B-1D6B6AAA07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20722F3-B119-A6A0-3891-C1C57C42A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EA5CEE-25A5-DEDD-D83A-88265B91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8857E-40F9-DE40-90DB-D4557460E884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67C807-0739-6F11-A2D2-0A9337AC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39C5C8-CF8D-05DE-F489-C7CC8822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389C-C6BB-584A-AF18-92C6BAF3E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530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DD2108E-116C-6CCA-9D98-28BCDD879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13D657-1E41-8D7B-2962-75029F6FC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205A69-D4E5-42A4-824B-EED15E612A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F8857E-40F9-DE40-90DB-D4557460E884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9251EC-43EF-9CBE-D110-B28F7630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6AA798-53CF-6ED0-E0D9-82604DE48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3389C-C6BB-584A-AF18-92C6BAF3E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181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008135-F390-A548-50A9-3AEAC12557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ChatGPT</a:t>
            </a:r>
            <a:r>
              <a:rPr kumimoji="1" lang="ja-JP" altLang="en-US"/>
              <a:t>を用いた</a:t>
            </a:r>
            <a:br>
              <a:rPr kumimoji="1" lang="en-US" altLang="ja-JP" dirty="0"/>
            </a:br>
            <a:r>
              <a:rPr kumimoji="1" lang="en-US" altLang="ja-JP" dirty="0"/>
              <a:t>Python</a:t>
            </a:r>
            <a:r>
              <a:rPr kumimoji="1" lang="ja-JP" altLang="en-US"/>
              <a:t>コード難読化と構造的類似度分析ツールの評価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D6A793D-3588-0B25-32FF-9280D00F2B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253550</a:t>
            </a:r>
          </a:p>
          <a:p>
            <a:r>
              <a:rPr lang="ja-JP" altLang="en-US"/>
              <a:t>近藤惇斗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9720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A4C0D3-56EB-B4DB-3DE5-1247BCDD6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9212"/>
            <a:ext cx="10515600" cy="1325563"/>
          </a:xfrm>
        </p:spPr>
        <p:txBody>
          <a:bodyPr>
            <a:normAutofit fontScale="90000"/>
          </a:bodyPr>
          <a:lstStyle/>
          <a:p>
            <a:r>
              <a:rPr kumimoji="1" lang="ja-JP" altLang="en-US"/>
              <a:t>難読化とは？</a:t>
            </a: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r>
              <a:rPr kumimoji="1" lang="ja-JP" altLang="en-US"/>
              <a:t>なぜ必要か？</a:t>
            </a:r>
          </a:p>
        </p:txBody>
      </p:sp>
      <p:pic>
        <p:nvPicPr>
          <p:cNvPr id="3074" name="Picture 2" descr="プログラマ―の無料イラスト | フリーイラスト素材集 ジャパクリップ">
            <a:extLst>
              <a:ext uri="{FF2B5EF4-FFF2-40B4-BE49-F238E27FC236}">
                <a16:creationId xmlns:a16="http://schemas.microsoft.com/office/drawing/2014/main" id="{2C72E6F6-421B-B794-9602-31BE30649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13" y="485775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小学生・中学生向けのICT教室／ イフキッズプログラミング日暮里">
            <a:extLst>
              <a:ext uri="{FF2B5EF4-FFF2-40B4-BE49-F238E27FC236}">
                <a16:creationId xmlns:a16="http://schemas.microsoft.com/office/drawing/2014/main" id="{63F91FD9-02B5-09EF-F41A-B5C85AB7D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4861" y="3818521"/>
            <a:ext cx="2556245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509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EF626C-F97E-AD29-AA9D-71E22CB62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826"/>
            <a:ext cx="10515600" cy="1325563"/>
          </a:xfrm>
        </p:spPr>
        <p:txBody>
          <a:bodyPr/>
          <a:lstStyle/>
          <a:p>
            <a:r>
              <a:rPr kumimoji="1" lang="ja-JP" altLang="en-US"/>
              <a:t>背景</a:t>
            </a:r>
          </a:p>
        </p:txBody>
      </p:sp>
      <p:pic>
        <p:nvPicPr>
          <p:cNvPr id="1028" name="Picture 4" descr="プログラミングをする人のイラスト（男性） | かわいいフリー素材集 いらすとや">
            <a:extLst>
              <a:ext uri="{FF2B5EF4-FFF2-40B4-BE49-F238E27FC236}">
                <a16:creationId xmlns:a16="http://schemas.microsoft.com/office/drawing/2014/main" id="{BFDE2CEC-378A-5398-0B70-5A9C57ACED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48832"/>
            <a:ext cx="2707752" cy="246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FB56476-0B36-91C6-9A03-DC081E5F389E}"/>
              </a:ext>
            </a:extLst>
          </p:cNvPr>
          <p:cNvSpPr txBox="1"/>
          <p:nvPr/>
        </p:nvSpPr>
        <p:spPr>
          <a:xfrm>
            <a:off x="4116104" y="1790400"/>
            <a:ext cx="54107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solidFill>
                  <a:srgbClr val="000088"/>
                </a:solidFill>
                <a:latin typeface="Courier New" panose="02070309020205020404" pitchFamily="49" charset="0"/>
              </a:rPr>
              <a:t>public</a:t>
            </a:r>
            <a:r>
              <a:rPr lang="en-US" altLang="ja-JP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000088"/>
                </a:solidFill>
                <a:latin typeface="Courier New" panose="02070309020205020404" pitchFamily="49" charset="0"/>
              </a:rPr>
              <a:t>class</a:t>
            </a:r>
            <a:r>
              <a:rPr lang="en-US" altLang="ja-JP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ja-JP" b="1" dirty="0">
                <a:solidFill>
                  <a:srgbClr val="660066"/>
                </a:solidFill>
                <a:latin typeface="Courier New" panose="02070309020205020404" pitchFamily="49" charset="0"/>
              </a:rPr>
              <a:t>HelloWorld</a:t>
            </a:r>
            <a:r>
              <a:rPr lang="en-US" altLang="ja-JP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altLang="ja-JP" b="1" dirty="0">
                <a:solidFill>
                  <a:srgbClr val="000088"/>
                </a:solidFill>
                <a:latin typeface="Courier New" panose="02070309020205020404" pitchFamily="49" charset="0"/>
              </a:rPr>
              <a:t>  public void</a:t>
            </a:r>
            <a:r>
              <a:rPr lang="en-US" altLang="ja-JP" b="1" dirty="0">
                <a:solidFill>
                  <a:srgbClr val="000000"/>
                </a:solidFill>
                <a:latin typeface="Courier New" panose="02070309020205020404" pitchFamily="49" charset="0"/>
              </a:rPr>
              <a:t> run(String[] </a:t>
            </a:r>
            <a:r>
              <a:rPr lang="en-US" altLang="ja-JP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US" altLang="ja-JP" b="1" dirty="0">
                <a:solidFill>
                  <a:srgbClr val="000000"/>
                </a:solidFill>
                <a:latin typeface="Courier New" panose="02070309020205020404" pitchFamily="49" charset="0"/>
              </a:rPr>
              <a:t>){</a:t>
            </a:r>
          </a:p>
          <a:p>
            <a:r>
              <a:rPr lang="en-US" altLang="ja-JP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ja-JP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ja-JP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ja-JP" b="1" dirty="0">
                <a:solidFill>
                  <a:srgbClr val="008800"/>
                </a:solidFill>
                <a:latin typeface="Courier New" panose="02070309020205020404" pitchFamily="49" charset="0"/>
              </a:rPr>
              <a:t>"Hello World"</a:t>
            </a:r>
            <a:r>
              <a:rPr lang="en-US" altLang="ja-JP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altLang="ja-JP" b="1" dirty="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  <a:p>
            <a:r>
              <a:rPr lang="en-US" altLang="ja-JP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kumimoji="1" lang="ja-JP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角丸四角形吹き出し 6">
            <a:extLst>
              <a:ext uri="{FF2B5EF4-FFF2-40B4-BE49-F238E27FC236}">
                <a16:creationId xmlns:a16="http://schemas.microsoft.com/office/drawing/2014/main" id="{618E2B63-EF7B-53BB-048E-87B77F3DB465}"/>
              </a:ext>
            </a:extLst>
          </p:cNvPr>
          <p:cNvSpPr/>
          <p:nvPr/>
        </p:nvSpPr>
        <p:spPr>
          <a:xfrm>
            <a:off x="4049930" y="1591686"/>
            <a:ext cx="5543076" cy="1765633"/>
          </a:xfrm>
          <a:prstGeom prst="wedgeRoundRectCallout">
            <a:avLst>
              <a:gd name="adj1" fmla="val -61956"/>
              <a:gd name="adj2" fmla="val 12145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0" name="Picture 6" descr="ハッカーのイラスト | かわいいフリー素材集 いらすとや">
            <a:extLst>
              <a:ext uri="{FF2B5EF4-FFF2-40B4-BE49-F238E27FC236}">
                <a16:creationId xmlns:a16="http://schemas.microsoft.com/office/drawing/2014/main" id="{A1BC6BE5-21E6-4AEF-7598-365396E30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832" y="2312613"/>
            <a:ext cx="2707752" cy="2707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角丸四角形吹き出し 8">
            <a:extLst>
              <a:ext uri="{FF2B5EF4-FFF2-40B4-BE49-F238E27FC236}">
                <a16:creationId xmlns:a16="http://schemas.microsoft.com/office/drawing/2014/main" id="{9E7A762A-AA1F-BC52-8603-535811F60E6C}"/>
              </a:ext>
            </a:extLst>
          </p:cNvPr>
          <p:cNvSpPr/>
          <p:nvPr/>
        </p:nvSpPr>
        <p:spPr>
          <a:xfrm>
            <a:off x="6104023" y="3666489"/>
            <a:ext cx="2923027" cy="1155031"/>
          </a:xfrm>
          <a:prstGeom prst="wedgeRoundRectCallout">
            <a:avLst>
              <a:gd name="adj1" fmla="val 67949"/>
              <a:gd name="adj2" fmla="val 4167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546D3EA-384C-7BF5-31F7-E818002FE8F9}"/>
              </a:ext>
            </a:extLst>
          </p:cNvPr>
          <p:cNvSpPr txBox="1"/>
          <p:nvPr/>
        </p:nvSpPr>
        <p:spPr>
          <a:xfrm>
            <a:off x="6209235" y="4033710"/>
            <a:ext cx="2712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“Hello World”</a:t>
            </a:r>
            <a:r>
              <a:rPr lang="ja-JP" altLang="en-US" sz="2400"/>
              <a:t>だな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1843956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94CF9E-EC67-1CC4-E598-85C6F917C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背景</a:t>
            </a:r>
          </a:p>
        </p:txBody>
      </p:sp>
      <p:pic>
        <p:nvPicPr>
          <p:cNvPr id="4" name="Picture 4" descr="プログラミングをする人のイラスト（男性） | かわいいフリー素材集 いらすとや">
            <a:extLst>
              <a:ext uri="{FF2B5EF4-FFF2-40B4-BE49-F238E27FC236}">
                <a16:creationId xmlns:a16="http://schemas.microsoft.com/office/drawing/2014/main" id="{3A3AFD3B-ECDE-50C8-4B35-EBEDD3EFF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48832"/>
            <a:ext cx="2707752" cy="246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0DC9BB4-BC1D-2159-395D-6A085717AB80}"/>
              </a:ext>
            </a:extLst>
          </p:cNvPr>
          <p:cNvSpPr txBox="1"/>
          <p:nvPr/>
        </p:nvSpPr>
        <p:spPr>
          <a:xfrm>
            <a:off x="4471036" y="1296950"/>
            <a:ext cx="54107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solidFill>
                  <a:srgbClr val="000088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ja-JP" b="1" dirty="0">
                <a:solidFill>
                  <a:srgbClr val="7030A0"/>
                </a:solidFill>
                <a:latin typeface="Courier New" panose="02070309020205020404" pitchFamily="49" charset="0"/>
              </a:rPr>
              <a:t>A</a:t>
            </a:r>
            <a:r>
              <a:rPr lang="en-US" altLang="ja-JP" b="1" dirty="0">
                <a:solidFill>
                  <a:srgbClr val="000088"/>
                </a:solidFill>
                <a:latin typeface="Courier New" panose="02070309020205020404" pitchFamily="49" charset="0"/>
              </a:rPr>
              <a:t> </a:t>
            </a:r>
            <a:r>
              <a:rPr lang="en-US" altLang="ja-JP" b="1" dirty="0">
                <a:latin typeface="Courier New" panose="02070309020205020404" pitchFamily="49" charset="0"/>
              </a:rPr>
              <a:t>{</a:t>
            </a:r>
          </a:p>
          <a:p>
            <a:r>
              <a:rPr lang="en-US" altLang="ja-JP" b="1" dirty="0">
                <a:solidFill>
                  <a:srgbClr val="000088"/>
                </a:solidFill>
                <a:latin typeface="Courier New" panose="02070309020205020404" pitchFamily="49" charset="0"/>
              </a:rPr>
              <a:t>  public void </a:t>
            </a:r>
            <a:r>
              <a:rPr lang="en-US" altLang="ja-JP" b="1" dirty="0">
                <a:solidFill>
                  <a:srgbClr val="7030A0"/>
                </a:solidFill>
                <a:latin typeface="Courier New" panose="02070309020205020404" pitchFamily="49" charset="0"/>
              </a:rPr>
              <a:t>a</a:t>
            </a:r>
            <a:r>
              <a:rPr lang="en-US" altLang="ja-JP" b="1" dirty="0">
                <a:latin typeface="Courier New" panose="02070309020205020404" pitchFamily="49" charset="0"/>
              </a:rPr>
              <a:t>(String[] b){</a:t>
            </a:r>
          </a:p>
          <a:p>
            <a:r>
              <a:rPr lang="en-US" altLang="ja-JP" b="1" dirty="0">
                <a:solidFill>
                  <a:srgbClr val="000088"/>
                </a:solidFill>
                <a:latin typeface="Courier New" panose="02070309020205020404" pitchFamily="49" charset="0"/>
              </a:rPr>
              <a:t>    String c = </a:t>
            </a:r>
            <a:r>
              <a:rPr lang="en-US" altLang="ja-JP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"Hello" </a:t>
            </a:r>
            <a:r>
              <a:rPr lang="en-US" altLang="ja-JP" b="1" dirty="0">
                <a:solidFill>
                  <a:srgbClr val="000088"/>
                </a:solidFill>
                <a:latin typeface="Courier New" panose="02070309020205020404" pitchFamily="49" charset="0"/>
              </a:rPr>
              <a:t>+ </a:t>
            </a:r>
            <a:r>
              <a:rPr lang="en-US" altLang="ja-JP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" "</a:t>
            </a:r>
            <a:r>
              <a:rPr lang="en-US" altLang="ja-JP" b="1" dirty="0">
                <a:solidFill>
                  <a:srgbClr val="000088"/>
                </a:solidFill>
                <a:latin typeface="Courier New" panose="02070309020205020404" pitchFamily="49" charset="0"/>
              </a:rPr>
              <a:t> + </a:t>
            </a:r>
            <a:r>
              <a:rPr lang="en-US" altLang="ja-JP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"World"</a:t>
            </a:r>
            <a:r>
              <a:rPr lang="en-US" altLang="ja-JP" b="1" dirty="0">
                <a:solidFill>
                  <a:srgbClr val="000088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ja-JP" b="1" dirty="0">
                <a:solidFill>
                  <a:srgbClr val="000088"/>
                </a:solidFill>
                <a:latin typeface="Courier New" panose="02070309020205020404" pitchFamily="49" charset="0"/>
              </a:rPr>
              <a:t>    </a:t>
            </a:r>
            <a:r>
              <a:rPr lang="en-US" altLang="ja-JP" b="1" dirty="0" err="1">
                <a:solidFill>
                  <a:srgbClr val="000088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ja-JP" b="1" dirty="0">
                <a:solidFill>
                  <a:srgbClr val="000088"/>
                </a:solidFill>
                <a:latin typeface="Courier New" panose="02070309020205020404" pitchFamily="49" charset="0"/>
              </a:rPr>
              <a:t>(c);</a:t>
            </a:r>
          </a:p>
          <a:p>
            <a:r>
              <a:rPr lang="en-US" altLang="ja-JP" b="1" dirty="0">
                <a:solidFill>
                  <a:srgbClr val="000088"/>
                </a:solidFill>
                <a:latin typeface="Courier New" panose="02070309020205020404" pitchFamily="49" charset="0"/>
              </a:rPr>
              <a:t>  }</a:t>
            </a:r>
          </a:p>
          <a:p>
            <a:r>
              <a:rPr lang="en-US" altLang="ja-JP" b="1" dirty="0">
                <a:solidFill>
                  <a:srgbClr val="000088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" name="角丸四角形吹き出し 5">
            <a:extLst>
              <a:ext uri="{FF2B5EF4-FFF2-40B4-BE49-F238E27FC236}">
                <a16:creationId xmlns:a16="http://schemas.microsoft.com/office/drawing/2014/main" id="{9457FD83-9A7E-1E52-2762-4A2AE7EE6052}"/>
              </a:ext>
            </a:extLst>
          </p:cNvPr>
          <p:cNvSpPr/>
          <p:nvPr/>
        </p:nvSpPr>
        <p:spPr>
          <a:xfrm>
            <a:off x="4049929" y="1205008"/>
            <a:ext cx="5831835" cy="2152312"/>
          </a:xfrm>
          <a:prstGeom prst="wedgeRoundRectCallout">
            <a:avLst>
              <a:gd name="adj1" fmla="val -62368"/>
              <a:gd name="adj2" fmla="val 15499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吹き出し 7">
            <a:extLst>
              <a:ext uri="{FF2B5EF4-FFF2-40B4-BE49-F238E27FC236}">
                <a16:creationId xmlns:a16="http://schemas.microsoft.com/office/drawing/2014/main" id="{B95BCC38-C891-0D86-9BF3-5E609D16759C}"/>
              </a:ext>
            </a:extLst>
          </p:cNvPr>
          <p:cNvSpPr/>
          <p:nvPr/>
        </p:nvSpPr>
        <p:spPr>
          <a:xfrm>
            <a:off x="6104023" y="3666489"/>
            <a:ext cx="2923027" cy="1155031"/>
          </a:xfrm>
          <a:prstGeom prst="wedgeRoundRectCallout">
            <a:avLst>
              <a:gd name="adj1" fmla="val 67949"/>
              <a:gd name="adj2" fmla="val 4167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9674B2C-18BA-9134-CEB3-A81812F745D2}"/>
              </a:ext>
            </a:extLst>
          </p:cNvPr>
          <p:cNvSpPr txBox="1"/>
          <p:nvPr/>
        </p:nvSpPr>
        <p:spPr>
          <a:xfrm>
            <a:off x="6488456" y="401317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わからない、、</a:t>
            </a:r>
            <a:endParaRPr kumimoji="1" lang="ja-JP" altLang="en-US" sz="2400"/>
          </a:p>
        </p:txBody>
      </p:sp>
      <p:pic>
        <p:nvPicPr>
          <p:cNvPr id="2050" name="Picture 2" descr="いろいろな表情のハッカーのイラスト（喜怒哀楽） | かわいいフリー素材集 いらすとや">
            <a:extLst>
              <a:ext uri="{FF2B5EF4-FFF2-40B4-BE49-F238E27FC236}">
                <a16:creationId xmlns:a16="http://schemas.microsoft.com/office/drawing/2014/main" id="{49EC58C9-3473-84C0-7E10-D1B9C0E0C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033" y="2312613"/>
            <a:ext cx="2057767" cy="2707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68C953C-731D-C2F9-42D8-99CACDE2363C}"/>
              </a:ext>
            </a:extLst>
          </p:cNvPr>
          <p:cNvSpPr txBox="1"/>
          <p:nvPr/>
        </p:nvSpPr>
        <p:spPr>
          <a:xfrm>
            <a:off x="272716" y="4866187"/>
            <a:ext cx="22980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難読化とは</a:t>
            </a:r>
            <a:r>
              <a:rPr lang="en-US" altLang="ja-JP" sz="2800" dirty="0"/>
              <a:t>...</a:t>
            </a:r>
          </a:p>
          <a:p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A524994-66E7-EF10-82D9-AD99D9341F6E}"/>
              </a:ext>
            </a:extLst>
          </p:cNvPr>
          <p:cNvSpPr txBox="1"/>
          <p:nvPr/>
        </p:nvSpPr>
        <p:spPr>
          <a:xfrm>
            <a:off x="676896" y="5542578"/>
            <a:ext cx="1085425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/>
              <a:t>「プログラムの機能や動作を保持したまま、ソースコード</a:t>
            </a:r>
            <a:endParaRPr lang="en-US" altLang="ja-JP" sz="3200" b="1" dirty="0"/>
          </a:p>
          <a:p>
            <a:r>
              <a:rPr lang="ja-JP" altLang="en-US" sz="3200" b="1"/>
              <a:t>の可読性や解析容易性を意図的に低下させる技術」</a:t>
            </a:r>
            <a:endParaRPr kumimoji="1" lang="ja-JP" altLang="en-US" sz="3200" b="1"/>
          </a:p>
        </p:txBody>
      </p:sp>
    </p:spTree>
    <p:extLst>
      <p:ext uri="{BB962C8B-B14F-4D97-AF65-F5344CB8AC3E}">
        <p14:creationId xmlns:p14="http://schemas.microsoft.com/office/powerpoint/2010/main" val="3751806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B27711-06CB-96EB-AD41-5D47E48DE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研究の背景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BE7AE0-6AC0-7846-7F76-472C712CB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既存の難読化ツールの多くは</a:t>
            </a:r>
            <a:br>
              <a:rPr lang="ja-JP" altLang="en-US"/>
            </a:br>
            <a:r>
              <a:rPr lang="ja-JP" altLang="en-US" b="1"/>
              <a:t>「難読化後のコードを生成すること」</a:t>
            </a:r>
            <a:r>
              <a:rPr lang="ja-JP" altLang="en-US"/>
              <a:t>が主目的</a:t>
            </a:r>
            <a:endParaRPr lang="en-US" altLang="ja-JP" dirty="0"/>
          </a:p>
          <a:p>
            <a:pPr marL="0" indent="0">
              <a:buNone/>
            </a:pPr>
            <a:endParaRPr lang="ja-JP" altLang="en-US"/>
          </a:p>
          <a:p>
            <a:pPr marL="0" indent="0">
              <a:buNone/>
            </a:pPr>
            <a:r>
              <a:rPr lang="ja-JP" altLang="en-US"/>
              <a:t>その結果、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どの難読化手法が使われているのか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難読化前後でコード構造がどれほど変化したのか</a:t>
            </a:r>
            <a:br>
              <a:rPr lang="ja-JP" altLang="en-US"/>
            </a:br>
            <a:r>
              <a:rPr lang="ja-JP" altLang="en-US"/>
              <a:t>を ユーザが把握しにくい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8966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52A708-E146-C6D8-157A-14EC1CB4A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研究の背景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A7DB45-B67F-C212-A1BE-79A1F08E6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研究・評価の観点では、難読化の </a:t>
            </a:r>
            <a:r>
              <a:rPr lang="ja-JP" altLang="en-US" b="1"/>
              <a:t>強度</a:t>
            </a:r>
            <a:endParaRPr lang="ja-JP" altLang="en-US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可読性・保守性への </a:t>
            </a:r>
            <a:r>
              <a:rPr lang="ja-JP" altLang="en-US" b="1"/>
              <a:t>影響</a:t>
            </a:r>
            <a:br>
              <a:rPr lang="ja-JP" altLang="en-US"/>
            </a:br>
            <a:r>
              <a:rPr lang="ja-JP" altLang="en-US"/>
              <a:t>を </a:t>
            </a:r>
            <a:r>
              <a:rPr lang="ja-JP" altLang="en-US" b="1"/>
              <a:t>客観的指標で比較することが困難</a:t>
            </a:r>
            <a:endParaRPr lang="en-US" altLang="ja-JP" b="1" dirty="0"/>
          </a:p>
          <a:p>
            <a:pPr marL="0" indent="0">
              <a:buNone/>
            </a:pPr>
            <a:endParaRPr lang="ja-JP" altLang="en-US"/>
          </a:p>
          <a:p>
            <a:pPr marL="0" indent="0">
              <a:buNone/>
            </a:pPr>
            <a:r>
              <a:rPr lang="ja-JP" altLang="en-US"/>
              <a:t>→ 難読化前後の構造変化を</a:t>
            </a:r>
            <a:br>
              <a:rPr lang="ja-JP" altLang="en-US"/>
            </a:br>
            <a:r>
              <a:rPr lang="ja-JP" altLang="en-US" b="1"/>
              <a:t>多角的・定量的に評価できる仕組みが必要</a:t>
            </a:r>
            <a:endParaRPr lang="ja-JP" altLang="en-US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9374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 descr="Google Gemini">
            <a:extLst>
              <a:ext uri="{FF2B5EF4-FFF2-40B4-BE49-F238E27FC236}">
                <a16:creationId xmlns:a16="http://schemas.microsoft.com/office/drawing/2014/main" id="{F79DCEB9-A32C-F362-AEEE-AF601DDFB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880" y="0"/>
            <a:ext cx="5334594" cy="298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Microsoft Copilot 概要 - 米国クラウド">
            <a:extLst>
              <a:ext uri="{FF2B5EF4-FFF2-40B4-BE49-F238E27FC236}">
                <a16:creationId xmlns:a16="http://schemas.microsoft.com/office/drawing/2014/main" id="{D4FA5F24-4249-4319-A227-ECCE4E667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849" y="2322178"/>
            <a:ext cx="2371344" cy="2490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7291F8C-21A7-E2C1-AA8B-E0926CE81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研究の背景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774956-AE1F-1543-2361-596AB9B1B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3200"/>
              <a:t>生成</a:t>
            </a:r>
            <a:r>
              <a:rPr kumimoji="1" lang="en-US" altLang="ja-JP" sz="3200" dirty="0"/>
              <a:t>AI</a:t>
            </a:r>
            <a:r>
              <a:rPr kumimoji="1" lang="ja-JP" altLang="en-US" sz="3200"/>
              <a:t>はコードも作れて、</a:t>
            </a:r>
            <a:endParaRPr kumimoji="1" lang="en-US" altLang="ja-JP" sz="3200" dirty="0"/>
          </a:p>
          <a:p>
            <a:pPr marL="0" indent="0">
              <a:buNone/>
            </a:pPr>
            <a:r>
              <a:rPr kumimoji="1" lang="ja-JP" altLang="en-US" sz="3200"/>
              <a:t>その内容を詳しく説明してくれる</a:t>
            </a:r>
          </a:p>
        </p:txBody>
      </p:sp>
      <p:sp>
        <p:nvSpPr>
          <p:cNvPr id="4" name="下矢印 3">
            <a:extLst>
              <a:ext uri="{FF2B5EF4-FFF2-40B4-BE49-F238E27FC236}">
                <a16:creationId xmlns:a16="http://schemas.microsoft.com/office/drawing/2014/main" id="{DF5BB28B-4465-091A-767E-19C7E2BD4EED}"/>
              </a:ext>
            </a:extLst>
          </p:cNvPr>
          <p:cNvSpPr/>
          <p:nvPr/>
        </p:nvSpPr>
        <p:spPr>
          <a:xfrm>
            <a:off x="3043989" y="3188368"/>
            <a:ext cx="1239253" cy="10587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45018FF-6341-B64F-2CB4-3C3B822C38C4}"/>
              </a:ext>
            </a:extLst>
          </p:cNvPr>
          <p:cNvSpPr txBox="1"/>
          <p:nvPr/>
        </p:nvSpPr>
        <p:spPr>
          <a:xfrm>
            <a:off x="385011" y="4812631"/>
            <a:ext cx="836799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生成</a:t>
            </a:r>
            <a:r>
              <a:rPr kumimoji="1" lang="en-US" altLang="ja-JP" sz="3200" dirty="0"/>
              <a:t>AI</a:t>
            </a:r>
            <a:r>
              <a:rPr kumimoji="1" lang="ja-JP" altLang="en-US" sz="3200"/>
              <a:t>を使って難読化できるのではないか？</a:t>
            </a:r>
          </a:p>
          <a:p>
            <a:r>
              <a:rPr kumimoji="1" lang="ja-JP" altLang="en-US" sz="3200"/>
              <a:t>また、その内容を詳しく説明できるのか？</a:t>
            </a:r>
          </a:p>
        </p:txBody>
      </p:sp>
      <p:pic>
        <p:nvPicPr>
          <p:cNvPr id="4100" name="Picture 4" descr="ChatGPT - Wikipedia">
            <a:extLst>
              <a:ext uri="{FF2B5EF4-FFF2-40B4-BE49-F238E27FC236}">
                <a16:creationId xmlns:a16="http://schemas.microsoft.com/office/drawing/2014/main" id="{B4F3E4D6-E585-F9B6-BE49-243CD7057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447" y="292621"/>
            <a:ext cx="1936353" cy="193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Googleの対話型AI「Bard」とは？ 使い方や特徴、Chat GPTとの違いを解説！ | 株式会社PLAN-B">
            <a:extLst>
              <a:ext uri="{FF2B5EF4-FFF2-40B4-BE49-F238E27FC236}">
                <a16:creationId xmlns:a16="http://schemas.microsoft.com/office/drawing/2014/main" id="{2EFDBCEE-C180-4BC8-34B1-E742DBC02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876" y="2595241"/>
            <a:ext cx="2983195" cy="1304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235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17AF3A8-18D0-EC13-69DA-D2C735903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kumimoji="1" lang="ja-JP" altLang="en-US" sz="4800"/>
              <a:t>研究の目的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55A20E9A-48BD-5D80-6419-30B3CFCE1C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5427387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467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1553AB-9C1A-5ABF-8219-5255CBBB9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462"/>
            <a:ext cx="10515600" cy="1325563"/>
          </a:xfrm>
        </p:spPr>
        <p:txBody>
          <a:bodyPr/>
          <a:lstStyle/>
          <a:p>
            <a:r>
              <a:rPr kumimoji="1" lang="ja-JP" altLang="en-US"/>
              <a:t>研究の方法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4A8CAF-85ED-9309-C981-28EC6AB4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867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ja-JP" altLang="en-US" b="1">
                <a:effectLst/>
                <a:latin typeface="HaranoAjiGothic-Medium-Identity-H"/>
              </a:rPr>
              <a:t>特徴量抽出モジュール</a:t>
            </a:r>
            <a:endParaRPr lang="en-US" altLang="ja-JP" b="1" dirty="0">
              <a:latin typeface="HaranoAjiGothic-Medium-Identity-H"/>
            </a:endParaRPr>
          </a:p>
          <a:p>
            <a:pPr marL="0" indent="0">
              <a:buNone/>
            </a:pPr>
            <a:r>
              <a:rPr lang="en" altLang="ja-JP" dirty="0">
                <a:effectLst/>
                <a:latin typeface="CMR10"/>
              </a:rPr>
              <a:t>Python </a:t>
            </a:r>
            <a:r>
              <a:rPr lang="ja-JP" altLang="en-US">
                <a:effectLst/>
                <a:latin typeface="HaranoAjiMincho-Regular-Identity-H"/>
              </a:rPr>
              <a:t>の </a:t>
            </a:r>
            <a:r>
              <a:rPr lang="en" altLang="ja-JP" dirty="0">
                <a:effectLst/>
                <a:latin typeface="CMR10"/>
              </a:rPr>
              <a:t>AST </a:t>
            </a:r>
            <a:r>
              <a:rPr lang="ja-JP" altLang="en-US">
                <a:effectLst/>
                <a:latin typeface="HaranoAjiMincho-Regular-Identity-H"/>
              </a:rPr>
              <a:t>や </a:t>
            </a:r>
            <a:r>
              <a:rPr lang="en" altLang="ja-JP" dirty="0">
                <a:effectLst/>
                <a:latin typeface="CMR10"/>
              </a:rPr>
              <a:t>CFG</a:t>
            </a:r>
            <a:r>
              <a:rPr lang="ja-JP" altLang="en">
                <a:effectLst/>
                <a:latin typeface="HaranoAjiMincho-Regular-Identity-H"/>
              </a:rPr>
              <a:t>、</a:t>
            </a:r>
            <a:r>
              <a:rPr lang="ja-JP" altLang="en-US">
                <a:effectLst/>
                <a:latin typeface="HaranoAjiMincho-Regular-Identity-H"/>
              </a:rPr>
              <a:t>サイクロマチック複雑度などを計算し、難読化前後のコードからそれぞれ の指標を抽出する。 </a:t>
            </a:r>
            <a:endParaRPr lang="en-US" altLang="ja-JP" dirty="0">
              <a:effectLst/>
              <a:latin typeface="HaranoAjiMincho-Regular-Identity-H"/>
            </a:endParaRPr>
          </a:p>
          <a:p>
            <a:pPr marL="514350" indent="-514350">
              <a:buAutoNum type="arabicPeriod"/>
            </a:pPr>
            <a:endParaRPr lang="en-US" altLang="ja-JP" dirty="0"/>
          </a:p>
          <a:p>
            <a:pPr marL="0" indent="0">
              <a:buNone/>
            </a:pPr>
            <a:r>
              <a:rPr lang="en-US" altLang="ja-JP" b="1" dirty="0">
                <a:effectLst/>
                <a:latin typeface="CMR10"/>
              </a:rPr>
              <a:t>2. </a:t>
            </a:r>
            <a:r>
              <a:rPr lang="ja-JP" altLang="en-US" b="1">
                <a:effectLst/>
                <a:latin typeface="HaranoAjiGothic-Medium-Identity-H"/>
              </a:rPr>
              <a:t>類似度計算モジュール</a:t>
            </a:r>
            <a:r>
              <a:rPr lang="ja-JP" altLang="en-US">
                <a:effectLst/>
                <a:latin typeface="HaranoAjiGothic-Medium-Identity-H"/>
              </a:rPr>
              <a:t> </a:t>
            </a:r>
            <a:endParaRPr lang="en-US" altLang="ja-JP" dirty="0">
              <a:effectLst/>
              <a:latin typeface="HaranoAjiGothic-Medium-Identity-H"/>
            </a:endParaRPr>
          </a:p>
          <a:p>
            <a:pPr marL="0" indent="0">
              <a:buNone/>
            </a:pPr>
            <a:r>
              <a:rPr lang="ja-JP" altLang="en-US">
                <a:effectLst/>
                <a:latin typeface="HaranoAjiMincho-Regular-Identity-H"/>
              </a:rPr>
              <a:t>抽出した特徴量に対してコサイン類似度や木編集距離に基づく正規化類似度を計算し、表・グラフとし てまとめる。</a:t>
            </a:r>
            <a:endParaRPr lang="en-US" altLang="ja-JP" dirty="0">
              <a:effectLst/>
              <a:latin typeface="HaranoAjiMincho-Regular-Identity-H"/>
            </a:endParaRPr>
          </a:p>
          <a:p>
            <a:pPr marL="0" indent="0">
              <a:buNone/>
            </a:pPr>
            <a:endParaRPr lang="en-US" altLang="ja-JP" dirty="0">
              <a:latin typeface="HaranoAjiMincho-Regular-Identity-H"/>
            </a:endParaRPr>
          </a:p>
          <a:p>
            <a:pPr marL="0" indent="0">
              <a:buNone/>
            </a:pPr>
            <a:r>
              <a:rPr lang="en-US" altLang="ja-JP" b="1" dirty="0">
                <a:effectLst/>
                <a:latin typeface="CMR10"/>
              </a:rPr>
              <a:t>3. </a:t>
            </a:r>
            <a:r>
              <a:rPr lang="ja-JP" altLang="en-US" b="1">
                <a:effectLst/>
                <a:latin typeface="HaranoAjiGothic-Medium-Identity-H"/>
              </a:rPr>
              <a:t>レポート生成モジュール</a:t>
            </a:r>
            <a:br>
              <a:rPr lang="ja-JP" altLang="en-US">
                <a:effectLst/>
                <a:latin typeface="HaranoAjiGothic-Medium-Identity-H"/>
              </a:rPr>
            </a:br>
            <a:r>
              <a:rPr lang="ja-JP" altLang="en-US">
                <a:effectLst/>
                <a:latin typeface="HaranoAjiMincho-Regular-Identity-H"/>
              </a:rPr>
              <a:t>計算結果と、生成 </a:t>
            </a:r>
            <a:r>
              <a:rPr lang="en" altLang="ja-JP" dirty="0">
                <a:effectLst/>
                <a:latin typeface="CMR10"/>
              </a:rPr>
              <a:t>AI </a:t>
            </a:r>
            <a:r>
              <a:rPr lang="ja-JP" altLang="en-US">
                <a:effectLst/>
                <a:latin typeface="HaranoAjiMincho-Regular-Identity-H"/>
              </a:rPr>
              <a:t>による難読化手法の説明文を </a:t>
            </a:r>
            <a:r>
              <a:rPr lang="en" altLang="ja-JP" dirty="0">
                <a:effectLst/>
                <a:latin typeface="CMR10"/>
              </a:rPr>
              <a:t>HTML </a:t>
            </a:r>
            <a:r>
              <a:rPr lang="ja-JP" altLang="en-US">
                <a:effectLst/>
                <a:latin typeface="HaranoAjiMincho-Regular-Identity-H"/>
              </a:rPr>
              <a:t>レポートとして出力する。 </a:t>
            </a:r>
            <a:endParaRPr lang="ja-JP" altLang="en-US"/>
          </a:p>
          <a:p>
            <a:pPr marL="0" indent="0">
              <a:buNone/>
            </a:pPr>
            <a:r>
              <a:rPr lang="ja-JP" altLang="en-US">
                <a:effectLst/>
                <a:latin typeface="HaranoAjiMincho-Regular-Identity-H"/>
              </a:rPr>
              <a:t> </a:t>
            </a:r>
            <a:endParaRPr lang="ja-JP" altLang="en-US"/>
          </a:p>
          <a:p>
            <a:pPr marL="514350" indent="-514350">
              <a:buAutoNum type="arabicPeriod"/>
            </a:pPr>
            <a:endParaRPr lang="ja-JP" altLang="en-US"/>
          </a:p>
          <a:p>
            <a:pPr marL="0" indent="0">
              <a:buNone/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7446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AE7DA6-1DFA-F4C1-A7CC-ED6D37A90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84B356-EC46-49A2-F3F6-E18671820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7982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195AB-38E9-C7F6-44E9-7D9D97F56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結果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FA7807-570F-DCEB-6B59-68CE485F1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b="1"/>
              <a:t>使用した評価指標</a:t>
            </a:r>
            <a:endParaRPr lang="en-US" altLang="ja-JP" b="1" dirty="0"/>
          </a:p>
          <a:p>
            <a:pPr marL="0" indent="0">
              <a:buNone/>
            </a:pPr>
            <a:endParaRPr lang="ja-JP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" altLang="ja-JP" b="1" dirty="0"/>
              <a:t>AST </a:t>
            </a:r>
            <a:r>
              <a:rPr lang="ja-JP" altLang="en-US" b="1"/>
              <a:t>構造類似度</a:t>
            </a:r>
            <a:endParaRPr lang="ja-JP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ja-JP" dirty="0"/>
              <a:t>AST </a:t>
            </a:r>
            <a:r>
              <a:rPr lang="ja-JP" altLang="en-US"/>
              <a:t>構造類似度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ja-JP" dirty="0"/>
              <a:t>AST </a:t>
            </a:r>
            <a:r>
              <a:rPr lang="ja-JP" altLang="en-US"/>
              <a:t>ノード頻度に基づくコサイン類似度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ja-JP" b="1" dirty="0"/>
              <a:t>CFG </a:t>
            </a:r>
            <a:r>
              <a:rPr lang="ja-JP" altLang="en-US" b="1"/>
              <a:t>類似度</a:t>
            </a:r>
            <a:endParaRPr lang="ja-JP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制御フロー構造の類似性を評価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b="1"/>
              <a:t>サイクロマチック複雑度</a:t>
            </a:r>
            <a:endParaRPr lang="ja-JP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分岐・ループ構造の複雑さを評価</a:t>
            </a:r>
          </a:p>
          <a:p>
            <a:endParaRPr kumimoji="1"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6208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8F9406-9E30-75AC-8EC6-B70A7542B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結果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3787B6-55E2-6829-D65C-0DBCD3C47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" altLang="ja-JP" b="1"/>
              <a:t>AST </a:t>
            </a:r>
            <a:r>
              <a:rPr lang="ja-JP" altLang="en-US" b="1"/>
              <a:t>構造に基づく評価</a:t>
            </a:r>
            <a:endParaRPr lang="en-US" altLang="ja-JP" b="1"/>
          </a:p>
          <a:p>
            <a:pPr marL="0" indent="0">
              <a:buNone/>
            </a:pPr>
            <a:endParaRPr lang="ja-JP" altLang="en-US" b="1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難読化後のコードは、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ja-JP"/>
              <a:t>AST </a:t>
            </a:r>
            <a:r>
              <a:rPr lang="ja-JP" altLang="en-US"/>
              <a:t>構造類似度が大きく低下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ja-JP"/>
              <a:t>AST </a:t>
            </a:r>
            <a:r>
              <a:rPr lang="ja-JP" altLang="en-US"/>
              <a:t>ノード数が増加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特に </a:t>
            </a:r>
            <a:r>
              <a:rPr lang="en" altLang="ja-JP" b="1"/>
              <a:t>If / Call / Name </a:t>
            </a:r>
            <a:r>
              <a:rPr lang="ja-JP" altLang="en-US" b="1"/>
              <a:t>ノード</a:t>
            </a:r>
            <a:r>
              <a:rPr lang="ja-JP" altLang="en-US"/>
              <a:t>の増加が顕著</a:t>
            </a:r>
          </a:p>
          <a:p>
            <a:pPr marL="0" indent="0">
              <a:buNone/>
            </a:pPr>
            <a:r>
              <a:rPr lang="ja-JP" altLang="en-US"/>
              <a:t>→ 構文構造（見た目）が大きく複雑化</a:t>
            </a:r>
          </a:p>
          <a:p>
            <a:pPr marL="0" indent="0">
              <a:buNone/>
            </a:pPr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2ED3DD5-6EE3-FEF3-E20E-3362DC52F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964" y="637572"/>
            <a:ext cx="5603688" cy="279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088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 descr="グラフ, 棒グラフ&#10;&#10;自動的に生成された説明">
            <a:extLst>
              <a:ext uri="{FF2B5EF4-FFF2-40B4-BE49-F238E27FC236}">
                <a16:creationId xmlns:a16="http://schemas.microsoft.com/office/drawing/2014/main" id="{6F460033-9EB5-2D7A-F3DC-F2D2221D1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9084" y="214312"/>
            <a:ext cx="7193831" cy="3062837"/>
          </a:xfrm>
        </p:spPr>
      </p:pic>
      <p:pic>
        <p:nvPicPr>
          <p:cNvPr id="7" name="図 6" descr="グラフ, 棒グラフ, ウォーターフォール図&#10;&#10;自動的に生成された説明">
            <a:extLst>
              <a:ext uri="{FF2B5EF4-FFF2-40B4-BE49-F238E27FC236}">
                <a16:creationId xmlns:a16="http://schemas.microsoft.com/office/drawing/2014/main" id="{73906552-45F3-33AA-762C-A69C926DB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9" y="3277149"/>
            <a:ext cx="7772400" cy="316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771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80D221-B88F-905E-EBF4-FBD24B127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結果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57B630-E5E8-2BCB-DC9B-1BA19576E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" altLang="ja-JP" b="1" dirty="0"/>
              <a:t>CFG </a:t>
            </a:r>
            <a:r>
              <a:rPr lang="ja-JP" altLang="en-US" b="1"/>
              <a:t>類似度による評価</a:t>
            </a:r>
            <a:endParaRPr lang="en-US" altLang="ja-JP" b="1" dirty="0"/>
          </a:p>
          <a:p>
            <a:pPr marL="0" indent="0">
              <a:buNone/>
            </a:pPr>
            <a:endParaRPr lang="ja-JP" altLang="en-US" b="1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分岐数・ループ数が増加する例はあるが、</a:t>
            </a:r>
            <a:br>
              <a:rPr lang="ja-JP" altLang="en-US"/>
            </a:br>
            <a:r>
              <a:rPr lang="en" altLang="ja-JP" b="1" dirty="0"/>
              <a:t>CFG </a:t>
            </a:r>
            <a:r>
              <a:rPr lang="ja-JP" altLang="en-US" b="1"/>
              <a:t>類似度が極端に低下するケースは少ない</a:t>
            </a:r>
            <a:endParaRPr lang="ja-JP" altLang="en-US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強い難読化を行っても、</a:t>
            </a:r>
            <a:br>
              <a:rPr lang="ja-JP" altLang="en-US"/>
            </a:br>
            <a:r>
              <a:rPr lang="ja-JP" altLang="en-US" b="1"/>
              <a:t>一定以上の類似度を維持</a:t>
            </a:r>
            <a:endParaRPr lang="ja-JP" altLang="en-US"/>
          </a:p>
          <a:p>
            <a:pPr marL="0" indent="0">
              <a:buNone/>
            </a:pPr>
            <a:r>
              <a:rPr lang="ja-JP" altLang="en-US"/>
              <a:t>→ </a:t>
            </a:r>
            <a:r>
              <a:rPr lang="ja-JP" altLang="en-US" b="1"/>
              <a:t>制御フローの意味的構造は保持されている</a:t>
            </a:r>
            <a:br>
              <a:rPr lang="ja-JP" altLang="en-US"/>
            </a:br>
            <a:r>
              <a:rPr lang="ja-JP" altLang="en-US"/>
              <a:t>→ </a:t>
            </a:r>
            <a:r>
              <a:rPr lang="en" altLang="ja-JP" dirty="0"/>
              <a:t>ChatGPT </a:t>
            </a:r>
            <a:r>
              <a:rPr lang="ja-JP" altLang="en-US"/>
              <a:t>は制御構造を冗長化できるが、</a:t>
            </a:r>
            <a:br>
              <a:rPr lang="ja-JP" altLang="en-US"/>
            </a:br>
            <a:r>
              <a:rPr lang="ja-JP" altLang="en-US"/>
              <a:t>　</a:t>
            </a:r>
            <a:r>
              <a:rPr lang="ja-JP" altLang="en-US" b="1"/>
              <a:t>本質的な制御フローの変換は困難</a:t>
            </a:r>
            <a:endParaRPr lang="ja-JP" altLang="en-US"/>
          </a:p>
          <a:p>
            <a:pPr marL="0" indent="0">
              <a:buNone/>
            </a:pPr>
            <a:endParaRPr kumimoji="1" lang="ja-JP" altLang="en-US"/>
          </a:p>
        </p:txBody>
      </p:sp>
      <p:pic>
        <p:nvPicPr>
          <p:cNvPr id="5" name="図 4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E070781F-9F75-D74A-4778-9EA2FF3A1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737" y="344993"/>
            <a:ext cx="7772400" cy="141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35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D2E509-16D9-134F-C492-81DFCAC39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結果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4DA319-1195-2C85-ED1B-58B135DAA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ja-JP" altLang="en-US" b="1"/>
              <a:t>サイクロマチック複雑度の評価</a:t>
            </a:r>
            <a:endParaRPr lang="en-US" altLang="ja-JP" b="1" dirty="0"/>
          </a:p>
          <a:p>
            <a:pPr marL="0" indent="0">
              <a:buNone/>
            </a:pPr>
            <a:endParaRPr lang="ja-JP" altLang="en-US" b="1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難読化後、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ブロック数は増加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b="1"/>
              <a:t>平均複雑度は大きく増えない</a:t>
            </a:r>
            <a:endParaRPr lang="ja-JP" altLang="en-US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処理が細分化され、</a:t>
            </a:r>
            <a:br>
              <a:rPr lang="ja-JP" altLang="en-US"/>
            </a:br>
            <a:r>
              <a:rPr lang="ja-JP" altLang="en-US" b="1"/>
              <a:t>関数単位で複雑度が分散</a:t>
            </a:r>
            <a:r>
              <a:rPr lang="ja-JP" altLang="en-US"/>
              <a:t>した影響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一方で、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b="1"/>
              <a:t>複雑度の合計値は増加</a:t>
            </a:r>
            <a:endParaRPr lang="ja-JP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/>
              <a:t>コード全体は冗長で複雑に見える構造に</a:t>
            </a:r>
          </a:p>
          <a:p>
            <a:pPr marL="0" indent="0">
              <a:buNone/>
            </a:pPr>
            <a:r>
              <a:rPr lang="ja-JP" altLang="en-US"/>
              <a:t>→ 制御構造の本質的な複雑さは</a:t>
            </a:r>
            <a:br>
              <a:rPr lang="ja-JP" altLang="en-US"/>
            </a:br>
            <a:r>
              <a:rPr lang="ja-JP" altLang="en-US"/>
              <a:t>　</a:t>
            </a:r>
            <a:r>
              <a:rPr lang="ja-JP" altLang="en-US" b="1"/>
              <a:t>難読化前後で大きく変化していない</a:t>
            </a:r>
            <a:endParaRPr lang="ja-JP" altLang="en-US"/>
          </a:p>
          <a:p>
            <a:pPr marL="0" indent="0">
              <a:buNone/>
            </a:pPr>
            <a:endParaRPr kumimoji="1" lang="ja-JP" altLang="en-US"/>
          </a:p>
        </p:txBody>
      </p:sp>
      <p:pic>
        <p:nvPicPr>
          <p:cNvPr id="5" name="図 4" descr="テキスト&#10;&#10;自動的に生成された説明">
            <a:extLst>
              <a:ext uri="{FF2B5EF4-FFF2-40B4-BE49-F238E27FC236}">
                <a16:creationId xmlns:a16="http://schemas.microsoft.com/office/drawing/2014/main" id="{27EAFB01-8501-A54B-2D1E-B63512F7F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09612"/>
            <a:ext cx="5316538" cy="254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096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680989-0C66-9760-130E-572BDA4A1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まとめ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28415E-ADAC-42EF-F5BB-D42386B9B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生成</a:t>
            </a:r>
            <a:r>
              <a:rPr kumimoji="1" lang="en-US" altLang="ja-JP" dirty="0"/>
              <a:t>AI</a:t>
            </a:r>
            <a:r>
              <a:rPr kumimoji="1" lang="ja-JP" altLang="en-US"/>
              <a:t>は綺麗なコードを書くのが得意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6E56B1-9216-B2DB-7673-5A8C01367794}"/>
              </a:ext>
            </a:extLst>
          </p:cNvPr>
          <p:cNvSpPr txBox="1"/>
          <p:nvPr/>
        </p:nvSpPr>
        <p:spPr>
          <a:xfrm>
            <a:off x="1303998" y="3903410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複雑なコードを書くのが苦手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B37994C-97EC-B586-DD4F-63CF30236F86}"/>
              </a:ext>
            </a:extLst>
          </p:cNvPr>
          <p:cNvSpPr txBox="1"/>
          <p:nvPr/>
        </p:nvSpPr>
        <p:spPr>
          <a:xfrm>
            <a:off x="2610853" y="5234682"/>
            <a:ext cx="675056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/>
              <a:t>結果的に中身をあまり変えれなく、</a:t>
            </a:r>
            <a:endParaRPr kumimoji="1" lang="en-US" altLang="ja-JP" sz="3200" b="1" dirty="0"/>
          </a:p>
          <a:p>
            <a:r>
              <a:rPr kumimoji="1" lang="ja-JP" altLang="en-US" sz="3200" b="1"/>
              <a:t>見た目だけ難読化することができる</a:t>
            </a:r>
          </a:p>
        </p:txBody>
      </p:sp>
      <p:sp>
        <p:nvSpPr>
          <p:cNvPr id="8" name="屈折矢印 7">
            <a:extLst>
              <a:ext uri="{FF2B5EF4-FFF2-40B4-BE49-F238E27FC236}">
                <a16:creationId xmlns:a16="http://schemas.microsoft.com/office/drawing/2014/main" id="{4016D29C-CE7E-42F3-0CB0-A382BC159490}"/>
              </a:ext>
            </a:extLst>
          </p:cNvPr>
          <p:cNvSpPr/>
          <p:nvPr/>
        </p:nvSpPr>
        <p:spPr>
          <a:xfrm rot="5400000">
            <a:off x="1273342" y="5265339"/>
            <a:ext cx="749968" cy="688655"/>
          </a:xfrm>
          <a:prstGeom prst="bentUpArrow">
            <a:avLst>
              <a:gd name="adj1" fmla="val 25000"/>
              <a:gd name="adj2" fmla="val 31988"/>
              <a:gd name="adj3" fmla="val 3723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上下矢印 8">
            <a:extLst>
              <a:ext uri="{FF2B5EF4-FFF2-40B4-BE49-F238E27FC236}">
                <a16:creationId xmlns:a16="http://schemas.microsoft.com/office/drawing/2014/main" id="{759B3A95-2137-8C50-AFDA-004E9F3CEF4B}"/>
              </a:ext>
            </a:extLst>
          </p:cNvPr>
          <p:cNvSpPr/>
          <p:nvPr/>
        </p:nvSpPr>
        <p:spPr>
          <a:xfrm>
            <a:off x="3248526" y="2455770"/>
            <a:ext cx="806116" cy="1279176"/>
          </a:xfrm>
          <a:prstGeom prst="up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9938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11595</TotalTime>
  <Words>850</Words>
  <Application>Microsoft Macintosh PowerPoint</Application>
  <PresentationFormat>ワイド画面</PresentationFormat>
  <Paragraphs>115</Paragraphs>
  <Slides>16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5" baseType="lpstr">
      <vt:lpstr>CMR10</vt:lpstr>
      <vt:lpstr>HaranoAjiGothic-Medium-Identity-H</vt:lpstr>
      <vt:lpstr>HaranoAjiMincho-Regular-Identity-H</vt:lpstr>
      <vt:lpstr>游ゴシック</vt:lpstr>
      <vt:lpstr>游ゴシック Light</vt:lpstr>
      <vt:lpstr>Arial</vt:lpstr>
      <vt:lpstr>Consolas</vt:lpstr>
      <vt:lpstr>Courier New</vt:lpstr>
      <vt:lpstr>Office テーマ</vt:lpstr>
      <vt:lpstr>ChatGPTを用いた Pythonコード難読化と構造的類似度分析ツールの評価</vt:lpstr>
      <vt:lpstr>難読化とは？    なぜ必要か？</vt:lpstr>
      <vt:lpstr>背景</vt:lpstr>
      <vt:lpstr>背景</vt:lpstr>
      <vt:lpstr>研究の背景</vt:lpstr>
      <vt:lpstr>研究の背景</vt:lpstr>
      <vt:lpstr>研究の背景</vt:lpstr>
      <vt:lpstr>研究の目的</vt:lpstr>
      <vt:lpstr>研究の方法</vt:lpstr>
      <vt:lpstr>例</vt:lpstr>
      <vt:lpstr>結果</vt:lpstr>
      <vt:lpstr>結果</vt:lpstr>
      <vt:lpstr>PowerPoint プレゼンテーション</vt:lpstr>
      <vt:lpstr>結果</vt:lpstr>
      <vt:lpstr>結果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KONDO ATSUTO</dc:creator>
  <cp:lastModifiedBy>KONDO ATSUTO</cp:lastModifiedBy>
  <cp:revision>4</cp:revision>
  <dcterms:created xsi:type="dcterms:W3CDTF">2026-02-01T23:45:50Z</dcterms:created>
  <dcterms:modified xsi:type="dcterms:W3CDTF">2026-02-10T01:00:58Z</dcterms:modified>
</cp:coreProperties>
</file>