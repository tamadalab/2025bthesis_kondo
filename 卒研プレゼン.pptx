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13"/>
  </p:normalViewPr>
  <p:slideViewPr>
    <p:cSldViewPr snapToGrid="0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F8D9-170D-5945-B46D-80FB79F0717D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AC0DF-4DAE-294C-AB2C-C3ADA7B834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906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b="1"/>
              <a:t>要因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識別子名の変更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処理の分割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冗長な関数呼び出しの追加</a:t>
            </a:r>
            <a:br>
              <a:rPr lang="ja-JP" altLang="en-US"/>
            </a:br>
            <a:r>
              <a:rPr lang="ja-JP" altLang="en-US"/>
              <a:t>（</a:t>
            </a:r>
            <a:r>
              <a:rPr lang="en" altLang="ja-JP" dirty="0"/>
              <a:t>ChatGPT </a:t>
            </a:r>
            <a:r>
              <a:rPr lang="ja-JP" altLang="en-US"/>
              <a:t>による難読化の特徴）</a:t>
            </a:r>
          </a:p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894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b="1"/>
              <a:t>特徴（得意な点）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構造類似度・ノード頻度の評価より，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構文構造は </a:t>
            </a:r>
            <a:r>
              <a:rPr lang="ja-JP" altLang="en-US" b="1"/>
              <a:t>大きく変化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If / Call / Name </a:t>
            </a:r>
            <a:r>
              <a:rPr lang="ja-JP" altLang="en-US"/>
              <a:t>などのノードが増加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識別子変更・処理分割・冗長呼び出しにより</a:t>
            </a:r>
            <a:br>
              <a:rPr lang="ja-JP" altLang="en-US"/>
            </a:br>
            <a:r>
              <a:rPr lang="ja-JP" altLang="en-US" b="1"/>
              <a:t>コードの表層構造を大きく変形可能</a:t>
            </a:r>
            <a:endParaRPr lang="ja-JP" altLang="en-US"/>
          </a:p>
          <a:p>
            <a:r>
              <a:rPr lang="ja-JP" altLang="en-US"/>
              <a:t>➡ </a:t>
            </a:r>
            <a:r>
              <a:rPr lang="ja-JP" altLang="en-US" b="1"/>
              <a:t>人間の可読性が大きく低下</a:t>
            </a:r>
            <a:br>
              <a:rPr lang="ja-JP" altLang="en-US"/>
            </a:br>
            <a:r>
              <a:rPr lang="ja-JP" altLang="en-US"/>
              <a:t>➡ </a:t>
            </a:r>
            <a:r>
              <a:rPr lang="ja-JP" altLang="en-US" b="1"/>
              <a:t>単純な静的解析による比較が困難</a:t>
            </a:r>
            <a:endParaRPr lang="ja-JP" altLang="en-US"/>
          </a:p>
          <a:p>
            <a:endParaRPr kumimoji="1" lang="en-US" altLang="ja-JP" dirty="0"/>
          </a:p>
          <a:p>
            <a:r>
              <a:rPr lang="ja-JP" altLang="en-US" b="1"/>
              <a:t>限界（苦手な点）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dirty="0"/>
              <a:t>CFG </a:t>
            </a:r>
            <a:r>
              <a:rPr lang="ja-JP" altLang="en-US"/>
              <a:t>類似度・サイクロマチック複雑度より，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制御フローの意味的構造は </a:t>
            </a:r>
            <a:r>
              <a:rPr lang="ja-JP" altLang="en-US" b="1"/>
              <a:t>大きく変化しない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分岐やループは冗長化できるが，</a:t>
            </a:r>
            <a:br>
              <a:rPr lang="ja-JP" altLang="en-US"/>
            </a:br>
            <a:r>
              <a:rPr lang="ja-JP" altLang="en-US" b="1"/>
              <a:t>制御フローそのものの再構成は困難</a:t>
            </a:r>
            <a:endParaRPr lang="ja-JP" altLang="en-US"/>
          </a:p>
          <a:p>
            <a:r>
              <a:rPr lang="ja-JP" altLang="en-US" b="1"/>
              <a:t>理由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生成</a:t>
            </a:r>
            <a:r>
              <a:rPr lang="en" altLang="ja-JP" dirty="0"/>
              <a:t>AI</a:t>
            </a:r>
            <a:r>
              <a:rPr lang="ja-JP" altLang="en-US"/>
              <a:t>は</a:t>
            </a:r>
            <a:br>
              <a:rPr lang="ja-JP" altLang="en-US"/>
            </a:br>
            <a:r>
              <a:rPr lang="ja-JP" altLang="en-US" b="1"/>
              <a:t>プログラムの意味・仕様保持を強く優先</a:t>
            </a:r>
            <a:endParaRPr lang="ja-JP" altLang="en-US"/>
          </a:p>
          <a:p>
            <a:endParaRPr kumimoji="1" lang="en-US" altLang="ja-JP" dirty="0"/>
          </a:p>
          <a:p>
            <a:r>
              <a:rPr lang="ja-JP" altLang="en-US" b="1"/>
              <a:t>本研究から得られた結論</a:t>
            </a:r>
          </a:p>
          <a:p>
            <a:r>
              <a:rPr lang="en" altLang="ja-JP" b="1" dirty="0"/>
              <a:t>ChatGPT</a:t>
            </a:r>
            <a:r>
              <a:rPr lang="ja-JP" altLang="en-US" b="1"/>
              <a:t>による難読化は，</a:t>
            </a:r>
            <a:br>
              <a:rPr lang="ja-JP" altLang="en-US" b="1"/>
            </a:br>
            <a:r>
              <a:rPr lang="ja-JP" altLang="en-US" b="1"/>
              <a:t>「見た目（構文）」を複雑にすることには有効だが，</a:t>
            </a:r>
            <a:br>
              <a:rPr lang="ja-JP" altLang="en-US" b="1"/>
            </a:br>
            <a:r>
              <a:rPr lang="ja-JP" altLang="en-US" b="1"/>
              <a:t>「中身（制御構造）」の本質的変化には限界がある</a:t>
            </a:r>
            <a:endParaRPr lang="ja-JP" altLang="en-US"/>
          </a:p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909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21936-02FE-7954-18AA-92DF88973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309F11-46B7-CC1F-21B3-FF631DCB4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4F9A01-4E66-3EC0-0AF1-43C0BA8E0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467ACB-8D9F-CB1A-95B6-F1C53A33F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D61DDB-8DDE-1210-8104-63553FD1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568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9E12B-BA37-207A-6C1B-FCDAF6EC2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AAC08F-52AE-DFA7-F942-6A58CC702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3C7D6C-54B8-70B3-23B7-839E315BD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E6CE7A-FF07-1209-2681-0FBCE19F0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F51C8-1ADB-F2A5-BBC2-5030000C9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732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7EECE5-46A5-06E6-2E71-D66D008B7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05EDAD-8D7F-9031-FD38-4F8C013AE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8B68AC-2981-84F7-65E3-41ED52CCA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D09EF2-8FC8-DFCA-C4DD-582251B2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0DFFA9-DC64-4893-DE2D-4D8587D3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032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18E5A1-CE78-AEBD-7ADD-B49322BF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F82FF7-53DA-6854-E174-5CAF27EC20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0FC04C-C798-9EA1-B269-50A5B3C54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14EA37-328A-05F8-D1F4-BE39EEC9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0A75E3E-56FB-9642-0F19-368FB9F42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4890882-B778-399C-C90D-35D8F75B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338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27F72D-CF8B-8F57-C2D5-B43E71923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164E0C-C340-C8F9-DAD7-2ED40FDDD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12E1B5-884C-DF15-F212-528268AB7B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C87B567-C537-0CEF-4445-8ED5B806E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D0CED6-C25D-E039-1800-54700F5F9E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A36D00-B857-B5CD-9A16-24CFC891A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EF36506-5474-C8ED-D7DD-37F79561D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287512C-850D-3140-24B1-EE45F7413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242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7D709F-7F23-4B65-6D43-754F8C864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A3288F-3A30-719D-D2CB-59DE71F82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04938F4-F2D9-E900-075C-AAE2C3963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853D72-CDE9-FFE2-DDB6-699ACEE7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09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756A77-F936-2DCC-0D41-40316330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30D017A-61F8-2D2C-E0BF-684FC4225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E96E3-2CF4-3309-0A24-4DE86AA42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64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E0E347-F7D2-F791-EAC2-292692FC9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443EF0-0C52-87B0-C5F9-279EE16B37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B8AE27-7CF5-FEAD-9257-880284869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A9E05A-D97B-945B-70E6-C0B71BF9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6937E7-F165-B13E-C201-538596400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147047-FECB-4D9A-0B2E-685535D57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167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39E0A-91B0-9137-93D6-810D3690D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645E217-99F1-0D38-9E1D-FBFD18A91C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C4148B9-DE95-ABB2-FD8E-4A6F69BDE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37C053-7B45-087D-1F33-10DE6F147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9393AE-5EC6-A96A-EC26-139DFA5DB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6FC308-BE35-4017-3F63-4E34DEB46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742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AC66CE-FE92-8F65-4FEA-FD51C57DF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43C20D-8E4F-BA32-CC59-0C0F618FA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A02885-F5B8-51B2-4AF0-21A364D4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FAE3D8-8CFE-5E7E-917D-323086A9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AD45C4-A0B7-D0C2-90EF-8B8DEC3C3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2053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F54452-18C9-6FBE-474B-1D6B6AAA0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0722F3-B119-A6A0-3891-C1C57C42A5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EA5CEE-25A5-DEDD-D83A-88265B911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67C807-0739-6F11-A2D2-0A9337AC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39C5C8-CF8D-05DE-F489-C7CC8822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530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D2108E-116C-6CCA-9D98-28BCDD879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13D657-1E41-8D7B-2962-75029F6FC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205A69-D4E5-42A4-824B-EED15E612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9251EC-43EF-9CBE-D110-B28F76304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6AA798-53CF-6ED0-E0D9-82604DE48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81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08135-F390-A548-50A9-3AEAC12557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ChatGPT</a:t>
            </a:r>
            <a:r>
              <a:rPr kumimoji="1" lang="ja-JP" altLang="en-US"/>
              <a:t>を用いた</a:t>
            </a:r>
            <a:br>
              <a:rPr kumimoji="1" lang="en-US" altLang="ja-JP" dirty="0"/>
            </a:br>
            <a:r>
              <a:rPr kumimoji="1" lang="en-US" altLang="ja-JP" dirty="0"/>
              <a:t>Python</a:t>
            </a:r>
            <a:r>
              <a:rPr kumimoji="1" lang="ja-JP" altLang="en-US"/>
              <a:t>コード難読化と構造的類似度分析ツールの評価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D6A793D-3588-0B25-32FF-9280D00F2B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253550</a:t>
            </a:r>
          </a:p>
          <a:p>
            <a:r>
              <a:rPr lang="ja-JP" altLang="en-US"/>
              <a:t>近藤惇斗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720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B27711-06CB-96EB-AD41-5D47E48DE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BE7AE0-6AC0-7846-7F76-472C712CB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既存の難読化ツールの多くは</a:t>
            </a:r>
            <a:br>
              <a:rPr lang="ja-JP" altLang="en-US"/>
            </a:br>
            <a:r>
              <a:rPr lang="ja-JP" altLang="en-US" b="1"/>
              <a:t>「難読化後のコードを生成すること」</a:t>
            </a:r>
            <a:r>
              <a:rPr lang="ja-JP" altLang="en-US"/>
              <a:t>が主目的</a:t>
            </a:r>
            <a:endParaRPr lang="en-US" altLang="ja-JP" dirty="0"/>
          </a:p>
          <a:p>
            <a:pPr marL="0" indent="0">
              <a:buNone/>
            </a:pPr>
            <a:endParaRPr lang="ja-JP" altLang="en-US"/>
          </a:p>
          <a:p>
            <a:pPr marL="0" indent="0">
              <a:buNone/>
            </a:pPr>
            <a:r>
              <a:rPr lang="ja-JP" altLang="en-US"/>
              <a:t>その結果、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どの難読化手法が使われているのか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難読化前後でコード構造がどれほど変化したのか</a:t>
            </a:r>
            <a:br>
              <a:rPr lang="ja-JP" altLang="en-US"/>
            </a:br>
            <a:r>
              <a:rPr lang="ja-JP" altLang="en-US"/>
              <a:t>を ユーザが把握しにくい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966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52A708-E146-C6D8-157A-14EC1CB4A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A7DB45-B67F-C212-A1BE-79A1F08E6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研究・評価の観点では、難読化の </a:t>
            </a:r>
            <a:r>
              <a:rPr lang="ja-JP" altLang="en-US" b="1"/>
              <a:t>強度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可読性・保守性への </a:t>
            </a:r>
            <a:r>
              <a:rPr lang="ja-JP" altLang="en-US" b="1"/>
              <a:t>影響</a:t>
            </a:r>
            <a:br>
              <a:rPr lang="ja-JP" altLang="en-US"/>
            </a:br>
            <a:r>
              <a:rPr lang="ja-JP" altLang="en-US"/>
              <a:t>を </a:t>
            </a:r>
            <a:r>
              <a:rPr lang="ja-JP" altLang="en-US" b="1"/>
              <a:t>客観的指標で比較することが困難</a:t>
            </a:r>
            <a:endParaRPr lang="en-US" altLang="ja-JP" b="1" dirty="0"/>
          </a:p>
          <a:p>
            <a:pPr marL="0" indent="0">
              <a:buNone/>
            </a:pPr>
            <a:endParaRPr lang="ja-JP" altLang="en-US"/>
          </a:p>
          <a:p>
            <a:pPr marL="0" indent="0">
              <a:buNone/>
            </a:pPr>
            <a:r>
              <a:rPr lang="ja-JP" altLang="en-US"/>
              <a:t>→ 難読化前後の構造変化を</a:t>
            </a:r>
            <a:br>
              <a:rPr lang="ja-JP" altLang="en-US"/>
            </a:br>
            <a:r>
              <a:rPr lang="ja-JP" altLang="en-US" b="1"/>
              <a:t>多角的・定量的に評価できる仕組みが必要</a:t>
            </a:r>
            <a:endParaRPr lang="ja-JP" altLang="en-US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9374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7AF3A8-18D0-EC13-69DA-D2C73590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CB2B13-69BA-1B5D-3D70-0972E05B9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本研究では、</a:t>
            </a:r>
            <a:br>
              <a:rPr lang="ja-JP" altLang="en-US"/>
            </a:br>
            <a:r>
              <a:rPr lang="en" altLang="ja-JP" b="1" dirty="0"/>
              <a:t>Python</a:t>
            </a:r>
            <a:r>
              <a:rPr lang="ja-JP" altLang="en-US" b="1"/>
              <a:t>コードを対象に、難読化前後の構造的変化を定量化・可視化するツールの実装と評価</a:t>
            </a:r>
            <a:r>
              <a:rPr lang="ja-JP" altLang="en-US"/>
              <a:t>を目的とする。</a:t>
            </a:r>
            <a:endParaRPr lang="en-US" altLang="ja-JP" dirty="0"/>
          </a:p>
          <a:p>
            <a:r>
              <a:rPr kumimoji="1" lang="ja-JP" altLang="en-US"/>
              <a:t>また、生成</a:t>
            </a:r>
            <a:r>
              <a:rPr kumimoji="1" lang="en-US" altLang="ja-JP" dirty="0"/>
              <a:t>AI</a:t>
            </a:r>
            <a:r>
              <a:rPr kumimoji="1" lang="ja-JP" altLang="en-US"/>
              <a:t>がどれくらい難読化できるかを評価する。</a:t>
            </a:r>
          </a:p>
        </p:txBody>
      </p:sp>
    </p:spTree>
    <p:extLst>
      <p:ext uri="{BB962C8B-B14F-4D97-AF65-F5344CB8AC3E}">
        <p14:creationId xmlns:p14="http://schemas.microsoft.com/office/powerpoint/2010/main" val="111467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553AB-9C1A-5ABF-8219-5255CBBB9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4A8CAF-85ED-9309-C981-28EC6AB4C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b="1" dirty="0">
                <a:effectLst/>
                <a:latin typeface="CMR10"/>
              </a:rPr>
              <a:t>1. </a:t>
            </a:r>
            <a:r>
              <a:rPr lang="ja-JP" altLang="en-US" b="1">
                <a:effectLst/>
                <a:latin typeface="HaranoAjiGothic-Medium-Identity-H"/>
              </a:rPr>
              <a:t>特徴量抽出モジュール</a:t>
            </a:r>
            <a:br>
              <a:rPr lang="ja-JP" altLang="en-US" sz="1800">
                <a:effectLst/>
                <a:latin typeface="HaranoAjiGothic-Medium-Identity-H"/>
              </a:rPr>
            </a:br>
            <a:r>
              <a:rPr lang="en" altLang="ja-JP" dirty="0">
                <a:effectLst/>
                <a:latin typeface="CMR10"/>
              </a:rPr>
              <a:t>Python </a:t>
            </a:r>
            <a:r>
              <a:rPr lang="ja-JP" altLang="en-US">
                <a:effectLst/>
                <a:latin typeface="HaranoAjiMincho-Regular-Identity-H"/>
              </a:rPr>
              <a:t>の </a:t>
            </a:r>
            <a:r>
              <a:rPr lang="en" altLang="ja-JP" dirty="0">
                <a:effectLst/>
                <a:latin typeface="CMR10"/>
              </a:rPr>
              <a:t>AST </a:t>
            </a:r>
            <a:r>
              <a:rPr lang="ja-JP" altLang="en-US">
                <a:effectLst/>
                <a:latin typeface="HaranoAjiMincho-Regular-Identity-H"/>
              </a:rPr>
              <a:t>や </a:t>
            </a:r>
            <a:r>
              <a:rPr lang="en" altLang="ja-JP" dirty="0">
                <a:effectLst/>
                <a:latin typeface="CMR10"/>
              </a:rPr>
              <a:t>CFG</a:t>
            </a:r>
            <a:r>
              <a:rPr lang="ja-JP" altLang="en">
                <a:effectLst/>
                <a:latin typeface="HaranoAjiMincho-Regular-Identity-H"/>
              </a:rPr>
              <a:t>、</a:t>
            </a:r>
            <a:r>
              <a:rPr lang="ja-JP" altLang="en-US">
                <a:effectLst/>
                <a:latin typeface="HaranoAjiMincho-Regular-Identity-H"/>
              </a:rPr>
              <a:t>サイクロマチック複雑度などを計算し、難読化前後のコードからそれぞれ の指標を抽出する。 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446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CC52F2-76DC-4D6F-4E50-D30878565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00592F-4ACA-3F7A-4E61-C9543152F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b="1" dirty="0">
                <a:effectLst/>
                <a:latin typeface="CMR10"/>
              </a:rPr>
              <a:t>2. </a:t>
            </a:r>
            <a:r>
              <a:rPr lang="ja-JP" altLang="en-US" b="1">
                <a:effectLst/>
                <a:latin typeface="HaranoAjiGothic-Medium-Identity-H"/>
              </a:rPr>
              <a:t>類似度計算モジュール</a:t>
            </a:r>
            <a:r>
              <a:rPr lang="ja-JP" altLang="en-US">
                <a:effectLst/>
                <a:latin typeface="HaranoAjiGothic-Medium-Identity-H"/>
              </a:rPr>
              <a:t> </a:t>
            </a:r>
            <a:endParaRPr lang="en-US" altLang="ja-JP" dirty="0">
              <a:effectLst/>
              <a:latin typeface="HaranoAjiGothic-Medium-Identity-H"/>
            </a:endParaRPr>
          </a:p>
          <a:p>
            <a:pPr marL="0" indent="0">
              <a:buNone/>
            </a:pPr>
            <a:r>
              <a:rPr lang="ja-JP" altLang="en-US">
                <a:effectLst/>
                <a:latin typeface="HaranoAjiMincho-Regular-Identity-H"/>
              </a:rPr>
              <a:t>抽出した特徴量に対してコサイン類似度や木編集距離に基づく正規化類似度を計算し、表・グラフとし てまとめる。 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064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8B95BF-8B0E-9A12-A473-BDEE7B31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1DF421-E213-CA60-CFD8-16D4A3807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b="1" dirty="0">
                <a:effectLst/>
                <a:latin typeface="CMR10"/>
              </a:rPr>
              <a:t>3. </a:t>
            </a:r>
            <a:r>
              <a:rPr lang="ja-JP" altLang="en-US" b="1">
                <a:effectLst/>
                <a:latin typeface="HaranoAjiGothic-Medium-Identity-H"/>
              </a:rPr>
              <a:t>レポート生成モジュール</a:t>
            </a:r>
            <a:br>
              <a:rPr lang="ja-JP" altLang="en-US">
                <a:effectLst/>
                <a:latin typeface="HaranoAjiGothic-Medium-Identity-H"/>
              </a:rPr>
            </a:br>
            <a:r>
              <a:rPr lang="ja-JP" altLang="en-US">
                <a:effectLst/>
                <a:latin typeface="HaranoAjiMincho-Regular-Identity-H"/>
              </a:rPr>
              <a:t>計算結果と、生成 </a:t>
            </a:r>
            <a:r>
              <a:rPr lang="en" altLang="ja-JP" dirty="0">
                <a:effectLst/>
                <a:latin typeface="CMR10"/>
              </a:rPr>
              <a:t>AI </a:t>
            </a:r>
            <a:r>
              <a:rPr lang="ja-JP" altLang="en-US">
                <a:effectLst/>
                <a:latin typeface="HaranoAjiMincho-Regular-Identity-H"/>
              </a:rPr>
              <a:t>による難読化手法の説明文を </a:t>
            </a:r>
            <a:r>
              <a:rPr lang="en" altLang="ja-JP" dirty="0">
                <a:effectLst/>
                <a:latin typeface="CMR10"/>
              </a:rPr>
              <a:t>HTML </a:t>
            </a:r>
            <a:r>
              <a:rPr lang="ja-JP" altLang="en-US">
                <a:effectLst/>
                <a:latin typeface="HaranoAjiMincho-Regular-Identity-H"/>
              </a:rPr>
              <a:t>レポートとして出力する。 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41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0195AB-38E9-C7F6-44E9-7D9D97F56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FA7807-570F-DCEB-6B59-68CE485F1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b="1"/>
              <a:t>使用した評価指標</a:t>
            </a:r>
            <a:endParaRPr lang="en-US" altLang="ja-JP" b="1" dirty="0"/>
          </a:p>
          <a:p>
            <a:pPr marL="0" indent="0">
              <a:buNone/>
            </a:pP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b="1" dirty="0"/>
              <a:t>AST </a:t>
            </a:r>
            <a:r>
              <a:rPr lang="ja-JP" altLang="en-US" b="1"/>
              <a:t>構造類似度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構造類似度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ノード頻度に基づくコサイン類似度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b="1" dirty="0"/>
              <a:t>CFG </a:t>
            </a:r>
            <a:r>
              <a:rPr lang="ja-JP" altLang="en-US" b="1"/>
              <a:t>類似度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制御フロー構造の類似性を評価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 b="1"/>
              <a:t>サイクロマチック複雑度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分岐・ループ構造の複雑さを評価</a:t>
            </a:r>
          </a:p>
          <a:p>
            <a:endParaRPr kumimoji="1" lang="en-US" altLang="ja-JP" dirty="0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208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8F9406-9E30-75AC-8EC6-B70A7542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3787B6-55E2-6829-D65C-0DBCD3C4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" altLang="ja-JP" b="1" dirty="0"/>
              <a:t>AST </a:t>
            </a:r>
            <a:r>
              <a:rPr lang="ja-JP" altLang="en-US" b="1"/>
              <a:t>構造に基づく評価</a:t>
            </a:r>
            <a:endParaRPr lang="en-US" altLang="ja-JP" b="1" dirty="0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難読化後のコードは、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構造類似度が大きく低下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ノード数が増加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特に </a:t>
            </a:r>
            <a:r>
              <a:rPr lang="en" altLang="ja-JP" b="1" dirty="0"/>
              <a:t>If / Call / Name </a:t>
            </a:r>
            <a:r>
              <a:rPr lang="ja-JP" altLang="en-US" b="1"/>
              <a:t>ノード</a:t>
            </a:r>
            <a:r>
              <a:rPr lang="ja-JP" altLang="en-US"/>
              <a:t>の増加が顕著</a:t>
            </a:r>
          </a:p>
          <a:p>
            <a:pPr marL="0" indent="0">
              <a:buNone/>
            </a:pPr>
            <a:r>
              <a:rPr lang="ja-JP" altLang="en-US"/>
              <a:t>→ 構文構造（見た目）が大きく複雑化</a:t>
            </a:r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08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0D221-B88F-905E-EBF4-FBD24B127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57B630-E5E8-2BCB-DC9B-1BA19576E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" altLang="ja-JP" b="1" dirty="0"/>
              <a:t>CFG </a:t>
            </a:r>
            <a:r>
              <a:rPr lang="ja-JP" altLang="en-US" b="1"/>
              <a:t>類似度による評価</a:t>
            </a:r>
            <a:endParaRPr lang="en-US" altLang="ja-JP" b="1" dirty="0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分岐数・ループ数が増加する例はあるが、</a:t>
            </a:r>
            <a:br>
              <a:rPr lang="ja-JP" altLang="en-US"/>
            </a:br>
            <a:r>
              <a:rPr lang="en" altLang="ja-JP" b="1" dirty="0"/>
              <a:t>CFG </a:t>
            </a:r>
            <a:r>
              <a:rPr lang="ja-JP" altLang="en-US" b="1"/>
              <a:t>類似度が極端に低下するケースは少ない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強い難読化を行っても、</a:t>
            </a:r>
            <a:br>
              <a:rPr lang="ja-JP" altLang="en-US"/>
            </a:br>
            <a:r>
              <a:rPr lang="ja-JP" altLang="en-US" b="1"/>
              <a:t>一定以上の類似度を維持</a:t>
            </a:r>
            <a:endParaRPr lang="ja-JP" altLang="en-US"/>
          </a:p>
          <a:p>
            <a:pPr marL="0" indent="0">
              <a:buNone/>
            </a:pPr>
            <a:r>
              <a:rPr lang="ja-JP" altLang="en-US"/>
              <a:t>→ </a:t>
            </a:r>
            <a:r>
              <a:rPr lang="ja-JP" altLang="en-US" b="1"/>
              <a:t>制御フローの意味的構造は保持されている</a:t>
            </a:r>
            <a:br>
              <a:rPr lang="ja-JP" altLang="en-US"/>
            </a:br>
            <a:r>
              <a:rPr lang="ja-JP" altLang="en-US"/>
              <a:t>→ </a:t>
            </a:r>
            <a:r>
              <a:rPr lang="en" altLang="ja-JP" dirty="0"/>
              <a:t>ChatGPT </a:t>
            </a:r>
            <a:r>
              <a:rPr lang="ja-JP" altLang="en-US"/>
              <a:t>は制御構造を冗長化できるが、</a:t>
            </a:r>
            <a:br>
              <a:rPr lang="ja-JP" altLang="en-US"/>
            </a:br>
            <a:r>
              <a:rPr lang="ja-JP" altLang="en-US"/>
              <a:t>　</a:t>
            </a:r>
            <a:r>
              <a:rPr lang="ja-JP" altLang="en-US" b="1"/>
              <a:t>本質的な制御フローの変換は困難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83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2E509-16D9-134F-C492-81DFCAC3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4DA319-1195-2C85-ED1B-58B135DAA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ja-JP" altLang="en-US" b="1"/>
              <a:t>サイクロマチック複雑度の評価</a:t>
            </a:r>
            <a:endParaRPr lang="en-US" altLang="ja-JP" b="1" dirty="0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難読化後、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ブロック数は増加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/>
              <a:t>平均複雑度は大きく増えない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処理が細分化され、</a:t>
            </a:r>
            <a:br>
              <a:rPr lang="ja-JP" altLang="en-US"/>
            </a:br>
            <a:r>
              <a:rPr lang="ja-JP" altLang="en-US" b="1"/>
              <a:t>関数単位で複雑度が分散</a:t>
            </a:r>
            <a:r>
              <a:rPr lang="ja-JP" altLang="en-US"/>
              <a:t>した影響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一方で、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/>
              <a:t>複雑度の合計値は増加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コード全体は冗長で複雑に見える構造に</a:t>
            </a:r>
          </a:p>
          <a:p>
            <a:pPr marL="0" indent="0">
              <a:buNone/>
            </a:pPr>
            <a:r>
              <a:rPr lang="ja-JP" altLang="en-US"/>
              <a:t>→ 制御構造の本質的な複雑さは</a:t>
            </a:r>
            <a:br>
              <a:rPr lang="ja-JP" altLang="en-US"/>
            </a:br>
            <a:r>
              <a:rPr lang="ja-JP" altLang="en-US"/>
              <a:t>　</a:t>
            </a:r>
            <a:r>
              <a:rPr lang="ja-JP" altLang="en-US" b="1"/>
              <a:t>難読化前後で大きく変化していない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09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680989-0C66-9760-130E-572BDA4A1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考察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28415E-ADAC-42EF-F5BB-D42386B9B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コードの表層構造を大きく変形が得意</a:t>
            </a:r>
            <a:endParaRPr lang="en-US" altLang="ja-JP" dirty="0"/>
          </a:p>
          <a:p>
            <a:r>
              <a:rPr lang="ja-JP" altLang="en-US"/>
              <a:t>制御フローそのものの再構成は困難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9938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689</Words>
  <Application>Microsoft Macintosh PowerPoint</Application>
  <PresentationFormat>ワイド画面</PresentationFormat>
  <Paragraphs>84</Paragraphs>
  <Slides>12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CMR10</vt:lpstr>
      <vt:lpstr>HaranoAjiGothic-Medium-Identity-H</vt:lpstr>
      <vt:lpstr>HaranoAjiMincho-Regular-Identity-H</vt:lpstr>
      <vt:lpstr>游ゴシック</vt:lpstr>
      <vt:lpstr>游ゴシック Light</vt:lpstr>
      <vt:lpstr>Arial</vt:lpstr>
      <vt:lpstr>Office テーマ</vt:lpstr>
      <vt:lpstr>ChatGPTを用いた Pythonコード難読化と構造的類似度分析ツールの評価</vt:lpstr>
      <vt:lpstr>研究の背景</vt:lpstr>
      <vt:lpstr>研究の背景</vt:lpstr>
      <vt:lpstr>研究の目的</vt:lpstr>
      <vt:lpstr>研究の方法</vt:lpstr>
      <vt:lpstr>研究の方法</vt:lpstr>
      <vt:lpstr>研究の方法</vt:lpstr>
      <vt:lpstr>結果</vt:lpstr>
      <vt:lpstr>結果</vt:lpstr>
      <vt:lpstr>結果</vt:lpstr>
      <vt:lpstr>結果</vt:lpstr>
      <vt:lpstr>考察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KONDO ATSUTO</dc:creator>
  <cp:lastModifiedBy>KONDO ATSUTO</cp:lastModifiedBy>
  <cp:revision>1</cp:revision>
  <dcterms:created xsi:type="dcterms:W3CDTF">2026-02-01T23:45:50Z</dcterms:created>
  <dcterms:modified xsi:type="dcterms:W3CDTF">2026-02-02T01:39:25Z</dcterms:modified>
</cp:coreProperties>
</file>