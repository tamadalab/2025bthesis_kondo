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56" r:id="rId2"/>
  </p:sldIdLst>
  <p:sldSz cx="6858000" cy="97202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56"/>
    <p:restoredTop sz="94632"/>
  </p:normalViewPr>
  <p:slideViewPr>
    <p:cSldViewPr snapToGrid="0">
      <p:cViewPr varScale="1">
        <p:scale>
          <a:sx n="75" d="100"/>
          <a:sy n="75" d="100"/>
        </p:scale>
        <p:origin x="298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C220E2-4E24-104F-9E2D-A5037625EB1D}" type="datetimeFigureOut">
              <a:rPr kumimoji="1" lang="ja-JP" altLang="en-US" smtClean="0"/>
              <a:t>2026/2/11</a:t>
            </a:fld>
            <a:endParaRPr kumimoji="1" lang="ja-JP" altLang="en-US"/>
          </a:p>
        </p:txBody>
      </p:sp>
      <p:sp>
        <p:nvSpPr>
          <p:cNvPr id="4" name="スライド イメージ プレースホルダー 3"/>
          <p:cNvSpPr>
            <a:spLocks noGrp="1" noRot="1" noChangeAspect="1"/>
          </p:cNvSpPr>
          <p:nvPr>
            <p:ph type="sldImg" idx="2"/>
          </p:nvPr>
        </p:nvSpPr>
        <p:spPr>
          <a:xfrm>
            <a:off x="2339975" y="1143000"/>
            <a:ext cx="217805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C66C80-2BBB-F547-8A2A-98BF5ACAE072}" type="slidenum">
              <a:rPr kumimoji="1" lang="ja-JP" altLang="en-US" smtClean="0"/>
              <a:t>‹#›</a:t>
            </a:fld>
            <a:endParaRPr kumimoji="1" lang="ja-JP" altLang="en-US"/>
          </a:p>
        </p:txBody>
      </p:sp>
    </p:spTree>
    <p:extLst>
      <p:ext uri="{BB962C8B-B14F-4D97-AF65-F5344CB8AC3E}">
        <p14:creationId xmlns:p14="http://schemas.microsoft.com/office/powerpoint/2010/main" val="277792309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C66C80-2BBB-F547-8A2A-98BF5ACAE072}" type="slidenum">
              <a:rPr kumimoji="1" lang="ja-JP" altLang="en-US" smtClean="0"/>
              <a:t>1</a:t>
            </a:fld>
            <a:endParaRPr kumimoji="1" lang="ja-JP" altLang="en-US"/>
          </a:p>
        </p:txBody>
      </p:sp>
    </p:spTree>
    <p:extLst>
      <p:ext uri="{BB962C8B-B14F-4D97-AF65-F5344CB8AC3E}">
        <p14:creationId xmlns:p14="http://schemas.microsoft.com/office/powerpoint/2010/main" val="2691548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590794"/>
            <a:ext cx="5829300" cy="3384092"/>
          </a:xfrm>
        </p:spPr>
        <p:txBody>
          <a:bodyPr anchor="b"/>
          <a:lstStyle>
            <a:lvl1pPr algn="ctr">
              <a:defRPr sz="4500"/>
            </a:lvl1pPr>
          </a:lstStyle>
          <a:p>
            <a:r>
              <a:rPr lang="ja-JP" altLang="en-US"/>
              <a:t>マスター タイトルの書式設定</a:t>
            </a:r>
            <a:endParaRPr lang="en-US" dirty="0"/>
          </a:p>
        </p:txBody>
      </p:sp>
      <p:sp>
        <p:nvSpPr>
          <p:cNvPr id="3" name="Subtitle 2"/>
          <p:cNvSpPr>
            <a:spLocks noGrp="1"/>
          </p:cNvSpPr>
          <p:nvPr>
            <p:ph type="subTitle" idx="1"/>
          </p:nvPr>
        </p:nvSpPr>
        <p:spPr>
          <a:xfrm>
            <a:off x="857250" y="5105389"/>
            <a:ext cx="5143500" cy="234681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8DB65230-DAE9-7849-AB31-FD46944276D2}" type="datetimeFigureOut">
              <a:rPr kumimoji="1" lang="ja-JP" altLang="en-US" smtClean="0"/>
              <a:t>2026/2/11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4D9AA3F-60C2-234E-A620-58E329A8025A}" type="slidenum">
              <a:rPr kumimoji="1" lang="ja-JP" altLang="en-US" smtClean="0"/>
              <a:t>‹#›</a:t>
            </a:fld>
            <a:endParaRPr kumimoji="1" lang="ja-JP" altLang="en-US"/>
          </a:p>
        </p:txBody>
      </p:sp>
    </p:spTree>
    <p:extLst>
      <p:ext uri="{BB962C8B-B14F-4D97-AF65-F5344CB8AC3E}">
        <p14:creationId xmlns:p14="http://schemas.microsoft.com/office/powerpoint/2010/main" val="117094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8DB65230-DAE9-7849-AB31-FD46944276D2}" type="datetimeFigureOut">
              <a:rPr kumimoji="1" lang="ja-JP" altLang="en-US" smtClean="0"/>
              <a:t>2026/2/11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4D9AA3F-60C2-234E-A620-58E329A8025A}" type="slidenum">
              <a:rPr kumimoji="1" lang="ja-JP" altLang="en-US" smtClean="0"/>
              <a:t>‹#›</a:t>
            </a:fld>
            <a:endParaRPr kumimoji="1" lang="ja-JP" altLang="en-US"/>
          </a:p>
        </p:txBody>
      </p:sp>
    </p:spTree>
    <p:extLst>
      <p:ext uri="{BB962C8B-B14F-4D97-AF65-F5344CB8AC3E}">
        <p14:creationId xmlns:p14="http://schemas.microsoft.com/office/powerpoint/2010/main" val="1933337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467916" y="2423318"/>
            <a:ext cx="5915025" cy="4043359"/>
          </a:xfrm>
        </p:spPr>
        <p:txBody>
          <a:bodyPr anchor="b"/>
          <a:lstStyle>
            <a:lvl1pPr>
              <a:defRPr sz="45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467916" y="6504929"/>
            <a:ext cx="5915025" cy="212630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8DB65230-DAE9-7849-AB31-FD46944276D2}" type="datetimeFigureOut">
              <a:rPr kumimoji="1" lang="ja-JP" altLang="en-US" smtClean="0"/>
              <a:t>2026/2/11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4D9AA3F-60C2-234E-A620-58E329A8025A}" type="slidenum">
              <a:rPr kumimoji="1" lang="ja-JP" altLang="en-US" smtClean="0"/>
              <a:t>‹#›</a:t>
            </a:fld>
            <a:endParaRPr kumimoji="1" lang="ja-JP" altLang="en-US"/>
          </a:p>
        </p:txBody>
      </p:sp>
    </p:spTree>
    <p:extLst>
      <p:ext uri="{BB962C8B-B14F-4D97-AF65-F5344CB8AC3E}">
        <p14:creationId xmlns:p14="http://schemas.microsoft.com/office/powerpoint/2010/main" val="3193779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471488" y="2587570"/>
            <a:ext cx="2914650" cy="616741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3471863" y="2587570"/>
            <a:ext cx="2914650" cy="616741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8DB65230-DAE9-7849-AB31-FD46944276D2}" type="datetimeFigureOut">
              <a:rPr kumimoji="1" lang="ja-JP" altLang="en-US" smtClean="0"/>
              <a:t>2026/2/11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4D9AA3F-60C2-234E-A620-58E329A8025A}" type="slidenum">
              <a:rPr kumimoji="1" lang="ja-JP" altLang="en-US" smtClean="0"/>
              <a:t>‹#›</a:t>
            </a:fld>
            <a:endParaRPr kumimoji="1" lang="ja-JP" altLang="en-US"/>
          </a:p>
        </p:txBody>
      </p:sp>
    </p:spTree>
    <p:extLst>
      <p:ext uri="{BB962C8B-B14F-4D97-AF65-F5344CB8AC3E}">
        <p14:creationId xmlns:p14="http://schemas.microsoft.com/office/powerpoint/2010/main" val="3456738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472381" y="517516"/>
            <a:ext cx="5915025" cy="1878802"/>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2381" y="2382815"/>
            <a:ext cx="2901255" cy="1167781"/>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4" name="Content Placeholder 3"/>
          <p:cNvSpPr>
            <a:spLocks noGrp="1"/>
          </p:cNvSpPr>
          <p:nvPr>
            <p:ph sz="half" idx="2"/>
          </p:nvPr>
        </p:nvSpPr>
        <p:spPr>
          <a:xfrm>
            <a:off x="472381" y="3550596"/>
            <a:ext cx="2901255" cy="522239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3471863" y="2382815"/>
            <a:ext cx="2915543" cy="1167781"/>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6" name="Content Placeholder 5"/>
          <p:cNvSpPr>
            <a:spLocks noGrp="1"/>
          </p:cNvSpPr>
          <p:nvPr>
            <p:ph sz="quarter" idx="4"/>
          </p:nvPr>
        </p:nvSpPr>
        <p:spPr>
          <a:xfrm>
            <a:off x="3471863" y="3550596"/>
            <a:ext cx="2915543" cy="522239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8DB65230-DAE9-7849-AB31-FD46944276D2}" type="datetimeFigureOut">
              <a:rPr kumimoji="1" lang="ja-JP" altLang="en-US" smtClean="0"/>
              <a:t>2026/2/11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04D9AA3F-60C2-234E-A620-58E329A8025A}" type="slidenum">
              <a:rPr kumimoji="1" lang="ja-JP" altLang="en-US" smtClean="0"/>
              <a:t>‹#›</a:t>
            </a:fld>
            <a:endParaRPr kumimoji="1" lang="ja-JP" altLang="en-US"/>
          </a:p>
        </p:txBody>
      </p:sp>
    </p:spTree>
    <p:extLst>
      <p:ext uri="{BB962C8B-B14F-4D97-AF65-F5344CB8AC3E}">
        <p14:creationId xmlns:p14="http://schemas.microsoft.com/office/powerpoint/2010/main" val="1339377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8DB65230-DAE9-7849-AB31-FD46944276D2}" type="datetimeFigureOut">
              <a:rPr kumimoji="1" lang="ja-JP" altLang="en-US" smtClean="0"/>
              <a:t>2026/2/11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04D9AA3F-60C2-234E-A620-58E329A8025A}" type="slidenum">
              <a:rPr kumimoji="1" lang="ja-JP" altLang="en-US" smtClean="0"/>
              <a:t>‹#›</a:t>
            </a:fld>
            <a:endParaRPr kumimoji="1" lang="ja-JP" altLang="en-US"/>
          </a:p>
        </p:txBody>
      </p:sp>
    </p:spTree>
    <p:extLst>
      <p:ext uri="{BB962C8B-B14F-4D97-AF65-F5344CB8AC3E}">
        <p14:creationId xmlns:p14="http://schemas.microsoft.com/office/powerpoint/2010/main" val="42483233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B65230-DAE9-7849-AB31-FD46944276D2}" type="datetimeFigureOut">
              <a:rPr kumimoji="1" lang="ja-JP" altLang="en-US" smtClean="0"/>
              <a:t>2026/2/11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04D9AA3F-60C2-234E-A620-58E329A8025A}" type="slidenum">
              <a:rPr kumimoji="1" lang="ja-JP" altLang="en-US" smtClean="0"/>
              <a:t>‹#›</a:t>
            </a:fld>
            <a:endParaRPr kumimoji="1" lang="ja-JP" altLang="en-US"/>
          </a:p>
        </p:txBody>
      </p:sp>
    </p:spTree>
    <p:extLst>
      <p:ext uri="{BB962C8B-B14F-4D97-AF65-F5344CB8AC3E}">
        <p14:creationId xmlns:p14="http://schemas.microsoft.com/office/powerpoint/2010/main" val="2730352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72381" y="648018"/>
            <a:ext cx="2211884" cy="2268061"/>
          </a:xfrm>
        </p:spPr>
        <p:txBody>
          <a:bodyPr anchor="b"/>
          <a:lstStyle>
            <a:lvl1pPr>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2915543" y="1399540"/>
            <a:ext cx="3471863" cy="690768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72381" y="2916079"/>
            <a:ext cx="2211884" cy="540239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8DB65230-DAE9-7849-AB31-FD46944276D2}" type="datetimeFigureOut">
              <a:rPr kumimoji="1" lang="ja-JP" altLang="en-US" smtClean="0"/>
              <a:t>2026/2/11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4D9AA3F-60C2-234E-A620-58E329A8025A}" type="slidenum">
              <a:rPr kumimoji="1" lang="ja-JP" altLang="en-US" smtClean="0"/>
              <a:t>‹#›</a:t>
            </a:fld>
            <a:endParaRPr kumimoji="1" lang="ja-JP" altLang="en-US"/>
          </a:p>
        </p:txBody>
      </p:sp>
    </p:spTree>
    <p:extLst>
      <p:ext uri="{BB962C8B-B14F-4D97-AF65-F5344CB8AC3E}">
        <p14:creationId xmlns:p14="http://schemas.microsoft.com/office/powerpoint/2010/main" val="4254060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72381" y="648018"/>
            <a:ext cx="2211884" cy="2268061"/>
          </a:xfrm>
        </p:spPr>
        <p:txBody>
          <a:bodyPr anchor="b"/>
          <a:lstStyle>
            <a:lvl1pPr>
              <a:defRPr sz="24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2915543" y="1399540"/>
            <a:ext cx="3471863" cy="690768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472381" y="2916079"/>
            <a:ext cx="2211884" cy="540239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8DB65230-DAE9-7849-AB31-FD46944276D2}" type="datetimeFigureOut">
              <a:rPr kumimoji="1" lang="ja-JP" altLang="en-US" smtClean="0"/>
              <a:t>2026/2/11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04D9AA3F-60C2-234E-A620-58E329A8025A}" type="slidenum">
              <a:rPr kumimoji="1" lang="ja-JP" altLang="en-US" smtClean="0"/>
              <a:t>‹#›</a:t>
            </a:fld>
            <a:endParaRPr kumimoji="1" lang="ja-JP" altLang="en-US"/>
          </a:p>
        </p:txBody>
      </p:sp>
    </p:spTree>
    <p:extLst>
      <p:ext uri="{BB962C8B-B14F-4D97-AF65-F5344CB8AC3E}">
        <p14:creationId xmlns:p14="http://schemas.microsoft.com/office/powerpoint/2010/main" val="1033529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8DB65230-DAE9-7849-AB31-FD46944276D2}" type="datetimeFigureOut">
              <a:rPr kumimoji="1" lang="ja-JP" altLang="en-US" smtClean="0"/>
              <a:t>2026/2/11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4D9AA3F-60C2-234E-A620-58E329A8025A}" type="slidenum">
              <a:rPr kumimoji="1" lang="ja-JP" altLang="en-US" smtClean="0"/>
              <a:t>‹#›</a:t>
            </a:fld>
            <a:endParaRPr kumimoji="1" lang="ja-JP" altLang="en-US"/>
          </a:p>
        </p:txBody>
      </p:sp>
    </p:spTree>
    <p:extLst>
      <p:ext uri="{BB962C8B-B14F-4D97-AF65-F5344CB8AC3E}">
        <p14:creationId xmlns:p14="http://schemas.microsoft.com/office/powerpoint/2010/main" val="3477623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17514"/>
            <a:ext cx="1478756" cy="8237474"/>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471488" y="517514"/>
            <a:ext cx="4350544" cy="8237474"/>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8DB65230-DAE9-7849-AB31-FD46944276D2}" type="datetimeFigureOut">
              <a:rPr kumimoji="1" lang="ja-JP" altLang="en-US" smtClean="0"/>
              <a:t>2026/2/11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04D9AA3F-60C2-234E-A620-58E329A8025A}" type="slidenum">
              <a:rPr kumimoji="1" lang="ja-JP" altLang="en-US" smtClean="0"/>
              <a:t>‹#›</a:t>
            </a:fld>
            <a:endParaRPr kumimoji="1" lang="ja-JP" altLang="en-US"/>
          </a:p>
        </p:txBody>
      </p:sp>
    </p:spTree>
    <p:extLst>
      <p:ext uri="{BB962C8B-B14F-4D97-AF65-F5344CB8AC3E}">
        <p14:creationId xmlns:p14="http://schemas.microsoft.com/office/powerpoint/2010/main" val="675543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17516"/>
            <a:ext cx="5915025" cy="1878802"/>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1488" y="2587570"/>
            <a:ext cx="5915025" cy="616741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471487" y="9009246"/>
            <a:ext cx="1543050" cy="517514"/>
          </a:xfrm>
          <a:prstGeom prst="rect">
            <a:avLst/>
          </a:prstGeom>
        </p:spPr>
        <p:txBody>
          <a:bodyPr vert="horz" lIns="91440" tIns="45720" rIns="91440" bIns="45720" rtlCol="0" anchor="ctr"/>
          <a:lstStyle>
            <a:lvl1pPr algn="l">
              <a:defRPr sz="900">
                <a:solidFill>
                  <a:schemeClr val="tx1">
                    <a:tint val="82000"/>
                  </a:schemeClr>
                </a:solidFill>
              </a:defRPr>
            </a:lvl1pPr>
          </a:lstStyle>
          <a:p>
            <a:fld id="{8DB65230-DAE9-7849-AB31-FD46944276D2}" type="datetimeFigureOut">
              <a:rPr kumimoji="1" lang="ja-JP" altLang="en-US" smtClean="0"/>
              <a:t>2026/2/11</a:t>
            </a:fld>
            <a:endParaRPr kumimoji="1" lang="ja-JP" altLang="en-US"/>
          </a:p>
        </p:txBody>
      </p:sp>
      <p:sp>
        <p:nvSpPr>
          <p:cNvPr id="5" name="Footer Placeholder 4"/>
          <p:cNvSpPr>
            <a:spLocks noGrp="1"/>
          </p:cNvSpPr>
          <p:nvPr>
            <p:ph type="ftr" sz="quarter" idx="3"/>
          </p:nvPr>
        </p:nvSpPr>
        <p:spPr>
          <a:xfrm>
            <a:off x="2271713" y="9009246"/>
            <a:ext cx="2314575" cy="51751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4843463" y="9009246"/>
            <a:ext cx="1543050" cy="517514"/>
          </a:xfrm>
          <a:prstGeom prst="rect">
            <a:avLst/>
          </a:prstGeom>
        </p:spPr>
        <p:txBody>
          <a:bodyPr vert="horz" lIns="91440" tIns="45720" rIns="91440" bIns="45720" rtlCol="0" anchor="ctr"/>
          <a:lstStyle>
            <a:lvl1pPr algn="r">
              <a:defRPr sz="900">
                <a:solidFill>
                  <a:schemeClr val="tx1">
                    <a:tint val="82000"/>
                  </a:schemeClr>
                </a:solidFill>
              </a:defRPr>
            </a:lvl1pPr>
          </a:lstStyle>
          <a:p>
            <a:fld id="{04D9AA3F-60C2-234E-A620-58E329A8025A}" type="slidenum">
              <a:rPr kumimoji="1" lang="ja-JP" altLang="en-US" smtClean="0"/>
              <a:t>‹#›</a:t>
            </a:fld>
            <a:endParaRPr kumimoji="1" lang="ja-JP" altLang="en-US"/>
          </a:p>
        </p:txBody>
      </p:sp>
    </p:spTree>
    <p:extLst>
      <p:ext uri="{BB962C8B-B14F-4D97-AF65-F5344CB8AC3E}">
        <p14:creationId xmlns:p14="http://schemas.microsoft.com/office/powerpoint/2010/main" val="19088693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D1D54EE-F0E0-EA40-75D5-EBF081122137}"/>
              </a:ext>
            </a:extLst>
          </p:cNvPr>
          <p:cNvSpPr/>
          <p:nvPr/>
        </p:nvSpPr>
        <p:spPr>
          <a:xfrm>
            <a:off x="59401" y="1302968"/>
            <a:ext cx="6739198" cy="1793318"/>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C83857CE-98EB-103E-DB07-98F230AC73E4}"/>
              </a:ext>
            </a:extLst>
          </p:cNvPr>
          <p:cNvSpPr/>
          <p:nvPr/>
        </p:nvSpPr>
        <p:spPr>
          <a:xfrm>
            <a:off x="59267" y="55264"/>
            <a:ext cx="6739466" cy="1188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CA69F8EA-898C-0878-B95A-799640556C59}"/>
              </a:ext>
            </a:extLst>
          </p:cNvPr>
          <p:cNvSpPr>
            <a:spLocks noGrp="1"/>
          </p:cNvSpPr>
          <p:nvPr>
            <p:ph type="ctrTitle"/>
          </p:nvPr>
        </p:nvSpPr>
        <p:spPr>
          <a:xfrm>
            <a:off x="514350" y="186268"/>
            <a:ext cx="5829300" cy="656886"/>
          </a:xfrm>
        </p:spPr>
        <p:txBody>
          <a:bodyPr>
            <a:noAutofit/>
          </a:bodyPr>
          <a:lstStyle/>
          <a:p>
            <a:r>
              <a:rPr lang="en" altLang="ja-JP" sz="2000" dirty="0">
                <a:solidFill>
                  <a:schemeClr val="bg1"/>
                </a:solidFill>
                <a:effectLst/>
                <a:latin typeface="Meiryo" panose="020B0604030504040204" pitchFamily="34" charset="-128"/>
                <a:ea typeface="Meiryo" panose="020B0604030504040204" pitchFamily="34" charset="-128"/>
              </a:rPr>
              <a:t>ChatGPT </a:t>
            </a:r>
            <a:r>
              <a:rPr lang="ja-JP" altLang="en-US" sz="2000">
                <a:solidFill>
                  <a:schemeClr val="bg1"/>
                </a:solidFill>
                <a:effectLst/>
                <a:latin typeface="Meiryo" panose="020B0604030504040204" pitchFamily="34" charset="-128"/>
                <a:ea typeface="Meiryo" panose="020B0604030504040204" pitchFamily="34" charset="-128"/>
              </a:rPr>
              <a:t>を用いた</a:t>
            </a:r>
            <a:r>
              <a:rPr lang="en" altLang="ja-JP" sz="2000" dirty="0">
                <a:solidFill>
                  <a:schemeClr val="bg1"/>
                </a:solidFill>
                <a:effectLst/>
                <a:latin typeface="Meiryo" panose="020B0604030504040204" pitchFamily="34" charset="-128"/>
                <a:ea typeface="Meiryo" panose="020B0604030504040204" pitchFamily="34" charset="-128"/>
              </a:rPr>
              <a:t>Python </a:t>
            </a:r>
            <a:r>
              <a:rPr lang="ja-JP" altLang="en-US" sz="2000">
                <a:solidFill>
                  <a:schemeClr val="bg1"/>
                </a:solidFill>
                <a:effectLst/>
                <a:latin typeface="Meiryo" panose="020B0604030504040204" pitchFamily="34" charset="-128"/>
                <a:ea typeface="Meiryo" panose="020B0604030504040204" pitchFamily="34" charset="-128"/>
              </a:rPr>
              <a:t>コード難読化と構造的類似度分析 ツールの評価 </a:t>
            </a:r>
            <a:endParaRPr kumimoji="1" lang="ja-JP" altLang="en-US" sz="2000">
              <a:solidFill>
                <a:schemeClr val="bg1"/>
              </a:solidFill>
              <a:latin typeface="Meiryo" panose="020B0604030504040204" pitchFamily="34" charset="-128"/>
              <a:ea typeface="Meiryo" panose="020B0604030504040204" pitchFamily="34" charset="-128"/>
            </a:endParaRPr>
          </a:p>
        </p:txBody>
      </p:sp>
      <p:sp>
        <p:nvSpPr>
          <p:cNvPr id="4" name="テキスト ボックス 3">
            <a:extLst>
              <a:ext uri="{FF2B5EF4-FFF2-40B4-BE49-F238E27FC236}">
                <a16:creationId xmlns:a16="http://schemas.microsoft.com/office/drawing/2014/main" id="{3F6CE956-5295-6E8E-6C9F-2558EFD621B8}"/>
              </a:ext>
            </a:extLst>
          </p:cNvPr>
          <p:cNvSpPr txBox="1"/>
          <p:nvPr/>
        </p:nvSpPr>
        <p:spPr>
          <a:xfrm>
            <a:off x="4979174" y="843154"/>
            <a:ext cx="1382110" cy="400110"/>
          </a:xfrm>
          <a:prstGeom prst="rect">
            <a:avLst/>
          </a:prstGeom>
          <a:noFill/>
        </p:spPr>
        <p:txBody>
          <a:bodyPr wrap="none" rtlCol="0">
            <a:spAutoFit/>
          </a:bodyPr>
          <a:lstStyle/>
          <a:p>
            <a:r>
              <a:rPr kumimoji="1" lang="ja-JP" altLang="en-US" sz="1000">
                <a:solidFill>
                  <a:schemeClr val="bg1"/>
                </a:solidFill>
                <a:latin typeface="Meiryo" panose="020B0604030504040204" pitchFamily="34" charset="-128"/>
                <a:ea typeface="Meiryo" panose="020B0604030504040204" pitchFamily="34" charset="-128"/>
              </a:rPr>
              <a:t>氏名　　　近藤</a:t>
            </a:r>
            <a:r>
              <a:rPr kumimoji="1" lang="en-US" altLang="ja-JP" sz="1000" dirty="0">
                <a:solidFill>
                  <a:schemeClr val="bg1"/>
                </a:solidFill>
                <a:latin typeface="Meiryo" panose="020B0604030504040204" pitchFamily="34" charset="-128"/>
                <a:ea typeface="Meiryo" panose="020B0604030504040204" pitchFamily="34" charset="-128"/>
              </a:rPr>
              <a:t> </a:t>
            </a:r>
            <a:r>
              <a:rPr kumimoji="1" lang="ja-JP" altLang="en-US" sz="1000">
                <a:solidFill>
                  <a:schemeClr val="bg1"/>
                </a:solidFill>
                <a:latin typeface="Meiryo" panose="020B0604030504040204" pitchFamily="34" charset="-128"/>
                <a:ea typeface="Meiryo" panose="020B0604030504040204" pitchFamily="34" charset="-128"/>
              </a:rPr>
              <a:t>惇斗</a:t>
            </a:r>
            <a:endParaRPr kumimoji="1" lang="en-US" altLang="ja-JP" sz="1000" dirty="0">
              <a:solidFill>
                <a:schemeClr val="bg1"/>
              </a:solidFill>
              <a:latin typeface="Meiryo" panose="020B0604030504040204" pitchFamily="34" charset="-128"/>
              <a:ea typeface="Meiryo" panose="020B0604030504040204" pitchFamily="34" charset="-128"/>
            </a:endParaRPr>
          </a:p>
          <a:p>
            <a:r>
              <a:rPr kumimoji="1" lang="ja-JP" altLang="en-US" sz="1000">
                <a:solidFill>
                  <a:schemeClr val="bg1"/>
                </a:solidFill>
                <a:latin typeface="Meiryo" panose="020B0604030504040204" pitchFamily="34" charset="-128"/>
                <a:ea typeface="Meiryo" panose="020B0604030504040204" pitchFamily="34" charset="-128"/>
              </a:rPr>
              <a:t>学籍番号　</a:t>
            </a:r>
            <a:r>
              <a:rPr kumimoji="1" lang="en-US" altLang="ja-JP" sz="1000" dirty="0">
                <a:solidFill>
                  <a:schemeClr val="bg1"/>
                </a:solidFill>
                <a:latin typeface="Meiryo" panose="020B0604030504040204" pitchFamily="34" charset="-128"/>
                <a:ea typeface="Meiryo" panose="020B0604030504040204" pitchFamily="34" charset="-128"/>
              </a:rPr>
              <a:t>253550</a:t>
            </a:r>
            <a:endParaRPr kumimoji="1" lang="ja-JP" altLang="en-US" sz="1000">
              <a:solidFill>
                <a:schemeClr val="bg1"/>
              </a:solidFill>
              <a:latin typeface="Meiryo" panose="020B0604030504040204" pitchFamily="34" charset="-128"/>
              <a:ea typeface="Meiryo" panose="020B0604030504040204" pitchFamily="34" charset="-128"/>
            </a:endParaRPr>
          </a:p>
        </p:txBody>
      </p:sp>
      <p:sp>
        <p:nvSpPr>
          <p:cNvPr id="6" name="テキスト ボックス 5">
            <a:extLst>
              <a:ext uri="{FF2B5EF4-FFF2-40B4-BE49-F238E27FC236}">
                <a16:creationId xmlns:a16="http://schemas.microsoft.com/office/drawing/2014/main" id="{DE7C5567-1D29-E312-3F88-63B488B391A1}"/>
              </a:ext>
            </a:extLst>
          </p:cNvPr>
          <p:cNvSpPr txBox="1"/>
          <p:nvPr/>
        </p:nvSpPr>
        <p:spPr>
          <a:xfrm>
            <a:off x="75154" y="1320407"/>
            <a:ext cx="1107996" cy="646331"/>
          </a:xfrm>
          <a:prstGeom prst="rect">
            <a:avLst/>
          </a:prstGeom>
          <a:noFill/>
        </p:spPr>
        <p:txBody>
          <a:bodyPr wrap="none" rtlCol="0">
            <a:spAutoFit/>
          </a:bodyPr>
          <a:lstStyle/>
          <a:p>
            <a:r>
              <a:rPr kumimoji="1" lang="ja-JP" altLang="en-US">
                <a:latin typeface="Meiryo" panose="020B0604030504040204" pitchFamily="34" charset="-128"/>
                <a:ea typeface="Meiryo" panose="020B0604030504040204" pitchFamily="34" charset="-128"/>
              </a:rPr>
              <a:t>研究背景</a:t>
            </a:r>
          </a:p>
          <a:p>
            <a:endParaRPr kumimoji="1" lang="ja-JP" altLang="en-US"/>
          </a:p>
        </p:txBody>
      </p:sp>
      <p:sp>
        <p:nvSpPr>
          <p:cNvPr id="9" name="正方形/長方形 8">
            <a:extLst>
              <a:ext uri="{FF2B5EF4-FFF2-40B4-BE49-F238E27FC236}">
                <a16:creationId xmlns:a16="http://schemas.microsoft.com/office/drawing/2014/main" id="{37FB4AB9-487A-11CE-CAB7-5D4E40B4BD83}"/>
              </a:ext>
            </a:extLst>
          </p:cNvPr>
          <p:cNvSpPr/>
          <p:nvPr/>
        </p:nvSpPr>
        <p:spPr>
          <a:xfrm>
            <a:off x="144434" y="1632738"/>
            <a:ext cx="6559781" cy="13898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1E81F212-3D24-32A2-769C-D8B1546831B5}"/>
              </a:ext>
            </a:extLst>
          </p:cNvPr>
          <p:cNvSpPr txBox="1"/>
          <p:nvPr/>
        </p:nvSpPr>
        <p:spPr>
          <a:xfrm>
            <a:off x="136641" y="1650544"/>
            <a:ext cx="3283009" cy="1323439"/>
          </a:xfrm>
          <a:prstGeom prst="rect">
            <a:avLst/>
          </a:prstGeom>
          <a:noFill/>
        </p:spPr>
        <p:txBody>
          <a:bodyPr wrap="square" rtlCol="0">
            <a:spAutoFit/>
          </a:bodyPr>
          <a:lstStyle/>
          <a:p>
            <a:pPr marL="171450" indent="-171450">
              <a:buFont typeface="Arial" panose="020B0604020202020204" pitchFamily="34" charset="0"/>
              <a:buChar char="•"/>
            </a:pPr>
            <a:r>
              <a:rPr lang="ja-JP" altLang="en-US" sz="1000">
                <a:latin typeface="Meiryo" panose="020B0604030504040204" pitchFamily="34" charset="-128"/>
                <a:ea typeface="Meiryo" panose="020B0604030504040204" pitchFamily="34" charset="-128"/>
              </a:rPr>
              <a:t>既存の難読化ツールの多くは「難読化後のコードを生成すること」が主目的でどの難読化手法が使われているのか、難読化前後でコード構造がどれほど変化したのか、をユーザが把握しにくい。</a:t>
            </a:r>
            <a:endParaRPr lang="en-US" altLang="ja-JP" sz="1000" dirty="0">
              <a:latin typeface="Meiryo" panose="020B0604030504040204" pitchFamily="34" charset="-128"/>
              <a:ea typeface="Meiryo" panose="020B0604030504040204" pitchFamily="34" charset="-128"/>
            </a:endParaRPr>
          </a:p>
          <a:p>
            <a:pPr marL="171450" indent="-171450">
              <a:buFont typeface="Arial" panose="020B0604020202020204" pitchFamily="34" charset="0"/>
              <a:buChar char="•"/>
            </a:pPr>
            <a:r>
              <a:rPr lang="ja-JP" altLang="en-US" sz="1000">
                <a:latin typeface="Meiryo" panose="020B0604030504040204" pitchFamily="34" charset="-128"/>
                <a:ea typeface="Meiryo" panose="020B0604030504040204" pitchFamily="34" charset="-128"/>
              </a:rPr>
              <a:t>研究・評価の観点では、難読化の 強度、可読性・保守性への 影響を客観的指標で比較することが困難なので難読化前後の構造変化を</a:t>
            </a:r>
            <a:r>
              <a:rPr lang="ja-JP" altLang="en-US" sz="1000" b="1">
                <a:latin typeface="Meiryo" panose="020B0604030504040204" pitchFamily="34" charset="-128"/>
                <a:ea typeface="Meiryo" panose="020B0604030504040204" pitchFamily="34" charset="-128"/>
              </a:rPr>
              <a:t>多角的・定量的に評価できる仕組みが必要である</a:t>
            </a:r>
            <a:endParaRPr lang="ja-JP" altLang="en-US" sz="1000">
              <a:latin typeface="Meiryo" panose="020B0604030504040204" pitchFamily="34" charset="-128"/>
              <a:ea typeface="Meiryo" panose="020B0604030504040204" pitchFamily="34" charset="-128"/>
            </a:endParaRPr>
          </a:p>
        </p:txBody>
      </p:sp>
      <p:cxnSp>
        <p:nvCxnSpPr>
          <p:cNvPr id="11" name="直線コネクタ 10">
            <a:extLst>
              <a:ext uri="{FF2B5EF4-FFF2-40B4-BE49-F238E27FC236}">
                <a16:creationId xmlns:a16="http://schemas.microsoft.com/office/drawing/2014/main" id="{E5692B1E-C146-ABDD-0A06-36EB6CF4DD91}"/>
              </a:ext>
            </a:extLst>
          </p:cNvPr>
          <p:cNvCxnSpPr>
            <a:cxnSpLocks/>
          </p:cNvCxnSpPr>
          <p:nvPr/>
        </p:nvCxnSpPr>
        <p:spPr>
          <a:xfrm>
            <a:off x="3424325" y="1762298"/>
            <a:ext cx="0" cy="1192071"/>
          </a:xfrm>
          <a:prstGeom prst="line">
            <a:avLst/>
          </a:prstGeom>
          <a:ln>
            <a:solidFill>
              <a:schemeClr val="accent6">
                <a:lumMod val="20000"/>
                <a:lumOff val="80000"/>
              </a:schemeClr>
            </a:solidFill>
          </a:ln>
        </p:spPr>
        <p:style>
          <a:lnRef idx="2">
            <a:schemeClr val="accent1"/>
          </a:lnRef>
          <a:fillRef idx="0">
            <a:schemeClr val="accent1"/>
          </a:fillRef>
          <a:effectRef idx="1">
            <a:schemeClr val="accent1"/>
          </a:effectRef>
          <a:fontRef idx="minor">
            <a:schemeClr val="tx1"/>
          </a:fontRef>
        </p:style>
      </p:cxnSp>
      <p:sp>
        <p:nvSpPr>
          <p:cNvPr id="14" name="テキスト ボックス 13">
            <a:extLst>
              <a:ext uri="{FF2B5EF4-FFF2-40B4-BE49-F238E27FC236}">
                <a16:creationId xmlns:a16="http://schemas.microsoft.com/office/drawing/2014/main" id="{6C464014-3C0B-ABB0-5424-947F90C2EB98}"/>
              </a:ext>
            </a:extLst>
          </p:cNvPr>
          <p:cNvSpPr txBox="1"/>
          <p:nvPr/>
        </p:nvSpPr>
        <p:spPr>
          <a:xfrm>
            <a:off x="3485812" y="1696712"/>
            <a:ext cx="492443" cy="276999"/>
          </a:xfrm>
          <a:prstGeom prst="rect">
            <a:avLst/>
          </a:prstGeom>
          <a:noFill/>
        </p:spPr>
        <p:txBody>
          <a:bodyPr wrap="none" rtlCol="0">
            <a:spAutoFit/>
          </a:bodyPr>
          <a:lstStyle/>
          <a:p>
            <a:r>
              <a:rPr kumimoji="1" lang="ja-JP" altLang="en-US" sz="1200" b="1">
                <a:latin typeface="Meiryo" panose="020B0604030504040204" pitchFamily="34" charset="-128"/>
                <a:ea typeface="Meiryo" panose="020B0604030504040204" pitchFamily="34" charset="-128"/>
              </a:rPr>
              <a:t>提案</a:t>
            </a:r>
          </a:p>
        </p:txBody>
      </p:sp>
      <p:pic>
        <p:nvPicPr>
          <p:cNvPr id="21" name="Picture 6" descr="Google Gemini">
            <a:extLst>
              <a:ext uri="{FF2B5EF4-FFF2-40B4-BE49-F238E27FC236}">
                <a16:creationId xmlns:a16="http://schemas.microsoft.com/office/drawing/2014/main" id="{5630B2CA-D7A7-05FA-0F2E-A2BF0979F9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8875" y="1960590"/>
            <a:ext cx="1328848" cy="782976"/>
          </a:xfrm>
          <a:prstGeom prst="rect">
            <a:avLst/>
          </a:prstGeom>
          <a:noFill/>
          <a:extLst>
            <a:ext uri="{909E8E84-426E-40DD-AFC4-6F175D3DCCD1}">
              <a14:hiddenFill xmlns:a14="http://schemas.microsoft.com/office/drawing/2010/main">
                <a:solidFill>
                  <a:srgbClr val="FFFFFF"/>
                </a:solidFill>
              </a14:hiddenFill>
            </a:ext>
          </a:extLst>
        </p:spPr>
      </p:pic>
      <p:sp>
        <p:nvSpPr>
          <p:cNvPr id="15" name="テキスト ボックス 14">
            <a:extLst>
              <a:ext uri="{FF2B5EF4-FFF2-40B4-BE49-F238E27FC236}">
                <a16:creationId xmlns:a16="http://schemas.microsoft.com/office/drawing/2014/main" id="{21B5F797-DC51-7318-EB75-E4394864E698}"/>
              </a:ext>
            </a:extLst>
          </p:cNvPr>
          <p:cNvSpPr txBox="1"/>
          <p:nvPr/>
        </p:nvSpPr>
        <p:spPr>
          <a:xfrm>
            <a:off x="3465311" y="1927541"/>
            <a:ext cx="3241964" cy="400110"/>
          </a:xfrm>
          <a:prstGeom prst="rect">
            <a:avLst/>
          </a:prstGeom>
          <a:noFill/>
        </p:spPr>
        <p:txBody>
          <a:bodyPr wrap="square" rtlCol="0">
            <a:spAutoFit/>
          </a:bodyPr>
          <a:lstStyle/>
          <a:p>
            <a:pPr marL="171450" indent="-171450">
              <a:buFont typeface="Arial" panose="020B0604020202020204" pitchFamily="34" charset="0"/>
              <a:buChar char="•"/>
            </a:pPr>
            <a:r>
              <a:rPr kumimoji="1" lang="ja-JP" altLang="en-US" sz="1000">
                <a:latin typeface="Meiryo" panose="020B0604030504040204" pitchFamily="34" charset="-128"/>
                <a:ea typeface="Meiryo" panose="020B0604030504040204" pitchFamily="34" charset="-128"/>
              </a:rPr>
              <a:t>生成</a:t>
            </a:r>
            <a:r>
              <a:rPr kumimoji="1" lang="en-US" altLang="ja-JP" sz="1000" dirty="0">
                <a:latin typeface="Meiryo" panose="020B0604030504040204" pitchFamily="34" charset="-128"/>
                <a:ea typeface="Meiryo" panose="020B0604030504040204" pitchFamily="34" charset="-128"/>
              </a:rPr>
              <a:t>AI</a:t>
            </a:r>
            <a:r>
              <a:rPr kumimoji="1" lang="ja-JP" altLang="en-US" sz="1000">
                <a:latin typeface="Meiryo" panose="020B0604030504040204" pitchFamily="34" charset="-128"/>
                <a:ea typeface="Meiryo" panose="020B0604030504040204" pitchFamily="34" charset="-128"/>
              </a:rPr>
              <a:t>は綺麗なコードを書いたり、その内容を詳しく説明してくれる。</a:t>
            </a:r>
          </a:p>
        </p:txBody>
      </p:sp>
      <p:cxnSp>
        <p:nvCxnSpPr>
          <p:cNvPr id="17" name="直線矢印コネクタ 16">
            <a:extLst>
              <a:ext uri="{FF2B5EF4-FFF2-40B4-BE49-F238E27FC236}">
                <a16:creationId xmlns:a16="http://schemas.microsoft.com/office/drawing/2014/main" id="{7E05E26C-81C9-320A-DA53-CB9CCA66E619}"/>
              </a:ext>
            </a:extLst>
          </p:cNvPr>
          <p:cNvCxnSpPr>
            <a:cxnSpLocks/>
          </p:cNvCxnSpPr>
          <p:nvPr/>
        </p:nvCxnSpPr>
        <p:spPr>
          <a:xfrm>
            <a:off x="4758518" y="2350370"/>
            <a:ext cx="0" cy="1729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テキスト ボックス 17">
            <a:extLst>
              <a:ext uri="{FF2B5EF4-FFF2-40B4-BE49-F238E27FC236}">
                <a16:creationId xmlns:a16="http://schemas.microsoft.com/office/drawing/2014/main" id="{ACB15EB3-59AE-2C79-4CBD-E66B5D518284}"/>
              </a:ext>
            </a:extLst>
          </p:cNvPr>
          <p:cNvSpPr txBox="1"/>
          <p:nvPr/>
        </p:nvSpPr>
        <p:spPr>
          <a:xfrm>
            <a:off x="3535421" y="2573601"/>
            <a:ext cx="3053022" cy="400110"/>
          </a:xfrm>
          <a:prstGeom prst="rect">
            <a:avLst/>
          </a:prstGeom>
          <a:noFill/>
        </p:spPr>
        <p:txBody>
          <a:bodyPr wrap="square" rtlCol="0">
            <a:spAutoFit/>
          </a:bodyPr>
          <a:lstStyle/>
          <a:p>
            <a:r>
              <a:rPr kumimoji="1" lang="ja-JP" altLang="en-US" sz="1000">
                <a:latin typeface="Meiryo" panose="020B0604030504040204" pitchFamily="34" charset="-128"/>
                <a:ea typeface="Meiryo" panose="020B0604030504040204" pitchFamily="34" charset="-128"/>
              </a:rPr>
              <a:t>生成</a:t>
            </a:r>
            <a:r>
              <a:rPr kumimoji="1" lang="en-US" altLang="ja-JP" sz="1000" dirty="0">
                <a:latin typeface="Meiryo" panose="020B0604030504040204" pitchFamily="34" charset="-128"/>
                <a:ea typeface="Meiryo" panose="020B0604030504040204" pitchFamily="34" charset="-128"/>
              </a:rPr>
              <a:t>AI</a:t>
            </a:r>
            <a:r>
              <a:rPr kumimoji="1" lang="ja-JP" altLang="en-US" sz="1000">
                <a:latin typeface="Meiryo" panose="020B0604030504040204" pitchFamily="34" charset="-128"/>
                <a:ea typeface="Meiryo" panose="020B0604030504040204" pitchFamily="34" charset="-128"/>
              </a:rPr>
              <a:t>を使って難読化し、その手法を説明してくれるシステムを作成する</a:t>
            </a:r>
          </a:p>
        </p:txBody>
      </p:sp>
      <p:pic>
        <p:nvPicPr>
          <p:cNvPr id="20" name="Picture 4" descr="ChatGPT - Wikipedia">
            <a:extLst>
              <a:ext uri="{FF2B5EF4-FFF2-40B4-BE49-F238E27FC236}">
                <a16:creationId xmlns:a16="http://schemas.microsoft.com/office/drawing/2014/main" id="{80E45AA6-991E-19CC-D93B-F99D810495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6893" y="2194216"/>
            <a:ext cx="349649" cy="349649"/>
          </a:xfrm>
          <a:prstGeom prst="rect">
            <a:avLst/>
          </a:prstGeom>
          <a:noFill/>
          <a:extLst>
            <a:ext uri="{909E8E84-426E-40DD-AFC4-6F175D3DCCD1}">
              <a14:hiddenFill xmlns:a14="http://schemas.microsoft.com/office/drawing/2010/main">
                <a:solidFill>
                  <a:srgbClr val="FFFFFF"/>
                </a:solidFill>
              </a14:hiddenFill>
            </a:ext>
          </a:extLst>
        </p:spPr>
      </p:pic>
      <p:sp>
        <p:nvSpPr>
          <p:cNvPr id="22" name="正方形/長方形 21">
            <a:extLst>
              <a:ext uri="{FF2B5EF4-FFF2-40B4-BE49-F238E27FC236}">
                <a16:creationId xmlns:a16="http://schemas.microsoft.com/office/drawing/2014/main" id="{A282BABF-3803-7290-4055-82525EA2840E}"/>
              </a:ext>
            </a:extLst>
          </p:cNvPr>
          <p:cNvSpPr/>
          <p:nvPr/>
        </p:nvSpPr>
        <p:spPr>
          <a:xfrm>
            <a:off x="59267" y="3155991"/>
            <a:ext cx="6739332" cy="2974404"/>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7EC94E30-D569-5B39-5F3F-FDC7DC5BFC6D}"/>
              </a:ext>
            </a:extLst>
          </p:cNvPr>
          <p:cNvSpPr txBox="1"/>
          <p:nvPr/>
        </p:nvSpPr>
        <p:spPr>
          <a:xfrm>
            <a:off x="75154" y="3167669"/>
            <a:ext cx="1107996" cy="369332"/>
          </a:xfrm>
          <a:prstGeom prst="rect">
            <a:avLst/>
          </a:prstGeom>
          <a:noFill/>
        </p:spPr>
        <p:txBody>
          <a:bodyPr wrap="none" rtlCol="0">
            <a:spAutoFit/>
          </a:bodyPr>
          <a:lstStyle/>
          <a:p>
            <a:r>
              <a:rPr kumimoji="1" lang="ja-JP" altLang="en-US">
                <a:latin typeface="Meiryo" panose="020B0604030504040204" pitchFamily="34" charset="-128"/>
                <a:ea typeface="Meiryo" panose="020B0604030504040204" pitchFamily="34" charset="-128"/>
              </a:rPr>
              <a:t>提案手法</a:t>
            </a:r>
          </a:p>
        </p:txBody>
      </p:sp>
      <p:sp>
        <p:nvSpPr>
          <p:cNvPr id="24" name="正方形/長方形 23">
            <a:extLst>
              <a:ext uri="{FF2B5EF4-FFF2-40B4-BE49-F238E27FC236}">
                <a16:creationId xmlns:a16="http://schemas.microsoft.com/office/drawing/2014/main" id="{50A1964A-B166-86B0-9EC9-55BC6ED4BA1D}"/>
              </a:ext>
            </a:extLst>
          </p:cNvPr>
          <p:cNvSpPr/>
          <p:nvPr/>
        </p:nvSpPr>
        <p:spPr>
          <a:xfrm>
            <a:off x="144434" y="3494639"/>
            <a:ext cx="6559781" cy="2573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HTMLファイルのシルエット | 無料のAi・PNG白黒シルエットイラスト">
            <a:extLst>
              <a:ext uri="{FF2B5EF4-FFF2-40B4-BE49-F238E27FC236}">
                <a16:creationId xmlns:a16="http://schemas.microsoft.com/office/drawing/2014/main" id="{1D8BBBFE-41C4-9180-1C18-62159EC9AF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08872" y="5138929"/>
            <a:ext cx="600695" cy="600695"/>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直線コネクタ 25">
            <a:extLst>
              <a:ext uri="{FF2B5EF4-FFF2-40B4-BE49-F238E27FC236}">
                <a16:creationId xmlns:a16="http://schemas.microsoft.com/office/drawing/2014/main" id="{FFEE7C7A-DBC4-AFA6-2D0E-4E6C9206BE5D}"/>
              </a:ext>
            </a:extLst>
          </p:cNvPr>
          <p:cNvCxnSpPr>
            <a:cxnSpLocks/>
          </p:cNvCxnSpPr>
          <p:nvPr/>
        </p:nvCxnSpPr>
        <p:spPr>
          <a:xfrm>
            <a:off x="3419650" y="3537001"/>
            <a:ext cx="8729" cy="1416258"/>
          </a:xfrm>
          <a:prstGeom prst="line">
            <a:avLst/>
          </a:prstGeom>
          <a:ln>
            <a:solidFill>
              <a:schemeClr val="accent6">
                <a:lumMod val="20000"/>
                <a:lumOff val="80000"/>
              </a:schemeClr>
            </a:solidFill>
          </a:ln>
        </p:spPr>
        <p:style>
          <a:lnRef idx="2">
            <a:schemeClr val="accent1"/>
          </a:lnRef>
          <a:fillRef idx="0">
            <a:schemeClr val="accent1"/>
          </a:fillRef>
          <a:effectRef idx="1">
            <a:schemeClr val="accent1"/>
          </a:effectRef>
          <a:fontRef idx="minor">
            <a:schemeClr val="tx1"/>
          </a:fontRef>
        </p:style>
      </p:cxnSp>
      <p:sp>
        <p:nvSpPr>
          <p:cNvPr id="28" name="テキスト ボックス 27">
            <a:extLst>
              <a:ext uri="{FF2B5EF4-FFF2-40B4-BE49-F238E27FC236}">
                <a16:creationId xmlns:a16="http://schemas.microsoft.com/office/drawing/2014/main" id="{F4933880-3110-0166-71E9-09BDC038C337}"/>
              </a:ext>
            </a:extLst>
          </p:cNvPr>
          <p:cNvSpPr txBox="1"/>
          <p:nvPr/>
        </p:nvSpPr>
        <p:spPr>
          <a:xfrm>
            <a:off x="1023041" y="3558785"/>
            <a:ext cx="1261884" cy="276999"/>
          </a:xfrm>
          <a:prstGeom prst="rect">
            <a:avLst/>
          </a:prstGeom>
          <a:noFill/>
        </p:spPr>
        <p:txBody>
          <a:bodyPr wrap="none" rtlCol="0">
            <a:spAutoFit/>
          </a:bodyPr>
          <a:lstStyle/>
          <a:p>
            <a:r>
              <a:rPr kumimoji="1" lang="ja-JP" altLang="en-US" sz="1200" b="1" u="sng"/>
              <a:t>構文構造ベース</a:t>
            </a:r>
          </a:p>
        </p:txBody>
      </p:sp>
      <p:sp>
        <p:nvSpPr>
          <p:cNvPr id="29" name="テキスト ボックス 28">
            <a:extLst>
              <a:ext uri="{FF2B5EF4-FFF2-40B4-BE49-F238E27FC236}">
                <a16:creationId xmlns:a16="http://schemas.microsoft.com/office/drawing/2014/main" id="{B421F0C1-DA89-6E9E-0D08-EFB48E6064FA}"/>
              </a:ext>
            </a:extLst>
          </p:cNvPr>
          <p:cNvSpPr txBox="1"/>
          <p:nvPr/>
        </p:nvSpPr>
        <p:spPr>
          <a:xfrm>
            <a:off x="4575951" y="3558784"/>
            <a:ext cx="1261884" cy="276999"/>
          </a:xfrm>
          <a:prstGeom prst="rect">
            <a:avLst/>
          </a:prstGeom>
          <a:noFill/>
        </p:spPr>
        <p:txBody>
          <a:bodyPr wrap="none" rtlCol="0">
            <a:spAutoFit/>
          </a:bodyPr>
          <a:lstStyle/>
          <a:p>
            <a:r>
              <a:rPr kumimoji="1" lang="ja-JP" altLang="en-US" sz="1200" b="1" u="sng"/>
              <a:t>制御構造ベース</a:t>
            </a:r>
          </a:p>
        </p:txBody>
      </p:sp>
      <p:sp>
        <p:nvSpPr>
          <p:cNvPr id="30" name="テキスト ボックス 29">
            <a:extLst>
              <a:ext uri="{FF2B5EF4-FFF2-40B4-BE49-F238E27FC236}">
                <a16:creationId xmlns:a16="http://schemas.microsoft.com/office/drawing/2014/main" id="{38C0EF25-B382-D45C-5769-67CB589FCCB8}"/>
              </a:ext>
            </a:extLst>
          </p:cNvPr>
          <p:cNvSpPr txBox="1"/>
          <p:nvPr/>
        </p:nvSpPr>
        <p:spPr>
          <a:xfrm>
            <a:off x="153786" y="3832478"/>
            <a:ext cx="3143634" cy="1169551"/>
          </a:xfrm>
          <a:prstGeom prst="rect">
            <a:avLst/>
          </a:prstGeom>
          <a:noFill/>
        </p:spPr>
        <p:txBody>
          <a:bodyPr wrap="square" rtlCol="0">
            <a:spAutoFit/>
          </a:bodyPr>
          <a:lstStyle/>
          <a:p>
            <a:pPr marL="171450" indent="-171450">
              <a:buFont typeface="Arial" panose="020B0604020202020204" pitchFamily="34" charset="0"/>
              <a:buChar char="•"/>
            </a:pPr>
            <a:r>
              <a:rPr lang="en" altLang="ja-JP" sz="1000" dirty="0">
                <a:latin typeface="Meiryo" panose="020B0604030504040204" pitchFamily="34" charset="-128"/>
                <a:ea typeface="Meiryo" panose="020B0604030504040204" pitchFamily="34" charset="-128"/>
              </a:rPr>
              <a:t>AST</a:t>
            </a:r>
            <a:r>
              <a:rPr lang="ja-JP" altLang="en-US" sz="1000">
                <a:latin typeface="Meiryo" panose="020B0604030504040204" pitchFamily="34" charset="-128"/>
                <a:ea typeface="Meiryo" panose="020B0604030504040204" pitchFamily="34" charset="-128"/>
              </a:rPr>
              <a:t>構造類似度</a:t>
            </a:r>
            <a:endParaRPr lang="en-US" altLang="ja-JP" sz="1000" dirty="0">
              <a:latin typeface="Meiryo" panose="020B0604030504040204" pitchFamily="34" charset="-128"/>
              <a:ea typeface="Meiryo" panose="020B0604030504040204" pitchFamily="34" charset="-128"/>
            </a:endParaRPr>
          </a:p>
          <a:p>
            <a:r>
              <a:rPr lang="ja-JP" altLang="en-US" sz="1000">
                <a:latin typeface="Meiryo" panose="020B0604030504040204" pitchFamily="34" charset="-128"/>
                <a:ea typeface="Meiryo" panose="020B0604030504040204" pitchFamily="34" charset="-128"/>
              </a:rPr>
              <a:t>ソースコードを構文木として表現し、その木構造の一致度を評価する指標である。</a:t>
            </a:r>
            <a:endParaRPr lang="en-US" altLang="ja-JP" sz="1000" dirty="0">
              <a:latin typeface="Meiryo" panose="020B0604030504040204" pitchFamily="34" charset="-128"/>
              <a:ea typeface="Meiryo" panose="020B0604030504040204" pitchFamily="34" charset="-128"/>
            </a:endParaRPr>
          </a:p>
          <a:p>
            <a:pPr marL="171450" indent="-171450">
              <a:buFont typeface="Arial" panose="020B0604020202020204" pitchFamily="34" charset="0"/>
              <a:buChar char="•"/>
            </a:pPr>
            <a:r>
              <a:rPr lang="en" altLang="ja-JP" sz="1000" dirty="0">
                <a:latin typeface="Meiryo" panose="020B0604030504040204" pitchFamily="34" charset="-128"/>
                <a:ea typeface="Meiryo" panose="020B0604030504040204" pitchFamily="34" charset="-128"/>
              </a:rPr>
              <a:t>AST</a:t>
            </a:r>
            <a:r>
              <a:rPr lang="ja-JP" altLang="en-US" sz="1000">
                <a:latin typeface="Meiryo" panose="020B0604030504040204" pitchFamily="34" charset="-128"/>
                <a:ea typeface="Meiryo" panose="020B0604030504040204" pitchFamily="34" charset="-128"/>
              </a:rPr>
              <a:t>ノード頻度に基づくコサイン類似度</a:t>
            </a:r>
            <a:endParaRPr lang="en-US" altLang="ja-JP" sz="1000" dirty="0">
              <a:latin typeface="Meiryo" panose="020B0604030504040204" pitchFamily="34" charset="-128"/>
              <a:ea typeface="Meiryo" panose="020B0604030504040204" pitchFamily="34" charset="-128"/>
            </a:endParaRPr>
          </a:p>
          <a:p>
            <a:r>
              <a:rPr lang="en" altLang="ja-JP" sz="1000" dirty="0">
                <a:latin typeface="Meiryo" panose="020B0604030504040204" pitchFamily="34" charset="-128"/>
                <a:ea typeface="Meiryo" panose="020B0604030504040204" pitchFamily="34" charset="-128"/>
              </a:rPr>
              <a:t>AST</a:t>
            </a:r>
            <a:r>
              <a:rPr lang="ja-JP" altLang="en-US" sz="1000">
                <a:latin typeface="Meiryo" panose="020B0604030504040204" pitchFamily="34" charset="-128"/>
                <a:ea typeface="Meiryo" panose="020B0604030504040204" pitchFamily="34" charset="-128"/>
              </a:rPr>
              <a:t>内に出現するノード種類（</a:t>
            </a:r>
            <a:r>
              <a:rPr lang="en" altLang="ja-JP" sz="1000" dirty="0">
                <a:latin typeface="Meiryo" panose="020B0604030504040204" pitchFamily="34" charset="-128"/>
                <a:ea typeface="Meiryo" panose="020B0604030504040204" pitchFamily="34" charset="-128"/>
              </a:rPr>
              <a:t>If</a:t>
            </a:r>
            <a:r>
              <a:rPr lang="ja-JP" altLang="en" sz="1000">
                <a:latin typeface="Meiryo" panose="020B0604030504040204" pitchFamily="34" charset="-128"/>
                <a:ea typeface="Meiryo" panose="020B0604030504040204" pitchFamily="34" charset="-128"/>
              </a:rPr>
              <a:t>，</a:t>
            </a:r>
            <a:r>
              <a:rPr lang="en" altLang="ja-JP" sz="1000" dirty="0">
                <a:latin typeface="Meiryo" panose="020B0604030504040204" pitchFamily="34" charset="-128"/>
                <a:ea typeface="Meiryo" panose="020B0604030504040204" pitchFamily="34" charset="-128"/>
              </a:rPr>
              <a:t>For</a:t>
            </a:r>
            <a:r>
              <a:rPr lang="ja-JP" altLang="en" sz="1000">
                <a:latin typeface="Meiryo" panose="020B0604030504040204" pitchFamily="34" charset="-128"/>
                <a:ea typeface="Meiryo" panose="020B0604030504040204" pitchFamily="34" charset="-128"/>
              </a:rPr>
              <a:t>，</a:t>
            </a:r>
            <a:r>
              <a:rPr lang="en" altLang="ja-JP" sz="1000" dirty="0">
                <a:latin typeface="Meiryo" panose="020B0604030504040204" pitchFamily="34" charset="-128"/>
                <a:ea typeface="Meiryo" panose="020B0604030504040204" pitchFamily="34" charset="-128"/>
              </a:rPr>
              <a:t>Call</a:t>
            </a:r>
            <a:r>
              <a:rPr lang="ja-JP" altLang="en-US" sz="1000">
                <a:latin typeface="Meiryo" panose="020B0604030504040204" pitchFamily="34" charset="-128"/>
                <a:ea typeface="Meiryo" panose="020B0604030504040204" pitchFamily="34" charset="-128"/>
              </a:rPr>
              <a:t>など）の出現回数をベクトル化し、難読化前後のコード間の類似度を測定する手法である。</a:t>
            </a:r>
            <a:endParaRPr kumimoji="1" lang="ja-JP" altLang="en-US" sz="1000">
              <a:latin typeface="Meiryo" panose="020B0604030504040204" pitchFamily="34" charset="-128"/>
              <a:ea typeface="Meiryo" panose="020B0604030504040204" pitchFamily="34" charset="-128"/>
            </a:endParaRPr>
          </a:p>
        </p:txBody>
      </p:sp>
      <p:sp>
        <p:nvSpPr>
          <p:cNvPr id="31" name="テキスト ボックス 30">
            <a:extLst>
              <a:ext uri="{FF2B5EF4-FFF2-40B4-BE49-F238E27FC236}">
                <a16:creationId xmlns:a16="http://schemas.microsoft.com/office/drawing/2014/main" id="{8F936AD1-E1A3-5B2F-6B39-8F797D5AAE48}"/>
              </a:ext>
            </a:extLst>
          </p:cNvPr>
          <p:cNvSpPr txBox="1"/>
          <p:nvPr/>
        </p:nvSpPr>
        <p:spPr>
          <a:xfrm>
            <a:off x="3522763" y="3839016"/>
            <a:ext cx="3309165" cy="1169551"/>
          </a:xfrm>
          <a:prstGeom prst="rect">
            <a:avLst/>
          </a:prstGeom>
          <a:noFill/>
        </p:spPr>
        <p:txBody>
          <a:bodyPr wrap="square" rtlCol="0">
            <a:spAutoFit/>
          </a:bodyPr>
          <a:lstStyle/>
          <a:p>
            <a:pPr marL="171450" indent="-171450">
              <a:buFont typeface="Arial" panose="020B0604020202020204" pitchFamily="34" charset="0"/>
              <a:buChar char="•"/>
            </a:pPr>
            <a:r>
              <a:rPr lang="en" altLang="ja-JP" sz="1000" dirty="0">
                <a:latin typeface="Meiryo" panose="020B0604030504040204" pitchFamily="34" charset="-128"/>
                <a:ea typeface="Meiryo" panose="020B0604030504040204" pitchFamily="34" charset="-128"/>
              </a:rPr>
              <a:t>CFG</a:t>
            </a:r>
            <a:r>
              <a:rPr lang="ja-JP" altLang="en-US" sz="1000">
                <a:latin typeface="Meiryo" panose="020B0604030504040204" pitchFamily="34" charset="-128"/>
                <a:ea typeface="Meiryo" panose="020B0604030504040204" pitchFamily="34" charset="-128"/>
              </a:rPr>
              <a:t>類似度（制御フロー構造の類似性）</a:t>
            </a:r>
          </a:p>
          <a:p>
            <a:r>
              <a:rPr lang="ja-JP" altLang="en-US" sz="1000">
                <a:latin typeface="Meiryo" panose="020B0604030504040204" pitchFamily="34" charset="-128"/>
                <a:ea typeface="Meiryo" panose="020B0604030504040204" pitchFamily="34" charset="-128"/>
              </a:rPr>
              <a:t>プログラムの実行経路をグラフとして表現し，制御フロー構造の一致度を評価する指標である。</a:t>
            </a:r>
            <a:endParaRPr lang="en-US" altLang="ja-JP" sz="1000" dirty="0">
              <a:latin typeface="Meiryo" panose="020B0604030504040204" pitchFamily="34" charset="-128"/>
              <a:ea typeface="Meiryo" panose="020B0604030504040204" pitchFamily="34" charset="-128"/>
            </a:endParaRPr>
          </a:p>
          <a:p>
            <a:pPr marL="171450" indent="-171450">
              <a:buFont typeface="Arial" panose="020B0604020202020204" pitchFamily="34" charset="0"/>
              <a:buChar char="•"/>
            </a:pPr>
            <a:r>
              <a:rPr lang="ja-JP" altLang="en-US" sz="1000">
                <a:latin typeface="Meiryo" panose="020B0604030504040204" pitchFamily="34" charset="-128"/>
                <a:ea typeface="Meiryo" panose="020B0604030504040204" pitchFamily="34" charset="-128"/>
              </a:rPr>
              <a:t>サイクロマチック複雑度</a:t>
            </a:r>
            <a:endParaRPr lang="en-US" altLang="ja-JP" sz="1000" dirty="0">
              <a:latin typeface="Meiryo" panose="020B0604030504040204" pitchFamily="34" charset="-128"/>
              <a:ea typeface="Meiryo" panose="020B0604030504040204" pitchFamily="34" charset="-128"/>
            </a:endParaRPr>
          </a:p>
          <a:p>
            <a:r>
              <a:rPr lang="ja-JP" altLang="en-US" sz="1000">
                <a:latin typeface="Meiryo" panose="020B0604030504040204" pitchFamily="34" charset="-128"/>
                <a:ea typeface="Meiryo" panose="020B0604030504040204" pitchFamily="34" charset="-128"/>
              </a:rPr>
              <a:t>プログラム内の分岐数やループ構造の数に基づいて算出される指標であり，制御構造の複雑さを定量的に表すものである。</a:t>
            </a:r>
            <a:endParaRPr kumimoji="1" lang="ja-JP" altLang="en-US" sz="1000">
              <a:latin typeface="Meiryo" panose="020B0604030504040204" pitchFamily="34" charset="-128"/>
              <a:ea typeface="Meiryo" panose="020B0604030504040204" pitchFamily="34" charset="-128"/>
            </a:endParaRPr>
          </a:p>
        </p:txBody>
      </p:sp>
      <p:pic>
        <p:nvPicPr>
          <p:cNvPr id="44" name="図 43" descr="アイコン&#10;&#10;自動的に生成された説明">
            <a:extLst>
              <a:ext uri="{FF2B5EF4-FFF2-40B4-BE49-F238E27FC236}">
                <a16:creationId xmlns:a16="http://schemas.microsoft.com/office/drawing/2014/main" id="{5BE627EC-27F9-72E6-6FAF-BEA36B94E2E7}"/>
              </a:ext>
            </a:extLst>
          </p:cNvPr>
          <p:cNvPicPr>
            <a:picLocks noChangeAspect="1"/>
          </p:cNvPicPr>
          <p:nvPr/>
        </p:nvPicPr>
        <p:blipFill>
          <a:blip r:embed="rId6"/>
          <a:stretch>
            <a:fillRect/>
          </a:stretch>
        </p:blipFill>
        <p:spPr>
          <a:xfrm>
            <a:off x="1522734" y="5152740"/>
            <a:ext cx="544220" cy="612247"/>
          </a:xfrm>
          <a:prstGeom prst="rect">
            <a:avLst/>
          </a:prstGeom>
        </p:spPr>
      </p:pic>
      <p:pic>
        <p:nvPicPr>
          <p:cNvPr id="34" name="図 33" descr="アイコン&#10;&#10;自動的に生成された説明">
            <a:extLst>
              <a:ext uri="{FF2B5EF4-FFF2-40B4-BE49-F238E27FC236}">
                <a16:creationId xmlns:a16="http://schemas.microsoft.com/office/drawing/2014/main" id="{E271FE9E-DDFD-6B06-907E-409923727AE5}"/>
              </a:ext>
            </a:extLst>
          </p:cNvPr>
          <p:cNvPicPr>
            <a:picLocks noChangeAspect="1"/>
          </p:cNvPicPr>
          <p:nvPr/>
        </p:nvPicPr>
        <p:blipFill>
          <a:blip r:embed="rId7"/>
          <a:stretch>
            <a:fillRect/>
          </a:stretch>
        </p:blipFill>
        <p:spPr>
          <a:xfrm>
            <a:off x="287814" y="5095795"/>
            <a:ext cx="603156" cy="692042"/>
          </a:xfrm>
          <a:prstGeom prst="rect">
            <a:avLst/>
          </a:prstGeom>
        </p:spPr>
      </p:pic>
      <p:pic>
        <p:nvPicPr>
          <p:cNvPr id="46" name="Picture 6" descr="Google Gemini">
            <a:extLst>
              <a:ext uri="{FF2B5EF4-FFF2-40B4-BE49-F238E27FC236}">
                <a16:creationId xmlns:a16="http://schemas.microsoft.com/office/drawing/2014/main" id="{789E4FDE-5854-B984-83E0-A7FE781C60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581" t="20741" r="23591" b="32284"/>
          <a:stretch/>
        </p:blipFill>
        <p:spPr bwMode="auto">
          <a:xfrm>
            <a:off x="2080047" y="5008955"/>
            <a:ext cx="811602" cy="450831"/>
          </a:xfrm>
          <a:prstGeom prst="rect">
            <a:avLst/>
          </a:prstGeom>
          <a:noFill/>
          <a:extLst>
            <a:ext uri="{909E8E84-426E-40DD-AFC4-6F175D3DCCD1}">
              <a14:hiddenFill xmlns:a14="http://schemas.microsoft.com/office/drawing/2010/main">
                <a:solidFill>
                  <a:srgbClr val="FFFFFF"/>
                </a:solidFill>
              </a14:hiddenFill>
            </a:ext>
          </a:extLst>
        </p:spPr>
      </p:pic>
      <p:cxnSp>
        <p:nvCxnSpPr>
          <p:cNvPr id="35" name="直線コネクタ 34">
            <a:extLst>
              <a:ext uri="{FF2B5EF4-FFF2-40B4-BE49-F238E27FC236}">
                <a16:creationId xmlns:a16="http://schemas.microsoft.com/office/drawing/2014/main" id="{EE05C6F0-BF13-B74F-5045-9CA9E94C3822}"/>
              </a:ext>
            </a:extLst>
          </p:cNvPr>
          <p:cNvCxnSpPr>
            <a:cxnSpLocks/>
          </p:cNvCxnSpPr>
          <p:nvPr/>
        </p:nvCxnSpPr>
        <p:spPr>
          <a:xfrm flipH="1">
            <a:off x="144434" y="5030235"/>
            <a:ext cx="6525177" cy="0"/>
          </a:xfrm>
          <a:prstGeom prst="line">
            <a:avLst/>
          </a:prstGeom>
          <a:ln>
            <a:solidFill>
              <a:schemeClr val="accent6">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41" name="直線矢印コネクタ 40">
            <a:extLst>
              <a:ext uri="{FF2B5EF4-FFF2-40B4-BE49-F238E27FC236}">
                <a16:creationId xmlns:a16="http://schemas.microsoft.com/office/drawing/2014/main" id="{39169A0B-DCA6-0080-16A6-067D75480400}"/>
              </a:ext>
            </a:extLst>
          </p:cNvPr>
          <p:cNvCxnSpPr>
            <a:cxnSpLocks/>
          </p:cNvCxnSpPr>
          <p:nvPr/>
        </p:nvCxnSpPr>
        <p:spPr>
          <a:xfrm>
            <a:off x="969446" y="5496343"/>
            <a:ext cx="49514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2" name="Picture 4" descr="ChatGPT - Wikipedia">
            <a:extLst>
              <a:ext uri="{FF2B5EF4-FFF2-40B4-BE49-F238E27FC236}">
                <a16:creationId xmlns:a16="http://schemas.microsoft.com/office/drawing/2014/main" id="{B8DA9A7D-F13D-DBAD-9A23-32EA115A67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8062" y="5117706"/>
            <a:ext cx="307043" cy="307043"/>
          </a:xfrm>
          <a:prstGeom prst="rect">
            <a:avLst/>
          </a:prstGeom>
          <a:noFill/>
          <a:extLst>
            <a:ext uri="{909E8E84-426E-40DD-AFC4-6F175D3DCCD1}">
              <a14:hiddenFill xmlns:a14="http://schemas.microsoft.com/office/drawing/2010/main">
                <a:solidFill>
                  <a:srgbClr val="FFFFFF"/>
                </a:solidFill>
              </a14:hiddenFill>
            </a:ext>
          </a:extLst>
        </p:spPr>
      </p:pic>
      <p:cxnSp>
        <p:nvCxnSpPr>
          <p:cNvPr id="45" name="直線矢印コネクタ 44">
            <a:extLst>
              <a:ext uri="{FF2B5EF4-FFF2-40B4-BE49-F238E27FC236}">
                <a16:creationId xmlns:a16="http://schemas.microsoft.com/office/drawing/2014/main" id="{37C3C98C-B56C-F668-D1D5-F91B698F3653}"/>
              </a:ext>
            </a:extLst>
          </p:cNvPr>
          <p:cNvCxnSpPr>
            <a:cxnSpLocks/>
          </p:cNvCxnSpPr>
          <p:nvPr/>
        </p:nvCxnSpPr>
        <p:spPr>
          <a:xfrm>
            <a:off x="2206166" y="5496343"/>
            <a:ext cx="53342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8" name="角丸四角形吹き出し 47">
            <a:extLst>
              <a:ext uri="{FF2B5EF4-FFF2-40B4-BE49-F238E27FC236}">
                <a16:creationId xmlns:a16="http://schemas.microsoft.com/office/drawing/2014/main" id="{ECFBF45A-4776-1CAE-1F2A-78843583D989}"/>
              </a:ext>
            </a:extLst>
          </p:cNvPr>
          <p:cNvSpPr/>
          <p:nvPr/>
        </p:nvSpPr>
        <p:spPr>
          <a:xfrm>
            <a:off x="3911206" y="5093908"/>
            <a:ext cx="2322008" cy="553998"/>
          </a:xfrm>
          <a:prstGeom prst="wedgeRoundRectCallout">
            <a:avLst>
              <a:gd name="adj1" fmla="val -64124"/>
              <a:gd name="adj2" fmla="val 2036"/>
              <a:gd name="adj3" fmla="val 1666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テキスト ボックス 48">
            <a:extLst>
              <a:ext uri="{FF2B5EF4-FFF2-40B4-BE49-F238E27FC236}">
                <a16:creationId xmlns:a16="http://schemas.microsoft.com/office/drawing/2014/main" id="{0AD16DD8-7B90-7EDB-D8D8-F301BCA5E334}"/>
              </a:ext>
            </a:extLst>
          </p:cNvPr>
          <p:cNvSpPr txBox="1"/>
          <p:nvPr/>
        </p:nvSpPr>
        <p:spPr>
          <a:xfrm>
            <a:off x="3937392" y="5107212"/>
            <a:ext cx="2329484" cy="553998"/>
          </a:xfrm>
          <a:prstGeom prst="rect">
            <a:avLst/>
          </a:prstGeom>
          <a:noFill/>
        </p:spPr>
        <p:txBody>
          <a:bodyPr wrap="none" rtlCol="0">
            <a:spAutoFit/>
          </a:bodyPr>
          <a:lstStyle/>
          <a:p>
            <a:pPr marL="171450" indent="-171450">
              <a:buFont typeface="Arial" panose="020B0604020202020204" pitchFamily="34" charset="0"/>
              <a:buChar char="•"/>
            </a:pPr>
            <a:r>
              <a:rPr kumimoji="1" lang="en-US" altLang="ja-JP" sz="1000" dirty="0">
                <a:latin typeface="Meiryo" panose="020B0604030504040204" pitchFamily="34" charset="-128"/>
                <a:ea typeface="Meiryo" panose="020B0604030504040204" pitchFamily="34" charset="-128"/>
              </a:rPr>
              <a:t>4</a:t>
            </a:r>
            <a:r>
              <a:rPr kumimoji="1" lang="ja-JP" altLang="en-US" sz="1000">
                <a:latin typeface="Meiryo" panose="020B0604030504040204" pitchFamily="34" charset="-128"/>
                <a:ea typeface="Meiryo" panose="020B0604030504040204" pitchFamily="34" charset="-128"/>
              </a:rPr>
              <a:t>つの関数が表す結果</a:t>
            </a:r>
            <a:endParaRPr kumimoji="1" lang="en-US" altLang="ja-JP" sz="1000" dirty="0">
              <a:latin typeface="Meiryo" panose="020B0604030504040204" pitchFamily="34" charset="-128"/>
              <a:ea typeface="Meiryo" panose="020B0604030504040204" pitchFamily="34" charset="-128"/>
            </a:endParaRPr>
          </a:p>
          <a:p>
            <a:pPr marL="171450" indent="-171450">
              <a:buFont typeface="Arial" panose="020B0604020202020204" pitchFamily="34" charset="0"/>
              <a:buChar char="•"/>
            </a:pPr>
            <a:r>
              <a:rPr kumimoji="1" lang="en-US" altLang="ja-JP" sz="1000" dirty="0">
                <a:latin typeface="Meiryo" panose="020B0604030504040204" pitchFamily="34" charset="-128"/>
                <a:ea typeface="Meiryo" panose="020B0604030504040204" pitchFamily="34" charset="-128"/>
              </a:rPr>
              <a:t>Gemini</a:t>
            </a:r>
            <a:r>
              <a:rPr kumimoji="1" lang="ja-JP" altLang="en-US" sz="1000">
                <a:latin typeface="Meiryo" panose="020B0604030504040204" pitchFamily="34" charset="-128"/>
                <a:ea typeface="Meiryo" panose="020B0604030504040204" pitchFamily="34" charset="-128"/>
              </a:rPr>
              <a:t>による、難読化手法の説明</a:t>
            </a:r>
            <a:endParaRPr kumimoji="1" lang="en-US" altLang="ja-JP" sz="1000" dirty="0">
              <a:latin typeface="Meiryo" panose="020B0604030504040204" pitchFamily="34" charset="-128"/>
              <a:ea typeface="Meiryo" panose="020B0604030504040204" pitchFamily="34" charset="-128"/>
            </a:endParaRPr>
          </a:p>
          <a:p>
            <a:pPr marL="171450" indent="-171450">
              <a:buFont typeface="Arial" panose="020B0604020202020204" pitchFamily="34" charset="0"/>
              <a:buChar char="•"/>
            </a:pPr>
            <a:r>
              <a:rPr kumimoji="1" lang="ja-JP" altLang="en-US" sz="1000">
                <a:latin typeface="Meiryo" panose="020B0604030504040204" pitchFamily="34" charset="-128"/>
                <a:ea typeface="Meiryo" panose="020B0604030504040204" pitchFamily="34" charset="-128"/>
              </a:rPr>
              <a:t>特徴量比較グラフ</a:t>
            </a:r>
            <a:endParaRPr kumimoji="1" lang="en-US" altLang="ja-JP" sz="1000" dirty="0">
              <a:latin typeface="Meiryo" panose="020B0604030504040204" pitchFamily="34" charset="-128"/>
              <a:ea typeface="Meiryo" panose="020B0604030504040204" pitchFamily="34" charset="-128"/>
            </a:endParaRPr>
          </a:p>
        </p:txBody>
      </p:sp>
      <p:sp>
        <p:nvSpPr>
          <p:cNvPr id="50" name="テキスト ボックス 49">
            <a:extLst>
              <a:ext uri="{FF2B5EF4-FFF2-40B4-BE49-F238E27FC236}">
                <a16:creationId xmlns:a16="http://schemas.microsoft.com/office/drawing/2014/main" id="{3B7BBD9C-96D9-EC2B-5D0F-93709EC5773B}"/>
              </a:ext>
            </a:extLst>
          </p:cNvPr>
          <p:cNvSpPr txBox="1"/>
          <p:nvPr/>
        </p:nvSpPr>
        <p:spPr>
          <a:xfrm>
            <a:off x="153785" y="5680841"/>
            <a:ext cx="5705223" cy="400110"/>
          </a:xfrm>
          <a:prstGeom prst="rect">
            <a:avLst/>
          </a:prstGeom>
          <a:noFill/>
        </p:spPr>
        <p:txBody>
          <a:bodyPr wrap="square" rtlCol="0">
            <a:spAutoFit/>
          </a:bodyPr>
          <a:lstStyle/>
          <a:p>
            <a:r>
              <a:rPr kumimoji="1" lang="ja-JP" altLang="en-US" sz="1000">
                <a:latin typeface="Meiryo" panose="020B0604030504040204" pitchFamily="34" charset="-128"/>
                <a:ea typeface="Meiryo" panose="020B0604030504040204" pitchFamily="34" charset="-128"/>
              </a:rPr>
              <a:t>プログラムコードを</a:t>
            </a:r>
            <a:r>
              <a:rPr kumimoji="1" lang="en-US" altLang="ja-JP" sz="1000" dirty="0">
                <a:latin typeface="Meiryo" panose="020B0604030504040204" pitchFamily="34" charset="-128"/>
                <a:ea typeface="Meiryo" panose="020B0604030504040204" pitchFamily="34" charset="-128"/>
              </a:rPr>
              <a:t>ChatGPT</a:t>
            </a:r>
            <a:r>
              <a:rPr kumimoji="1" lang="ja-JP" altLang="en-US" sz="1000">
                <a:latin typeface="Meiryo" panose="020B0604030504040204" pitchFamily="34" charset="-128"/>
                <a:ea typeface="Meiryo" panose="020B0604030504040204" pitchFamily="34" charset="-128"/>
              </a:rPr>
              <a:t>で難読化し、どれくらい難読化できたかを数値で表し、</a:t>
            </a:r>
            <a:endParaRPr kumimoji="1" lang="en-US" altLang="ja-JP" sz="1000" dirty="0">
              <a:latin typeface="Meiryo" panose="020B0604030504040204" pitchFamily="34" charset="-128"/>
              <a:ea typeface="Meiryo" panose="020B0604030504040204" pitchFamily="34" charset="-128"/>
            </a:endParaRPr>
          </a:p>
          <a:p>
            <a:r>
              <a:rPr kumimoji="1" lang="en-US" altLang="ja-JP" sz="1000" dirty="0">
                <a:latin typeface="Meiryo" panose="020B0604030504040204" pitchFamily="34" charset="-128"/>
                <a:ea typeface="Meiryo" panose="020B0604030504040204" pitchFamily="34" charset="-128"/>
              </a:rPr>
              <a:t>Gemini</a:t>
            </a:r>
            <a:r>
              <a:rPr kumimoji="1" lang="ja-JP" altLang="en-US" sz="1000">
                <a:latin typeface="Meiryo" panose="020B0604030504040204" pitchFamily="34" charset="-128"/>
                <a:ea typeface="Meiryo" panose="020B0604030504040204" pitchFamily="34" charset="-128"/>
              </a:rPr>
              <a:t>を用いて難読化手法の説明したものを</a:t>
            </a:r>
            <a:r>
              <a:rPr kumimoji="1" lang="en-US" altLang="ja-JP" sz="1000" dirty="0">
                <a:latin typeface="Meiryo" panose="020B0604030504040204" pitchFamily="34" charset="-128"/>
                <a:ea typeface="Meiryo" panose="020B0604030504040204" pitchFamily="34" charset="-128"/>
              </a:rPr>
              <a:t>HTML</a:t>
            </a:r>
            <a:r>
              <a:rPr kumimoji="1" lang="ja-JP" altLang="en-US" sz="1000">
                <a:latin typeface="Meiryo" panose="020B0604030504040204" pitchFamily="34" charset="-128"/>
                <a:ea typeface="Meiryo" panose="020B0604030504040204" pitchFamily="34" charset="-128"/>
              </a:rPr>
              <a:t>に書き出す</a:t>
            </a:r>
            <a:endParaRPr kumimoji="1" lang="en-US" altLang="ja-JP" sz="1000" dirty="0">
              <a:latin typeface="Meiryo" panose="020B0604030504040204" pitchFamily="34" charset="-128"/>
              <a:ea typeface="Meiryo" panose="020B0604030504040204" pitchFamily="34" charset="-128"/>
            </a:endParaRPr>
          </a:p>
        </p:txBody>
      </p:sp>
      <p:sp>
        <p:nvSpPr>
          <p:cNvPr id="53" name="テキスト ボックス 52">
            <a:extLst>
              <a:ext uri="{FF2B5EF4-FFF2-40B4-BE49-F238E27FC236}">
                <a16:creationId xmlns:a16="http://schemas.microsoft.com/office/drawing/2014/main" id="{412CBBB0-E1DD-0A20-BA58-B3A32D214256}"/>
              </a:ext>
            </a:extLst>
          </p:cNvPr>
          <p:cNvSpPr txBox="1"/>
          <p:nvPr/>
        </p:nvSpPr>
        <p:spPr>
          <a:xfrm>
            <a:off x="307468" y="5028149"/>
            <a:ext cx="595035" cy="215444"/>
          </a:xfrm>
          <a:prstGeom prst="rect">
            <a:avLst/>
          </a:prstGeom>
          <a:noFill/>
        </p:spPr>
        <p:txBody>
          <a:bodyPr wrap="none" rtlCol="0">
            <a:spAutoFit/>
          </a:bodyPr>
          <a:lstStyle/>
          <a:p>
            <a:r>
              <a:rPr kumimoji="1" lang="ja-JP" altLang="en-US" sz="800">
                <a:latin typeface="Meiryo" panose="020B0604030504040204" pitchFamily="34" charset="-128"/>
                <a:ea typeface="Meiryo" panose="020B0604030504040204" pitchFamily="34" charset="-128"/>
              </a:rPr>
              <a:t>難読化前</a:t>
            </a:r>
          </a:p>
        </p:txBody>
      </p:sp>
      <p:sp>
        <p:nvSpPr>
          <p:cNvPr id="54" name="テキスト ボックス 53">
            <a:extLst>
              <a:ext uri="{FF2B5EF4-FFF2-40B4-BE49-F238E27FC236}">
                <a16:creationId xmlns:a16="http://schemas.microsoft.com/office/drawing/2014/main" id="{B4CBCDD8-937F-D5ED-55BE-EC788A4E33B0}"/>
              </a:ext>
            </a:extLst>
          </p:cNvPr>
          <p:cNvSpPr txBox="1"/>
          <p:nvPr/>
        </p:nvSpPr>
        <p:spPr>
          <a:xfrm>
            <a:off x="1501451" y="5045018"/>
            <a:ext cx="595035" cy="215444"/>
          </a:xfrm>
          <a:prstGeom prst="rect">
            <a:avLst/>
          </a:prstGeom>
          <a:noFill/>
        </p:spPr>
        <p:txBody>
          <a:bodyPr wrap="none" rtlCol="0">
            <a:spAutoFit/>
          </a:bodyPr>
          <a:lstStyle/>
          <a:p>
            <a:r>
              <a:rPr kumimoji="1" lang="ja-JP" altLang="en-US" sz="800">
                <a:latin typeface="Meiryo" panose="020B0604030504040204" pitchFamily="34" charset="-128"/>
                <a:ea typeface="Meiryo" panose="020B0604030504040204" pitchFamily="34" charset="-128"/>
              </a:rPr>
              <a:t>難読化後</a:t>
            </a:r>
          </a:p>
        </p:txBody>
      </p:sp>
      <p:sp>
        <p:nvSpPr>
          <p:cNvPr id="55" name="テキスト ボックス 54">
            <a:extLst>
              <a:ext uri="{FF2B5EF4-FFF2-40B4-BE49-F238E27FC236}">
                <a16:creationId xmlns:a16="http://schemas.microsoft.com/office/drawing/2014/main" id="{7CB5CA02-5C3C-097A-F9AB-4DD7BAD74C2C}"/>
              </a:ext>
            </a:extLst>
          </p:cNvPr>
          <p:cNvSpPr txBox="1"/>
          <p:nvPr/>
        </p:nvSpPr>
        <p:spPr>
          <a:xfrm>
            <a:off x="2728250" y="5042438"/>
            <a:ext cx="902811" cy="215444"/>
          </a:xfrm>
          <a:prstGeom prst="rect">
            <a:avLst/>
          </a:prstGeom>
          <a:noFill/>
        </p:spPr>
        <p:txBody>
          <a:bodyPr wrap="none" rtlCol="0">
            <a:spAutoFit/>
          </a:bodyPr>
          <a:lstStyle/>
          <a:p>
            <a:r>
              <a:rPr kumimoji="1" lang="ja-JP" altLang="en-US" sz="800">
                <a:latin typeface="Meiryo" panose="020B0604030504040204" pitchFamily="34" charset="-128"/>
                <a:ea typeface="Meiryo" panose="020B0604030504040204" pitchFamily="34" charset="-128"/>
              </a:rPr>
              <a:t>難読化レポート</a:t>
            </a:r>
          </a:p>
        </p:txBody>
      </p:sp>
      <p:sp>
        <p:nvSpPr>
          <p:cNvPr id="56" name="正方形/長方形 55">
            <a:extLst>
              <a:ext uri="{FF2B5EF4-FFF2-40B4-BE49-F238E27FC236}">
                <a16:creationId xmlns:a16="http://schemas.microsoft.com/office/drawing/2014/main" id="{5698D528-B76B-E6DB-182A-4B6216C81A4C}"/>
              </a:ext>
            </a:extLst>
          </p:cNvPr>
          <p:cNvSpPr/>
          <p:nvPr/>
        </p:nvSpPr>
        <p:spPr>
          <a:xfrm>
            <a:off x="59267" y="6166952"/>
            <a:ext cx="6739332" cy="247198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ボックス 56">
            <a:extLst>
              <a:ext uri="{FF2B5EF4-FFF2-40B4-BE49-F238E27FC236}">
                <a16:creationId xmlns:a16="http://schemas.microsoft.com/office/drawing/2014/main" id="{1773AFB9-8CB3-D370-501C-234E4465DEC8}"/>
              </a:ext>
            </a:extLst>
          </p:cNvPr>
          <p:cNvSpPr txBox="1"/>
          <p:nvPr/>
        </p:nvSpPr>
        <p:spPr>
          <a:xfrm>
            <a:off x="136641" y="6166784"/>
            <a:ext cx="1107996" cy="369332"/>
          </a:xfrm>
          <a:prstGeom prst="rect">
            <a:avLst/>
          </a:prstGeom>
          <a:noFill/>
        </p:spPr>
        <p:txBody>
          <a:bodyPr wrap="none" rtlCol="0">
            <a:spAutoFit/>
          </a:bodyPr>
          <a:lstStyle/>
          <a:p>
            <a:r>
              <a:rPr kumimoji="1" lang="ja-JP" altLang="en-US">
                <a:latin typeface="Meiryo" panose="020B0604030504040204" pitchFamily="34" charset="-128"/>
                <a:ea typeface="Meiryo" panose="020B0604030504040204" pitchFamily="34" charset="-128"/>
              </a:rPr>
              <a:t>研究結果</a:t>
            </a:r>
          </a:p>
        </p:txBody>
      </p:sp>
      <p:sp>
        <p:nvSpPr>
          <p:cNvPr id="58" name="正方形/長方形 57">
            <a:extLst>
              <a:ext uri="{FF2B5EF4-FFF2-40B4-BE49-F238E27FC236}">
                <a16:creationId xmlns:a16="http://schemas.microsoft.com/office/drawing/2014/main" id="{E559C10F-99FC-25CD-8156-17CA8701916A}"/>
              </a:ext>
            </a:extLst>
          </p:cNvPr>
          <p:cNvSpPr/>
          <p:nvPr/>
        </p:nvSpPr>
        <p:spPr>
          <a:xfrm>
            <a:off x="153785" y="6470542"/>
            <a:ext cx="6550430" cy="21000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9" name="図 58" descr="アイコン&#10;&#10;自動的に生成された説明">
            <a:extLst>
              <a:ext uri="{FF2B5EF4-FFF2-40B4-BE49-F238E27FC236}">
                <a16:creationId xmlns:a16="http://schemas.microsoft.com/office/drawing/2014/main" id="{8229C5D0-2B34-06CD-223C-602EF533DC05}"/>
              </a:ext>
            </a:extLst>
          </p:cNvPr>
          <p:cNvPicPr>
            <a:picLocks noChangeAspect="1"/>
          </p:cNvPicPr>
          <p:nvPr/>
        </p:nvPicPr>
        <p:blipFill>
          <a:blip r:embed="rId6"/>
          <a:srcRect l="11991" t="10333" r="19151" b="16077"/>
          <a:stretch/>
        </p:blipFill>
        <p:spPr>
          <a:xfrm>
            <a:off x="3171794" y="5426814"/>
            <a:ext cx="209138" cy="251447"/>
          </a:xfrm>
          <a:prstGeom prst="rect">
            <a:avLst/>
          </a:prstGeom>
        </p:spPr>
      </p:pic>
      <p:pic>
        <p:nvPicPr>
          <p:cNvPr id="62" name="図 61" descr="グラフ, 折れ線グラフ&#10;&#10;自動的に生成された説明">
            <a:extLst>
              <a:ext uri="{FF2B5EF4-FFF2-40B4-BE49-F238E27FC236}">
                <a16:creationId xmlns:a16="http://schemas.microsoft.com/office/drawing/2014/main" id="{16E1853F-E9AA-1755-12C1-336207ECA87B}"/>
              </a:ext>
            </a:extLst>
          </p:cNvPr>
          <p:cNvPicPr>
            <a:picLocks noChangeAspect="1"/>
          </p:cNvPicPr>
          <p:nvPr/>
        </p:nvPicPr>
        <p:blipFill>
          <a:blip r:embed="rId8"/>
          <a:stretch>
            <a:fillRect/>
          </a:stretch>
        </p:blipFill>
        <p:spPr>
          <a:xfrm>
            <a:off x="219847" y="6468234"/>
            <a:ext cx="2765630" cy="900930"/>
          </a:xfrm>
          <a:prstGeom prst="rect">
            <a:avLst/>
          </a:prstGeom>
        </p:spPr>
      </p:pic>
      <p:pic>
        <p:nvPicPr>
          <p:cNvPr id="1024" name="図 1023" descr="グラフ, 棒グラフ, ウォーターフォール図&#10;&#10;自動的に生成された説明">
            <a:extLst>
              <a:ext uri="{FF2B5EF4-FFF2-40B4-BE49-F238E27FC236}">
                <a16:creationId xmlns:a16="http://schemas.microsoft.com/office/drawing/2014/main" id="{5CA275ED-17FA-FCC0-9363-4774D377F42A}"/>
              </a:ext>
            </a:extLst>
          </p:cNvPr>
          <p:cNvPicPr>
            <a:picLocks noChangeAspect="1"/>
          </p:cNvPicPr>
          <p:nvPr/>
        </p:nvPicPr>
        <p:blipFill>
          <a:blip r:embed="rId9"/>
          <a:stretch>
            <a:fillRect/>
          </a:stretch>
        </p:blipFill>
        <p:spPr>
          <a:xfrm>
            <a:off x="287814" y="7361260"/>
            <a:ext cx="1048766" cy="1135233"/>
          </a:xfrm>
          <a:prstGeom prst="rect">
            <a:avLst/>
          </a:prstGeom>
        </p:spPr>
      </p:pic>
      <p:sp>
        <p:nvSpPr>
          <p:cNvPr id="1030" name="角丸四角形 1029">
            <a:extLst>
              <a:ext uri="{FF2B5EF4-FFF2-40B4-BE49-F238E27FC236}">
                <a16:creationId xmlns:a16="http://schemas.microsoft.com/office/drawing/2014/main" id="{0290308E-AC52-8406-1011-F2B322983EB4}"/>
              </a:ext>
            </a:extLst>
          </p:cNvPr>
          <p:cNvSpPr/>
          <p:nvPr/>
        </p:nvSpPr>
        <p:spPr>
          <a:xfrm>
            <a:off x="448097" y="7477246"/>
            <a:ext cx="454406" cy="592473"/>
          </a:xfrm>
          <a:prstGeom prst="round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5" name="テキスト ボックス 1034">
            <a:extLst>
              <a:ext uri="{FF2B5EF4-FFF2-40B4-BE49-F238E27FC236}">
                <a16:creationId xmlns:a16="http://schemas.microsoft.com/office/drawing/2014/main" id="{8E749A86-23E0-E161-2627-CC4BD5B6D2C8}"/>
              </a:ext>
            </a:extLst>
          </p:cNvPr>
          <p:cNvSpPr txBox="1"/>
          <p:nvPr/>
        </p:nvSpPr>
        <p:spPr>
          <a:xfrm>
            <a:off x="1746070" y="7361260"/>
            <a:ext cx="2062645" cy="1169551"/>
          </a:xfrm>
          <a:prstGeom prst="rect">
            <a:avLst/>
          </a:prstGeom>
          <a:noFill/>
        </p:spPr>
        <p:txBody>
          <a:bodyPr wrap="square" rtlCol="0">
            <a:spAutoFit/>
          </a:bodyPr>
          <a:lstStyle/>
          <a:p>
            <a:pPr marL="171450" indent="-171450">
              <a:buFont typeface="Arial" panose="020B0604020202020204" pitchFamily="34" charset="0"/>
              <a:buChar char="•"/>
            </a:pPr>
            <a:r>
              <a:rPr lang="en-US" altLang="ja-JP" sz="1000" dirty="0">
                <a:latin typeface="Meiryo" panose="020B0604030504040204" pitchFamily="34" charset="-128"/>
                <a:ea typeface="Meiryo" panose="020B0604030504040204" pitchFamily="34" charset="-128"/>
              </a:rPr>
              <a:t>AST </a:t>
            </a:r>
            <a:r>
              <a:rPr lang="ja-JP" altLang="en-US" sz="1000">
                <a:solidFill>
                  <a:srgbClr val="0070C0"/>
                </a:solidFill>
                <a:latin typeface="Meiryo" panose="020B0604030504040204" pitchFamily="34" charset="-128"/>
                <a:ea typeface="Meiryo" panose="020B0604030504040204" pitchFamily="34" charset="-128"/>
              </a:rPr>
              <a:t>低</a:t>
            </a:r>
            <a:r>
              <a:rPr lang="ja-JP" altLang="en-US" sz="1000">
                <a:latin typeface="Meiryo" panose="020B0604030504040204" pitchFamily="34" charset="-128"/>
                <a:ea typeface="Meiryo" panose="020B0604030504040204" pitchFamily="34" charset="-128"/>
              </a:rPr>
              <a:t>　コサイン類似度</a:t>
            </a:r>
            <a:r>
              <a:rPr lang="en-US" altLang="ja-JP" sz="1000" dirty="0">
                <a:latin typeface="Meiryo" panose="020B0604030504040204" pitchFamily="34" charset="-128"/>
                <a:ea typeface="Meiryo" panose="020B0604030504040204" pitchFamily="34" charset="-128"/>
              </a:rPr>
              <a:t> </a:t>
            </a:r>
            <a:r>
              <a:rPr lang="ja-JP" altLang="en-US" sz="1000">
                <a:solidFill>
                  <a:srgbClr val="FF0000"/>
                </a:solidFill>
                <a:latin typeface="Meiryo" panose="020B0604030504040204" pitchFamily="34" charset="-128"/>
                <a:ea typeface="Meiryo" panose="020B0604030504040204" pitchFamily="34" charset="-128"/>
              </a:rPr>
              <a:t>高</a:t>
            </a:r>
            <a:endParaRPr lang="en-US" altLang="ja-JP" sz="1000" dirty="0">
              <a:solidFill>
                <a:srgbClr val="FF0000"/>
              </a:solidFill>
              <a:latin typeface="Meiryo" panose="020B0604030504040204" pitchFamily="34" charset="-128"/>
              <a:ea typeface="Meiryo" panose="020B0604030504040204" pitchFamily="34" charset="-128"/>
            </a:endParaRPr>
          </a:p>
          <a:p>
            <a:r>
              <a:rPr lang="ja-JP" altLang="en-US" sz="1000">
                <a:latin typeface="Meiryo" panose="020B0604030504040204" pitchFamily="34" charset="-128"/>
                <a:ea typeface="Meiryo" panose="020B0604030504040204" pitchFamily="34" charset="-128"/>
              </a:rPr>
              <a:t>見た目の構造は変わったけど、使ってる構文要素は同じ。</a:t>
            </a:r>
            <a:endParaRPr lang="en-US" altLang="ja-JP" sz="1000" dirty="0">
              <a:latin typeface="Meiryo" panose="020B0604030504040204" pitchFamily="34" charset="-128"/>
              <a:ea typeface="Meiryo" panose="020B0604030504040204" pitchFamily="34" charset="-128"/>
            </a:endParaRPr>
          </a:p>
          <a:p>
            <a:pPr marL="171450" indent="-171450">
              <a:buFont typeface="Arial" panose="020B0604020202020204" pitchFamily="34" charset="0"/>
              <a:buChar char="•"/>
            </a:pPr>
            <a:r>
              <a:rPr kumimoji="1" lang="en-US" altLang="ja-JP" sz="1000" dirty="0">
                <a:latin typeface="Meiryo" panose="020B0604030504040204" pitchFamily="34" charset="-128"/>
                <a:ea typeface="Meiryo" panose="020B0604030504040204" pitchFamily="34" charset="-128"/>
              </a:rPr>
              <a:t>CFG</a:t>
            </a:r>
            <a:r>
              <a:rPr kumimoji="1" lang="ja-JP" altLang="en-US" sz="1000">
                <a:latin typeface="Meiryo" panose="020B0604030504040204" pitchFamily="34" charset="-128"/>
                <a:ea typeface="Meiryo" panose="020B0604030504040204" pitchFamily="34" charset="-128"/>
              </a:rPr>
              <a:t>類似度　</a:t>
            </a:r>
            <a:r>
              <a:rPr kumimoji="1" lang="ja-JP" altLang="en-US" sz="1000">
                <a:solidFill>
                  <a:srgbClr val="FF0000"/>
                </a:solidFill>
                <a:latin typeface="Meiryo" panose="020B0604030504040204" pitchFamily="34" charset="-128"/>
                <a:ea typeface="Meiryo" panose="020B0604030504040204" pitchFamily="34" charset="-128"/>
              </a:rPr>
              <a:t>高</a:t>
            </a:r>
            <a:endParaRPr kumimoji="1" lang="en-US" altLang="ja-JP" sz="1000" dirty="0">
              <a:solidFill>
                <a:srgbClr val="FF0000"/>
              </a:solidFill>
              <a:latin typeface="Meiryo" panose="020B0604030504040204" pitchFamily="34" charset="-128"/>
              <a:ea typeface="Meiryo" panose="020B0604030504040204" pitchFamily="34" charset="-128"/>
            </a:endParaRPr>
          </a:p>
          <a:p>
            <a:r>
              <a:rPr kumimoji="1" lang="ja-JP" altLang="en-US" sz="1000">
                <a:latin typeface="Meiryo" panose="020B0604030504040204" pitchFamily="34" charset="-128"/>
                <a:ea typeface="Meiryo" panose="020B0604030504040204" pitchFamily="34" charset="-128"/>
              </a:rPr>
              <a:t>構文構造は変わってなく、</a:t>
            </a:r>
            <a:r>
              <a:rPr lang="ja-JP" altLang="en-US" sz="1000">
                <a:latin typeface="Meiryo" panose="020B0604030504040204" pitchFamily="34" charset="-128"/>
                <a:ea typeface="Meiryo" panose="020B0604030504040204" pitchFamily="34" charset="-128"/>
              </a:rPr>
              <a:t>制御フローの本質的な構造は維持される。</a:t>
            </a:r>
            <a:endParaRPr kumimoji="1" lang="ja-JP" altLang="en-US" sz="1000">
              <a:latin typeface="Meiryo" panose="020B0604030504040204" pitchFamily="34" charset="-128"/>
              <a:ea typeface="Meiryo" panose="020B0604030504040204" pitchFamily="34" charset="-128"/>
            </a:endParaRPr>
          </a:p>
        </p:txBody>
      </p:sp>
      <p:sp>
        <p:nvSpPr>
          <p:cNvPr id="1044" name="角丸四角形 1043">
            <a:extLst>
              <a:ext uri="{FF2B5EF4-FFF2-40B4-BE49-F238E27FC236}">
                <a16:creationId xmlns:a16="http://schemas.microsoft.com/office/drawing/2014/main" id="{C28C6E90-4F1D-778B-C17F-6A2F734BCAF2}"/>
              </a:ext>
            </a:extLst>
          </p:cNvPr>
          <p:cNvSpPr/>
          <p:nvPr/>
        </p:nvSpPr>
        <p:spPr>
          <a:xfrm>
            <a:off x="1029540" y="7493810"/>
            <a:ext cx="215097" cy="546305"/>
          </a:xfrm>
          <a:prstGeom prst="round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63" name="直線コネクタ 1062">
            <a:extLst>
              <a:ext uri="{FF2B5EF4-FFF2-40B4-BE49-F238E27FC236}">
                <a16:creationId xmlns:a16="http://schemas.microsoft.com/office/drawing/2014/main" id="{F8811037-CEAD-77AD-BED9-F608667A0019}"/>
              </a:ext>
            </a:extLst>
          </p:cNvPr>
          <p:cNvCxnSpPr/>
          <p:nvPr/>
        </p:nvCxnSpPr>
        <p:spPr>
          <a:xfrm flipV="1">
            <a:off x="890970" y="7369164"/>
            <a:ext cx="184297" cy="64569"/>
          </a:xfrm>
          <a:prstGeom prst="line">
            <a:avLst/>
          </a:prstGeom>
          <a:ln w="12700">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065" name="直線矢印コネクタ 1064">
            <a:extLst>
              <a:ext uri="{FF2B5EF4-FFF2-40B4-BE49-F238E27FC236}">
                <a16:creationId xmlns:a16="http://schemas.microsoft.com/office/drawing/2014/main" id="{F0547D45-07A2-4E21-BA05-50C4A7A6BDAC}"/>
              </a:ext>
            </a:extLst>
          </p:cNvPr>
          <p:cNvCxnSpPr>
            <a:cxnSpLocks/>
          </p:cNvCxnSpPr>
          <p:nvPr/>
        </p:nvCxnSpPr>
        <p:spPr>
          <a:xfrm>
            <a:off x="1077612" y="7363433"/>
            <a:ext cx="574074" cy="113813"/>
          </a:xfrm>
          <a:prstGeom prst="straightConnector1">
            <a:avLst/>
          </a:prstGeom>
          <a:ln w="127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67" name="直線矢印コネクタ 1066">
            <a:extLst>
              <a:ext uri="{FF2B5EF4-FFF2-40B4-BE49-F238E27FC236}">
                <a16:creationId xmlns:a16="http://schemas.microsoft.com/office/drawing/2014/main" id="{E32B057F-7C10-1FCC-CA36-52A41A64404F}"/>
              </a:ext>
            </a:extLst>
          </p:cNvPr>
          <p:cNvCxnSpPr>
            <a:cxnSpLocks/>
            <a:stCxn id="1044" idx="3"/>
          </p:cNvCxnSpPr>
          <p:nvPr/>
        </p:nvCxnSpPr>
        <p:spPr>
          <a:xfrm>
            <a:off x="1244637" y="7766963"/>
            <a:ext cx="480966" cy="2058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71" name="直線コネクタ 1070">
            <a:extLst>
              <a:ext uri="{FF2B5EF4-FFF2-40B4-BE49-F238E27FC236}">
                <a16:creationId xmlns:a16="http://schemas.microsoft.com/office/drawing/2014/main" id="{A11D3D95-29F9-B8C1-8501-5A4D538C8430}"/>
              </a:ext>
            </a:extLst>
          </p:cNvPr>
          <p:cNvCxnSpPr>
            <a:cxnSpLocks/>
          </p:cNvCxnSpPr>
          <p:nvPr/>
        </p:nvCxnSpPr>
        <p:spPr>
          <a:xfrm>
            <a:off x="3728621" y="6536116"/>
            <a:ext cx="0" cy="1878094"/>
          </a:xfrm>
          <a:prstGeom prst="line">
            <a:avLst/>
          </a:prstGeom>
          <a:ln>
            <a:solidFill>
              <a:schemeClr val="accent6">
                <a:lumMod val="20000"/>
                <a:lumOff val="80000"/>
              </a:schemeClr>
            </a:solidFill>
          </a:ln>
        </p:spPr>
        <p:style>
          <a:lnRef idx="2">
            <a:schemeClr val="accent1"/>
          </a:lnRef>
          <a:fillRef idx="0">
            <a:schemeClr val="accent1"/>
          </a:fillRef>
          <a:effectRef idx="1">
            <a:schemeClr val="accent1"/>
          </a:effectRef>
          <a:fontRef idx="minor">
            <a:schemeClr val="tx1"/>
          </a:fontRef>
        </p:style>
      </p:cxnSp>
      <p:pic>
        <p:nvPicPr>
          <p:cNvPr id="1076" name="図 1075">
            <a:extLst>
              <a:ext uri="{FF2B5EF4-FFF2-40B4-BE49-F238E27FC236}">
                <a16:creationId xmlns:a16="http://schemas.microsoft.com/office/drawing/2014/main" id="{573C1653-7E66-915E-927B-879A765AA12F}"/>
              </a:ext>
            </a:extLst>
          </p:cNvPr>
          <p:cNvPicPr>
            <a:picLocks noChangeAspect="1"/>
          </p:cNvPicPr>
          <p:nvPr/>
        </p:nvPicPr>
        <p:blipFill>
          <a:blip r:embed="rId10"/>
          <a:stretch>
            <a:fillRect/>
          </a:stretch>
        </p:blipFill>
        <p:spPr>
          <a:xfrm>
            <a:off x="3861179" y="6518199"/>
            <a:ext cx="1794678" cy="1075487"/>
          </a:xfrm>
          <a:prstGeom prst="rect">
            <a:avLst/>
          </a:prstGeom>
        </p:spPr>
      </p:pic>
      <p:sp>
        <p:nvSpPr>
          <p:cNvPr id="1083" name="テキスト ボックス 1082">
            <a:extLst>
              <a:ext uri="{FF2B5EF4-FFF2-40B4-BE49-F238E27FC236}">
                <a16:creationId xmlns:a16="http://schemas.microsoft.com/office/drawing/2014/main" id="{6F3AED7C-22ED-4B61-55CB-35263D123B30}"/>
              </a:ext>
            </a:extLst>
          </p:cNvPr>
          <p:cNvSpPr txBox="1"/>
          <p:nvPr/>
        </p:nvSpPr>
        <p:spPr>
          <a:xfrm>
            <a:off x="5609111" y="6810377"/>
            <a:ext cx="1284326" cy="400110"/>
          </a:xfrm>
          <a:prstGeom prst="rect">
            <a:avLst/>
          </a:prstGeom>
          <a:noFill/>
        </p:spPr>
        <p:txBody>
          <a:bodyPr wrap="none" rtlCol="0">
            <a:spAutoFit/>
          </a:bodyPr>
          <a:lstStyle/>
          <a:p>
            <a:r>
              <a:rPr kumimoji="1" lang="ja-JP" altLang="en-US" sz="1000">
                <a:latin typeface="Meiryo" panose="020B0604030504040204" pitchFamily="34" charset="-128"/>
                <a:ea typeface="Meiryo" panose="020B0604030504040204" pitchFamily="34" charset="-128"/>
              </a:rPr>
              <a:t>難読化前</a:t>
            </a:r>
            <a:r>
              <a:rPr kumimoji="1" lang="en-US" altLang="ja-JP" sz="1000" dirty="0">
                <a:latin typeface="Meiryo" panose="020B0604030504040204" pitchFamily="34" charset="-128"/>
                <a:ea typeface="Meiryo" panose="020B0604030504040204" pitchFamily="34" charset="-128"/>
              </a:rPr>
              <a:t> : 9.0176</a:t>
            </a:r>
          </a:p>
          <a:p>
            <a:r>
              <a:rPr kumimoji="1" lang="ja-JP" altLang="en-US" sz="1000">
                <a:latin typeface="Meiryo" panose="020B0604030504040204" pitchFamily="34" charset="-128"/>
                <a:ea typeface="Meiryo" panose="020B0604030504040204" pitchFamily="34" charset="-128"/>
              </a:rPr>
              <a:t>難読化後</a:t>
            </a:r>
            <a:r>
              <a:rPr kumimoji="1" lang="en-US" altLang="ja-JP" sz="1000" dirty="0">
                <a:latin typeface="Meiryo" panose="020B0604030504040204" pitchFamily="34" charset="-128"/>
                <a:ea typeface="Meiryo" panose="020B0604030504040204" pitchFamily="34" charset="-128"/>
              </a:rPr>
              <a:t> : 8.9088</a:t>
            </a:r>
            <a:endParaRPr kumimoji="1" lang="ja-JP" altLang="en-US" sz="1000">
              <a:latin typeface="Meiryo" panose="020B0604030504040204" pitchFamily="34" charset="-128"/>
              <a:ea typeface="Meiryo" panose="020B0604030504040204" pitchFamily="34" charset="-128"/>
            </a:endParaRPr>
          </a:p>
        </p:txBody>
      </p:sp>
      <p:sp>
        <p:nvSpPr>
          <p:cNvPr id="1084" name="テキスト ボックス 1083">
            <a:extLst>
              <a:ext uri="{FF2B5EF4-FFF2-40B4-BE49-F238E27FC236}">
                <a16:creationId xmlns:a16="http://schemas.microsoft.com/office/drawing/2014/main" id="{8A4FE9FC-2119-07A2-D35C-73D6C3BCA81C}"/>
              </a:ext>
            </a:extLst>
          </p:cNvPr>
          <p:cNvSpPr txBox="1"/>
          <p:nvPr/>
        </p:nvSpPr>
        <p:spPr>
          <a:xfrm>
            <a:off x="3839154" y="7603243"/>
            <a:ext cx="2882205" cy="1015663"/>
          </a:xfrm>
          <a:prstGeom prst="rect">
            <a:avLst/>
          </a:prstGeom>
          <a:noFill/>
        </p:spPr>
        <p:txBody>
          <a:bodyPr wrap="square" rtlCol="0">
            <a:spAutoFit/>
          </a:bodyPr>
          <a:lstStyle/>
          <a:p>
            <a:r>
              <a:rPr lang="ja-JP" altLang="en-US" sz="1000">
                <a:latin typeface="Meiryo" panose="020B0604030504040204" pitchFamily="34" charset="-128"/>
                <a:ea typeface="Meiryo" panose="020B0604030504040204" pitchFamily="34" charset="-128"/>
              </a:rPr>
              <a:t>難読化後のサイクロマチック複雑度の平均値は低下した。これは処理が複数の関数へ分割されたことにより、各ブロック単位での分岐数が分散したためと考えられる。つまり、これは制御フローそのものを大きく変更するのではなく、構造的な複雑さを増加させることがわかる。</a:t>
            </a:r>
            <a:endParaRPr kumimoji="1" lang="ja-JP" altLang="en-US" sz="1000">
              <a:latin typeface="Meiryo" panose="020B0604030504040204" pitchFamily="34" charset="-128"/>
              <a:ea typeface="Meiryo" panose="020B0604030504040204" pitchFamily="34" charset="-128"/>
            </a:endParaRPr>
          </a:p>
        </p:txBody>
      </p:sp>
      <p:sp>
        <p:nvSpPr>
          <p:cNvPr id="1085" name="正方形/長方形 1084">
            <a:extLst>
              <a:ext uri="{FF2B5EF4-FFF2-40B4-BE49-F238E27FC236}">
                <a16:creationId xmlns:a16="http://schemas.microsoft.com/office/drawing/2014/main" id="{C7DFA193-0DA1-87A0-A728-60440D9F80DB}"/>
              </a:ext>
            </a:extLst>
          </p:cNvPr>
          <p:cNvSpPr/>
          <p:nvPr/>
        </p:nvSpPr>
        <p:spPr>
          <a:xfrm>
            <a:off x="75154" y="8663399"/>
            <a:ext cx="6723445" cy="101126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7" name="テキスト ボックス 1086">
            <a:extLst>
              <a:ext uri="{FF2B5EF4-FFF2-40B4-BE49-F238E27FC236}">
                <a16:creationId xmlns:a16="http://schemas.microsoft.com/office/drawing/2014/main" id="{9F08BCB5-13E4-2DC8-C7E4-332EA0D2E6F3}"/>
              </a:ext>
            </a:extLst>
          </p:cNvPr>
          <p:cNvSpPr txBox="1"/>
          <p:nvPr/>
        </p:nvSpPr>
        <p:spPr>
          <a:xfrm>
            <a:off x="134546" y="8663399"/>
            <a:ext cx="723275" cy="307777"/>
          </a:xfrm>
          <a:prstGeom prst="rect">
            <a:avLst/>
          </a:prstGeom>
          <a:noFill/>
        </p:spPr>
        <p:txBody>
          <a:bodyPr wrap="none" rtlCol="0">
            <a:spAutoFit/>
          </a:bodyPr>
          <a:lstStyle/>
          <a:p>
            <a:r>
              <a:rPr kumimoji="1" lang="ja-JP" altLang="en-US" sz="1400">
                <a:latin typeface="Meiryo" panose="020B0604030504040204" pitchFamily="34" charset="-128"/>
                <a:ea typeface="Meiryo" panose="020B0604030504040204" pitchFamily="34" charset="-128"/>
              </a:rPr>
              <a:t>まとめ</a:t>
            </a:r>
          </a:p>
        </p:txBody>
      </p:sp>
      <p:sp>
        <p:nvSpPr>
          <p:cNvPr id="1088" name="正方形/長方形 1087">
            <a:extLst>
              <a:ext uri="{FF2B5EF4-FFF2-40B4-BE49-F238E27FC236}">
                <a16:creationId xmlns:a16="http://schemas.microsoft.com/office/drawing/2014/main" id="{9BAE10C1-408B-B2E2-5B4F-C4960A959DDF}"/>
              </a:ext>
            </a:extLst>
          </p:cNvPr>
          <p:cNvSpPr/>
          <p:nvPr/>
        </p:nvSpPr>
        <p:spPr>
          <a:xfrm>
            <a:off x="177006" y="8889249"/>
            <a:ext cx="6579646" cy="7529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91" name="テキスト ボックス 1090">
            <a:extLst>
              <a:ext uri="{FF2B5EF4-FFF2-40B4-BE49-F238E27FC236}">
                <a16:creationId xmlns:a16="http://schemas.microsoft.com/office/drawing/2014/main" id="{8B42D128-662D-DF6F-8EF0-AC7273D5D379}"/>
              </a:ext>
            </a:extLst>
          </p:cNvPr>
          <p:cNvSpPr txBox="1"/>
          <p:nvPr/>
        </p:nvSpPr>
        <p:spPr>
          <a:xfrm>
            <a:off x="165130" y="8931110"/>
            <a:ext cx="3563491" cy="707886"/>
          </a:xfrm>
          <a:prstGeom prst="rect">
            <a:avLst/>
          </a:prstGeom>
          <a:noFill/>
        </p:spPr>
        <p:txBody>
          <a:bodyPr wrap="square" rtlCol="0">
            <a:spAutoFit/>
          </a:bodyPr>
          <a:lstStyle/>
          <a:p>
            <a:r>
              <a:rPr lang="en" altLang="ja-JP" sz="1000" dirty="0">
                <a:latin typeface="Meiryo" panose="020B0604030504040204" pitchFamily="34" charset="-128"/>
                <a:ea typeface="Meiryo" panose="020B0604030504040204" pitchFamily="34" charset="-128"/>
              </a:rPr>
              <a:t>ChatGPT</a:t>
            </a:r>
            <a:r>
              <a:rPr lang="ja-JP" altLang="en-US" sz="1000">
                <a:latin typeface="Meiryo" panose="020B0604030504040204" pitchFamily="34" charset="-128"/>
                <a:ea typeface="Meiryo" panose="020B0604030504040204" pitchFamily="34" charset="-128"/>
              </a:rPr>
              <a:t>による難読化では、識別子名の変更や処理の分割、冗長な関数呼び出しの追加などが行われる。</a:t>
            </a:r>
            <a:br>
              <a:rPr lang="ja-JP" altLang="en-US" sz="1000">
                <a:latin typeface="Meiryo" panose="020B0604030504040204" pitchFamily="34" charset="-128"/>
                <a:ea typeface="Meiryo" panose="020B0604030504040204" pitchFamily="34" charset="-128"/>
              </a:rPr>
            </a:br>
            <a:r>
              <a:rPr lang="ja-JP" altLang="en-US" sz="1000">
                <a:latin typeface="Meiryo" panose="020B0604030504040204" pitchFamily="34" charset="-128"/>
                <a:ea typeface="Meiryo" panose="020B0604030504040204" pitchFamily="34" charset="-128"/>
              </a:rPr>
              <a:t>これは、</a:t>
            </a:r>
            <a:r>
              <a:rPr lang="en" altLang="ja-JP" sz="1000" dirty="0">
                <a:latin typeface="Meiryo" panose="020B0604030504040204" pitchFamily="34" charset="-128"/>
                <a:ea typeface="Meiryo" panose="020B0604030504040204" pitchFamily="34" charset="-128"/>
              </a:rPr>
              <a:t>ChatGPT</a:t>
            </a:r>
            <a:r>
              <a:rPr lang="ja-JP" altLang="en-US" sz="1000">
                <a:latin typeface="Meiryo" panose="020B0604030504040204" pitchFamily="34" charset="-128"/>
                <a:ea typeface="Meiryo" panose="020B0604030504040204" pitchFamily="34" charset="-128"/>
              </a:rPr>
              <a:t>が</a:t>
            </a:r>
            <a:r>
              <a:rPr lang="ja-JP" altLang="en-US" sz="1000" b="1">
                <a:latin typeface="Meiryo" panose="020B0604030504040204" pitchFamily="34" charset="-128"/>
                <a:ea typeface="Meiryo" panose="020B0604030504040204" pitchFamily="34" charset="-128"/>
              </a:rPr>
              <a:t>「意味を保ったまま構文を変形する」</a:t>
            </a:r>
            <a:r>
              <a:rPr lang="ja-JP" altLang="en-US" sz="1000">
                <a:latin typeface="Meiryo" panose="020B0604030504040204" pitchFamily="34" charset="-128"/>
                <a:ea typeface="Meiryo" panose="020B0604030504040204" pitchFamily="34" charset="-128"/>
              </a:rPr>
              <a:t>という方針でコードを書いているためだと考えらる。</a:t>
            </a:r>
            <a:endParaRPr kumimoji="1" lang="ja-JP" altLang="en-US" sz="1000">
              <a:latin typeface="Meiryo" panose="020B0604030504040204" pitchFamily="34" charset="-128"/>
              <a:ea typeface="Meiryo" panose="020B0604030504040204" pitchFamily="34" charset="-128"/>
            </a:endParaRPr>
          </a:p>
        </p:txBody>
      </p:sp>
      <p:cxnSp>
        <p:nvCxnSpPr>
          <p:cNvPr id="1093" name="直線コネクタ 1092">
            <a:extLst>
              <a:ext uri="{FF2B5EF4-FFF2-40B4-BE49-F238E27FC236}">
                <a16:creationId xmlns:a16="http://schemas.microsoft.com/office/drawing/2014/main" id="{47D98715-A03A-4C83-7FAE-72D9A30E4C18}"/>
              </a:ext>
            </a:extLst>
          </p:cNvPr>
          <p:cNvCxnSpPr>
            <a:cxnSpLocks/>
          </p:cNvCxnSpPr>
          <p:nvPr/>
        </p:nvCxnSpPr>
        <p:spPr>
          <a:xfrm>
            <a:off x="3631061" y="8931110"/>
            <a:ext cx="0" cy="680879"/>
          </a:xfrm>
          <a:prstGeom prst="line">
            <a:avLst/>
          </a:prstGeom>
          <a:ln>
            <a:solidFill>
              <a:schemeClr val="accent6">
                <a:lumMod val="20000"/>
                <a:lumOff val="80000"/>
              </a:schemeClr>
            </a:solidFill>
          </a:ln>
        </p:spPr>
        <p:style>
          <a:lnRef idx="2">
            <a:schemeClr val="accent1"/>
          </a:lnRef>
          <a:fillRef idx="0">
            <a:schemeClr val="accent1"/>
          </a:fillRef>
          <a:effectRef idx="1">
            <a:schemeClr val="accent1"/>
          </a:effectRef>
          <a:fontRef idx="minor">
            <a:schemeClr val="tx1"/>
          </a:fontRef>
        </p:style>
      </p:cxnSp>
      <p:sp>
        <p:nvSpPr>
          <p:cNvPr id="1095" name="右矢印 1094">
            <a:extLst>
              <a:ext uri="{FF2B5EF4-FFF2-40B4-BE49-F238E27FC236}">
                <a16:creationId xmlns:a16="http://schemas.microsoft.com/office/drawing/2014/main" id="{4BC8828D-B9D8-23F2-6735-B54927188448}"/>
              </a:ext>
            </a:extLst>
          </p:cNvPr>
          <p:cNvSpPr/>
          <p:nvPr/>
        </p:nvSpPr>
        <p:spPr>
          <a:xfrm>
            <a:off x="3556395" y="9156327"/>
            <a:ext cx="193200" cy="25745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96" name="テキスト ボックス 1095">
            <a:extLst>
              <a:ext uri="{FF2B5EF4-FFF2-40B4-BE49-F238E27FC236}">
                <a16:creationId xmlns:a16="http://schemas.microsoft.com/office/drawing/2014/main" id="{4FE963B5-4338-39E5-2129-67EF5FC13B92}"/>
              </a:ext>
            </a:extLst>
          </p:cNvPr>
          <p:cNvSpPr txBox="1"/>
          <p:nvPr/>
        </p:nvSpPr>
        <p:spPr>
          <a:xfrm>
            <a:off x="3759205" y="9084730"/>
            <a:ext cx="2933665" cy="400110"/>
          </a:xfrm>
          <a:prstGeom prst="rect">
            <a:avLst/>
          </a:prstGeom>
          <a:noFill/>
        </p:spPr>
        <p:txBody>
          <a:bodyPr wrap="square" rtlCol="0">
            <a:spAutoFit/>
          </a:bodyPr>
          <a:lstStyle/>
          <a:p>
            <a:r>
              <a:rPr lang="ja-JP" altLang="en-US" sz="1000">
                <a:latin typeface="Meiryo" panose="020B0604030504040204" pitchFamily="34" charset="-128"/>
                <a:ea typeface="Meiryo" panose="020B0604030504040204" pitchFamily="34" charset="-128"/>
              </a:rPr>
              <a:t>生成</a:t>
            </a:r>
            <a:r>
              <a:rPr lang="en" altLang="ja-JP" sz="1000" dirty="0">
                <a:latin typeface="Meiryo" panose="020B0604030504040204" pitchFamily="34" charset="-128"/>
                <a:ea typeface="Meiryo" panose="020B0604030504040204" pitchFamily="34" charset="-128"/>
              </a:rPr>
              <a:t>AI</a:t>
            </a:r>
            <a:r>
              <a:rPr lang="ja-JP" altLang="en-US" sz="1000">
                <a:latin typeface="Meiryo" panose="020B0604030504040204" pitchFamily="34" charset="-128"/>
                <a:ea typeface="Meiryo" panose="020B0604030504040204" pitchFamily="34" charset="-128"/>
              </a:rPr>
              <a:t>による難読化は、構文の見た目を複雑にする表層的な難読化にとどまる傾向がある。</a:t>
            </a:r>
            <a:endParaRPr kumimoji="1" lang="ja-JP" altLang="en-US" sz="100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85022561"/>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585</TotalTime>
  <Words>521</Words>
  <Application>Microsoft Macintosh PowerPoint</Application>
  <PresentationFormat>ユーザー設定</PresentationFormat>
  <Paragraphs>40</Paragraphs>
  <Slides>1</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vt:i4>
      </vt:variant>
    </vt:vector>
  </HeadingPairs>
  <TitlesOfParts>
    <vt:vector size="7" baseType="lpstr">
      <vt:lpstr>Meiryo</vt:lpstr>
      <vt:lpstr>游ゴシック</vt:lpstr>
      <vt:lpstr>Aptos</vt:lpstr>
      <vt:lpstr>Aptos Display</vt:lpstr>
      <vt:lpstr>Arial</vt:lpstr>
      <vt:lpstr>Office テーマ</vt:lpstr>
      <vt:lpstr>ChatGPT を用いたPython コード難読化と構造的類似度分析 ツールの評価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KONDO ATSUTO</dc:creator>
  <cp:lastModifiedBy>KONDO ATSUTO</cp:lastModifiedBy>
  <cp:revision>1</cp:revision>
  <dcterms:created xsi:type="dcterms:W3CDTF">2026-02-11T03:02:25Z</dcterms:created>
  <dcterms:modified xsi:type="dcterms:W3CDTF">2026-02-11T14:07:43Z</dcterms:modified>
</cp:coreProperties>
</file>